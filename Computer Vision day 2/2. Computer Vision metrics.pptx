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Libre Franklin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d2g/kbl/g+0Hf6pRwGJpiT/E1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LibreFranklin-bold.fntdata"/><Relationship Id="rId25" Type="http://schemas.openxmlformats.org/officeDocument/2006/relationships/font" Target="fonts/LibreFranklin-regular.fntdata"/><Relationship Id="rId28" Type="http://schemas.openxmlformats.org/officeDocument/2006/relationships/font" Target="fonts/LibreFranklin-boldItalic.fntdata"/><Relationship Id="rId27" Type="http://schemas.openxmlformats.org/officeDocument/2006/relationships/font" Target="fonts/LibreFranklin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dda86c838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dda86c838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dda86c838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bdda86c838_0_1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dda86c838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bdda86c838_0_1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dda86c838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bdda86c838_0_10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dda86c838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bdda86c838_0_10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dda86c838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bdda86c838_0_10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dda86c838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bdda86c838_0_10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dda86c838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bdda86c838_0_10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dda86c838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bdda86c838_0_1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dda86c838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dda86c838_0_1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dda86c838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bdda86c838_0_1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dda86c838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bdda86c838_0_1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dda86c838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dda86c838_0_1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bd961a9d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bbd961a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bd961a9d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bd961a9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bd961a9dd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bd961a9d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bd961a9d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bbd961a9d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bd961a9dd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bbd961a9d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gblue.academy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5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dda86c838_0_12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0" name="Google Shape;90;g3bdda86c838_0_121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g3bdda86c838_0_12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2" name="Google Shape;92;g3bdda86c838_0_12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3" name="Google Shape;93;g3bdda86c838_0_12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da86c838_0_12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6" name="Google Shape;96;g3bdda86c838_0_12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7" name="Google Shape;97;g3bdda86c838_0_12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g3bdda86c838_0_12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9" name="Google Shape;99;g3bdda86c838_0_12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da86c838_0_123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2" name="Google Shape;102;g3bdda86c838_0_123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g3bdda86c838_0_12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4" name="Google Shape;104;g3bdda86c838_0_12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5" name="Google Shape;105;g3bdda86c838_0_12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dda86c838_0_12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8" name="Google Shape;108;g3bdda86c838_0_123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9" name="Google Shape;109;g3bdda86c838_0_123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0" name="Google Shape;110;g3bdda86c838_0_12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1" name="Google Shape;111;g3bdda86c838_0_12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2" name="Google Shape;112;g3bdda86c838_0_12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dda86c838_0_124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5" name="Google Shape;115;g3bdda86c838_0_1244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3bdda86c838_0_1244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7" name="Google Shape;117;g3bdda86c838_0_1244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bdda86c838_0_1244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9" name="Google Shape;119;g3bdda86c838_0_12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0" name="Google Shape;120;g3bdda86c838_0_12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g3bdda86c838_0_12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da86c838_0_12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4" name="Google Shape;124;g3bdda86c838_0_125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5" name="Google Shape;125;g3bdda86c838_0_125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6" name="Google Shape;126;g3bdda86c838_0_12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da86c838_0_12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9" name="Google Shape;129;g3bdda86c838_0_12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0" name="Google Shape;130;g3bdda86c838_0_12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dda86c838_0_1262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3" name="Google Shape;133;g3bdda86c838_0_1262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g3bdda86c838_0_126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35" name="Google Shape;135;g3bdda86c838_0_126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g3bdda86c838_0_126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7" name="Google Shape;137;g3bdda86c838_0_12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dda86c838_0_1269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0" name="Google Shape;140;g3bdda86c838_0_1269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g3bdda86c838_0_126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2" name="Google Shape;142;g3bdda86c838_0_12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3" name="Google Shape;143;g3bdda86c838_0_12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4" name="Google Shape;144;g3bdda86c838_0_12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da86c838_0_12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7" name="Google Shape;147;g3bdda86c838_0_1276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48" name="Google Shape;148;g3bdda86c838_0_12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9" name="Google Shape;149;g3bdda86c838_0_12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0" name="Google Shape;150;g3bdda86c838_0_12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dda86c838_0_128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3" name="Google Shape;153;g3bdda86c838_0_128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4" name="Google Shape;154;g3bdda86c838_0_128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5" name="Google Shape;155;g3bdda86c838_0_128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6" name="Google Shape;156;g3bdda86c838_0_12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dda86c838_0_1288"/>
          <p:cNvSpPr txBox="1"/>
          <p:nvPr>
            <p:ph type="title"/>
          </p:nvPr>
        </p:nvSpPr>
        <p:spPr>
          <a:xfrm>
            <a:off x="415600" y="390167"/>
            <a:ext cx="106980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solidFill>
                  <a:srgbClr val="3366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9" name="Google Shape;159;g3bdda86c838_0_1288"/>
          <p:cNvSpPr txBox="1"/>
          <p:nvPr>
            <p:ph idx="1" type="body"/>
          </p:nvPr>
        </p:nvSpPr>
        <p:spPr>
          <a:xfrm>
            <a:off x="415600" y="1237467"/>
            <a:ext cx="11360700" cy="50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grpSp>
        <p:nvGrpSpPr>
          <p:cNvPr id="160" name="Google Shape;160;g3bdda86c838_0_1288"/>
          <p:cNvGrpSpPr/>
          <p:nvPr/>
        </p:nvGrpSpPr>
        <p:grpSpPr>
          <a:xfrm>
            <a:off x="11234266" y="440985"/>
            <a:ext cx="475673" cy="615115"/>
            <a:chOff x="1747775" y="237725"/>
            <a:chExt cx="3950775" cy="5108925"/>
          </a:xfrm>
        </p:grpSpPr>
        <p:sp>
          <p:nvSpPr>
            <p:cNvPr id="161" name="Google Shape;161;g3bdda86c838_0_1288"/>
            <p:cNvSpPr/>
            <p:nvPr/>
          </p:nvSpPr>
          <p:spPr>
            <a:xfrm>
              <a:off x="3894100" y="4463825"/>
              <a:ext cx="1345450" cy="861500"/>
            </a:xfrm>
            <a:custGeom>
              <a:rect b="b" l="l" r="r" t="t"/>
              <a:pathLst>
                <a:path extrusionOk="0" h="34460" w="53818">
                  <a:moveTo>
                    <a:pt x="49443" y="0"/>
                  </a:moveTo>
                  <a:cubicBezTo>
                    <a:pt x="48882" y="0"/>
                    <a:pt x="48280" y="175"/>
                    <a:pt x="47672" y="580"/>
                  </a:cubicBezTo>
                  <a:lnTo>
                    <a:pt x="2907" y="28559"/>
                  </a:lnTo>
                  <a:cubicBezTo>
                    <a:pt x="1" y="30496"/>
                    <a:pt x="1687" y="34459"/>
                    <a:pt x="4350" y="34459"/>
                  </a:cubicBezTo>
                  <a:cubicBezTo>
                    <a:pt x="4869" y="34459"/>
                    <a:pt x="5427" y="34308"/>
                    <a:pt x="5994" y="33962"/>
                  </a:cubicBezTo>
                  <a:lnTo>
                    <a:pt x="50952" y="5790"/>
                  </a:lnTo>
                  <a:cubicBezTo>
                    <a:pt x="53818" y="3880"/>
                    <a:pt x="52087" y="0"/>
                    <a:pt x="49443" y="0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3bdda86c838_0_1288"/>
            <p:cNvSpPr/>
            <p:nvPr/>
          </p:nvSpPr>
          <p:spPr>
            <a:xfrm>
              <a:off x="3865450" y="4441775"/>
              <a:ext cx="1398350" cy="904875"/>
            </a:xfrm>
            <a:custGeom>
              <a:rect b="b" l="l" r="r" t="t"/>
              <a:pathLst>
                <a:path extrusionOk="0" h="36195" w="55934">
                  <a:moveTo>
                    <a:pt x="50532" y="1861"/>
                  </a:moveTo>
                  <a:cubicBezTo>
                    <a:pt x="52302" y="1861"/>
                    <a:pt x="53444" y="4584"/>
                    <a:pt x="51520" y="5707"/>
                  </a:cubicBezTo>
                  <a:lnTo>
                    <a:pt x="6754" y="33879"/>
                  </a:lnTo>
                  <a:cubicBezTo>
                    <a:pt x="6320" y="34096"/>
                    <a:pt x="5886" y="34204"/>
                    <a:pt x="5482" y="34204"/>
                  </a:cubicBezTo>
                  <a:cubicBezTo>
                    <a:pt x="4809" y="34204"/>
                    <a:pt x="4221" y="33903"/>
                    <a:pt x="3860" y="33300"/>
                  </a:cubicBezTo>
                  <a:cubicBezTo>
                    <a:pt x="3281" y="32142"/>
                    <a:pt x="3474" y="30984"/>
                    <a:pt x="4438" y="30406"/>
                  </a:cubicBezTo>
                  <a:lnTo>
                    <a:pt x="49397" y="2234"/>
                  </a:lnTo>
                  <a:cubicBezTo>
                    <a:pt x="49788" y="1974"/>
                    <a:pt x="50173" y="1861"/>
                    <a:pt x="50532" y="1861"/>
                  </a:cubicBezTo>
                  <a:close/>
                  <a:moveTo>
                    <a:pt x="50158" y="0"/>
                  </a:moveTo>
                  <a:cubicBezTo>
                    <a:pt x="49548" y="0"/>
                    <a:pt x="48900" y="153"/>
                    <a:pt x="48239" y="497"/>
                  </a:cubicBezTo>
                  <a:lnTo>
                    <a:pt x="3474" y="28669"/>
                  </a:lnTo>
                  <a:cubicBezTo>
                    <a:pt x="0" y="30791"/>
                    <a:pt x="1544" y="36194"/>
                    <a:pt x="5596" y="36194"/>
                  </a:cubicBezTo>
                  <a:cubicBezTo>
                    <a:pt x="6368" y="36194"/>
                    <a:pt x="7140" y="36001"/>
                    <a:pt x="7719" y="35615"/>
                  </a:cubicBezTo>
                  <a:lnTo>
                    <a:pt x="52484" y="7444"/>
                  </a:lnTo>
                  <a:cubicBezTo>
                    <a:pt x="55933" y="4980"/>
                    <a:pt x="53651" y="0"/>
                    <a:pt x="50158" y="0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bdda86c838_0_1288"/>
            <p:cNvSpPr/>
            <p:nvPr/>
          </p:nvSpPr>
          <p:spPr>
            <a:xfrm>
              <a:off x="1786350" y="2030200"/>
              <a:ext cx="3878425" cy="3008925"/>
            </a:xfrm>
            <a:custGeom>
              <a:rect b="b" l="l" r="r" t="t"/>
              <a:pathLst>
                <a:path extrusionOk="0" h="120357" w="155137">
                  <a:moveTo>
                    <a:pt x="3185" y="0"/>
                  </a:moveTo>
                  <a:cubicBezTo>
                    <a:pt x="1593" y="0"/>
                    <a:pt x="1" y="1061"/>
                    <a:pt x="1" y="3184"/>
                  </a:cubicBezTo>
                  <a:lnTo>
                    <a:pt x="1" y="74385"/>
                  </a:lnTo>
                  <a:cubicBezTo>
                    <a:pt x="1" y="75349"/>
                    <a:pt x="580" y="76507"/>
                    <a:pt x="1544" y="77086"/>
                  </a:cubicBezTo>
                  <a:lnTo>
                    <a:pt x="75832" y="119922"/>
                  </a:lnTo>
                  <a:cubicBezTo>
                    <a:pt x="76315" y="120212"/>
                    <a:pt x="76845" y="120356"/>
                    <a:pt x="77376" y="120356"/>
                  </a:cubicBezTo>
                  <a:cubicBezTo>
                    <a:pt x="77906" y="120356"/>
                    <a:pt x="78437" y="120212"/>
                    <a:pt x="78919" y="119922"/>
                  </a:cubicBezTo>
                  <a:lnTo>
                    <a:pt x="153400" y="73613"/>
                  </a:lnTo>
                  <a:cubicBezTo>
                    <a:pt x="154751" y="72648"/>
                    <a:pt x="155137" y="70911"/>
                    <a:pt x="154365" y="69368"/>
                  </a:cubicBezTo>
                  <a:cubicBezTo>
                    <a:pt x="153730" y="68479"/>
                    <a:pt x="152677" y="67924"/>
                    <a:pt x="151646" y="67924"/>
                  </a:cubicBezTo>
                  <a:cubicBezTo>
                    <a:pt x="151111" y="67924"/>
                    <a:pt x="150581" y="68073"/>
                    <a:pt x="150120" y="68403"/>
                  </a:cubicBezTo>
                  <a:lnTo>
                    <a:pt x="77376" y="113555"/>
                  </a:lnTo>
                  <a:lnTo>
                    <a:pt x="6368" y="72648"/>
                  </a:lnTo>
                  <a:lnTo>
                    <a:pt x="6368" y="3184"/>
                  </a:lnTo>
                  <a:cubicBezTo>
                    <a:pt x="6368" y="1061"/>
                    <a:pt x="4776" y="0"/>
                    <a:pt x="3185" y="0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bdda86c838_0_1288"/>
            <p:cNvSpPr/>
            <p:nvPr/>
          </p:nvSpPr>
          <p:spPr>
            <a:xfrm>
              <a:off x="1762250" y="2015725"/>
              <a:ext cx="3936300" cy="3046300"/>
            </a:xfrm>
            <a:custGeom>
              <a:rect b="b" l="l" r="r" t="t"/>
              <a:pathLst>
                <a:path extrusionOk="0" h="121852" w="157452">
                  <a:moveTo>
                    <a:pt x="4052" y="1640"/>
                  </a:moveTo>
                  <a:cubicBezTo>
                    <a:pt x="5210" y="1640"/>
                    <a:pt x="6175" y="2605"/>
                    <a:pt x="6175" y="3763"/>
                  </a:cubicBezTo>
                  <a:lnTo>
                    <a:pt x="6175" y="73613"/>
                  </a:lnTo>
                  <a:lnTo>
                    <a:pt x="78340" y="115291"/>
                  </a:lnTo>
                  <a:lnTo>
                    <a:pt x="151470" y="69947"/>
                  </a:lnTo>
                  <a:cubicBezTo>
                    <a:pt x="151875" y="69676"/>
                    <a:pt x="152281" y="69560"/>
                    <a:pt x="152660" y="69560"/>
                  </a:cubicBezTo>
                  <a:cubicBezTo>
                    <a:pt x="154448" y="69560"/>
                    <a:pt x="155662" y="72146"/>
                    <a:pt x="153592" y="73420"/>
                  </a:cubicBezTo>
                  <a:lnTo>
                    <a:pt x="79305" y="119536"/>
                  </a:lnTo>
                  <a:cubicBezTo>
                    <a:pt x="79015" y="119729"/>
                    <a:pt x="78629" y="119826"/>
                    <a:pt x="78243" y="119826"/>
                  </a:cubicBezTo>
                  <a:cubicBezTo>
                    <a:pt x="77857" y="119826"/>
                    <a:pt x="77472" y="119729"/>
                    <a:pt x="77182" y="119536"/>
                  </a:cubicBezTo>
                  <a:lnTo>
                    <a:pt x="3087" y="76700"/>
                  </a:lnTo>
                  <a:cubicBezTo>
                    <a:pt x="2315" y="76314"/>
                    <a:pt x="1930" y="75735"/>
                    <a:pt x="1930" y="74964"/>
                  </a:cubicBezTo>
                  <a:lnTo>
                    <a:pt x="1930" y="3763"/>
                  </a:lnTo>
                  <a:cubicBezTo>
                    <a:pt x="1930" y="2412"/>
                    <a:pt x="2894" y="1640"/>
                    <a:pt x="4052" y="1640"/>
                  </a:cubicBezTo>
                  <a:close/>
                  <a:moveTo>
                    <a:pt x="4052" y="0"/>
                  </a:moveTo>
                  <a:cubicBezTo>
                    <a:pt x="2123" y="0"/>
                    <a:pt x="193" y="1254"/>
                    <a:pt x="0" y="3763"/>
                  </a:cubicBezTo>
                  <a:lnTo>
                    <a:pt x="0" y="74964"/>
                  </a:lnTo>
                  <a:cubicBezTo>
                    <a:pt x="0" y="76314"/>
                    <a:pt x="772" y="77665"/>
                    <a:pt x="2123" y="78437"/>
                  </a:cubicBezTo>
                  <a:lnTo>
                    <a:pt x="76217" y="121273"/>
                  </a:lnTo>
                  <a:cubicBezTo>
                    <a:pt x="76989" y="121659"/>
                    <a:pt x="77568" y="121852"/>
                    <a:pt x="78340" y="121852"/>
                  </a:cubicBezTo>
                  <a:cubicBezTo>
                    <a:pt x="79112" y="121852"/>
                    <a:pt x="79883" y="121659"/>
                    <a:pt x="80462" y="121273"/>
                  </a:cubicBezTo>
                  <a:lnTo>
                    <a:pt x="154943" y="74964"/>
                  </a:lnTo>
                  <a:cubicBezTo>
                    <a:pt x="156873" y="73806"/>
                    <a:pt x="157451" y="71297"/>
                    <a:pt x="156294" y="69368"/>
                  </a:cubicBezTo>
                  <a:cubicBezTo>
                    <a:pt x="155422" y="68246"/>
                    <a:pt x="154067" y="67608"/>
                    <a:pt x="152748" y="67608"/>
                  </a:cubicBezTo>
                  <a:cubicBezTo>
                    <a:pt x="152025" y="67608"/>
                    <a:pt x="151313" y="67800"/>
                    <a:pt x="150698" y="68210"/>
                  </a:cubicBezTo>
                  <a:lnTo>
                    <a:pt x="78340" y="113169"/>
                  </a:lnTo>
                  <a:lnTo>
                    <a:pt x="8104" y="72648"/>
                  </a:lnTo>
                  <a:lnTo>
                    <a:pt x="8104" y="3763"/>
                  </a:lnTo>
                  <a:cubicBezTo>
                    <a:pt x="7911" y="1254"/>
                    <a:pt x="5982" y="0"/>
                    <a:pt x="4052" y="0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bdda86c838_0_1288"/>
            <p:cNvSpPr/>
            <p:nvPr/>
          </p:nvSpPr>
          <p:spPr>
            <a:xfrm>
              <a:off x="2200950" y="259425"/>
              <a:ext cx="1346400" cy="859475"/>
            </a:xfrm>
            <a:custGeom>
              <a:rect b="b" l="l" r="r" t="t"/>
              <a:pathLst>
                <a:path extrusionOk="0" h="34379" w="53856">
                  <a:moveTo>
                    <a:pt x="49512" y="0"/>
                  </a:moveTo>
                  <a:cubicBezTo>
                    <a:pt x="48991" y="0"/>
                    <a:pt x="48433" y="151"/>
                    <a:pt x="47864" y="499"/>
                  </a:cubicBezTo>
                  <a:lnTo>
                    <a:pt x="2905" y="28670"/>
                  </a:lnTo>
                  <a:cubicBezTo>
                    <a:pt x="1" y="30445"/>
                    <a:pt x="1819" y="34379"/>
                    <a:pt x="4523" y="34379"/>
                  </a:cubicBezTo>
                  <a:cubicBezTo>
                    <a:pt x="5053" y="34379"/>
                    <a:pt x="5617" y="34228"/>
                    <a:pt x="6185" y="33880"/>
                  </a:cubicBezTo>
                  <a:lnTo>
                    <a:pt x="50951" y="5708"/>
                  </a:lnTo>
                  <a:cubicBezTo>
                    <a:pt x="53855" y="3934"/>
                    <a:pt x="52172" y="0"/>
                    <a:pt x="49512" y="0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bdda86c838_0_1288"/>
            <p:cNvSpPr/>
            <p:nvPr/>
          </p:nvSpPr>
          <p:spPr>
            <a:xfrm>
              <a:off x="2177100" y="237725"/>
              <a:ext cx="1374825" cy="907300"/>
            </a:xfrm>
            <a:custGeom>
              <a:rect b="b" l="l" r="r" t="t"/>
              <a:pathLst>
                <a:path extrusionOk="0" h="36292" w="54993">
                  <a:moveTo>
                    <a:pt x="50361" y="1946"/>
                  </a:moveTo>
                  <a:cubicBezTo>
                    <a:pt x="52484" y="1946"/>
                    <a:pt x="53256" y="4647"/>
                    <a:pt x="51519" y="5805"/>
                  </a:cubicBezTo>
                  <a:lnTo>
                    <a:pt x="6561" y="33976"/>
                  </a:lnTo>
                  <a:cubicBezTo>
                    <a:pt x="6172" y="34236"/>
                    <a:pt x="5788" y="34348"/>
                    <a:pt x="5430" y="34348"/>
                  </a:cubicBezTo>
                  <a:cubicBezTo>
                    <a:pt x="3657" y="34348"/>
                    <a:pt x="2512" y="31594"/>
                    <a:pt x="4438" y="30310"/>
                  </a:cubicBezTo>
                  <a:lnTo>
                    <a:pt x="49204" y="2331"/>
                  </a:lnTo>
                  <a:cubicBezTo>
                    <a:pt x="49590" y="1946"/>
                    <a:pt x="49976" y="1946"/>
                    <a:pt x="50361" y="1946"/>
                  </a:cubicBezTo>
                  <a:close/>
                  <a:moveTo>
                    <a:pt x="50374" y="1"/>
                  </a:moveTo>
                  <a:cubicBezTo>
                    <a:pt x="49646" y="1"/>
                    <a:pt x="48908" y="193"/>
                    <a:pt x="48239" y="595"/>
                  </a:cubicBezTo>
                  <a:lnTo>
                    <a:pt x="3473" y="28766"/>
                  </a:lnTo>
                  <a:cubicBezTo>
                    <a:pt x="0" y="30889"/>
                    <a:pt x="1544" y="36099"/>
                    <a:pt x="5596" y="36292"/>
                  </a:cubicBezTo>
                  <a:cubicBezTo>
                    <a:pt x="6368" y="36292"/>
                    <a:pt x="6947" y="36099"/>
                    <a:pt x="7718" y="35713"/>
                  </a:cubicBezTo>
                  <a:lnTo>
                    <a:pt x="52484" y="7541"/>
                  </a:lnTo>
                  <a:cubicBezTo>
                    <a:pt x="54414" y="6384"/>
                    <a:pt x="54992" y="3875"/>
                    <a:pt x="53835" y="1946"/>
                  </a:cubicBezTo>
                  <a:cubicBezTo>
                    <a:pt x="53078" y="685"/>
                    <a:pt x="51745" y="1"/>
                    <a:pt x="50374" y="1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bdda86c838_0_1288"/>
            <p:cNvSpPr/>
            <p:nvPr/>
          </p:nvSpPr>
          <p:spPr>
            <a:xfrm>
              <a:off x="1776700" y="545625"/>
              <a:ext cx="3878425" cy="3005325"/>
            </a:xfrm>
            <a:custGeom>
              <a:rect b="b" l="l" r="r" t="t"/>
              <a:pathLst>
                <a:path extrusionOk="0" h="120213" w="155137">
                  <a:moveTo>
                    <a:pt x="77762" y="1"/>
                  </a:moveTo>
                  <a:cubicBezTo>
                    <a:pt x="77231" y="1"/>
                    <a:pt x="76701" y="146"/>
                    <a:pt x="76218" y="435"/>
                  </a:cubicBezTo>
                  <a:lnTo>
                    <a:pt x="1930" y="46744"/>
                  </a:lnTo>
                  <a:cubicBezTo>
                    <a:pt x="387" y="47516"/>
                    <a:pt x="1" y="49446"/>
                    <a:pt x="773" y="50990"/>
                  </a:cubicBezTo>
                  <a:cubicBezTo>
                    <a:pt x="1406" y="51877"/>
                    <a:pt x="2456" y="52348"/>
                    <a:pt x="3485" y="52348"/>
                  </a:cubicBezTo>
                  <a:cubicBezTo>
                    <a:pt x="4023" y="52348"/>
                    <a:pt x="4554" y="52219"/>
                    <a:pt x="5018" y="51954"/>
                  </a:cubicBezTo>
                  <a:lnTo>
                    <a:pt x="77762" y="6610"/>
                  </a:lnTo>
                  <a:lnTo>
                    <a:pt x="148962" y="47709"/>
                  </a:lnTo>
                  <a:lnTo>
                    <a:pt x="148962" y="117173"/>
                  </a:lnTo>
                  <a:cubicBezTo>
                    <a:pt x="148962" y="119199"/>
                    <a:pt x="150506" y="120212"/>
                    <a:pt x="152050" y="120212"/>
                  </a:cubicBezTo>
                  <a:cubicBezTo>
                    <a:pt x="153593" y="120212"/>
                    <a:pt x="155137" y="119199"/>
                    <a:pt x="155137" y="117173"/>
                  </a:cubicBezTo>
                  <a:lnTo>
                    <a:pt x="155137" y="45973"/>
                  </a:lnTo>
                  <a:cubicBezTo>
                    <a:pt x="155137" y="44815"/>
                    <a:pt x="154558" y="43850"/>
                    <a:pt x="153593" y="43271"/>
                  </a:cubicBezTo>
                  <a:lnTo>
                    <a:pt x="79305" y="435"/>
                  </a:lnTo>
                  <a:cubicBezTo>
                    <a:pt x="78823" y="146"/>
                    <a:pt x="78292" y="1"/>
                    <a:pt x="77762" y="1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bdda86c838_0_1288"/>
            <p:cNvSpPr/>
            <p:nvPr/>
          </p:nvSpPr>
          <p:spPr>
            <a:xfrm>
              <a:off x="1747775" y="527550"/>
              <a:ext cx="3936300" cy="3048725"/>
            </a:xfrm>
            <a:custGeom>
              <a:rect b="b" l="l" r="r" t="t"/>
              <a:pathLst>
                <a:path extrusionOk="0" h="121949" w="157452">
                  <a:moveTo>
                    <a:pt x="78919" y="1640"/>
                  </a:moveTo>
                  <a:cubicBezTo>
                    <a:pt x="79305" y="1640"/>
                    <a:pt x="79691" y="1737"/>
                    <a:pt x="80077" y="1930"/>
                  </a:cubicBezTo>
                  <a:lnTo>
                    <a:pt x="154364" y="44959"/>
                  </a:lnTo>
                  <a:cubicBezTo>
                    <a:pt x="154943" y="45345"/>
                    <a:pt x="155329" y="45924"/>
                    <a:pt x="155329" y="46696"/>
                  </a:cubicBezTo>
                  <a:lnTo>
                    <a:pt x="155329" y="117896"/>
                  </a:lnTo>
                  <a:cubicBezTo>
                    <a:pt x="155329" y="119247"/>
                    <a:pt x="154268" y="119922"/>
                    <a:pt x="153207" y="119922"/>
                  </a:cubicBezTo>
                  <a:cubicBezTo>
                    <a:pt x="152145" y="119922"/>
                    <a:pt x="151084" y="119247"/>
                    <a:pt x="151084" y="117896"/>
                  </a:cubicBezTo>
                  <a:lnTo>
                    <a:pt x="151084" y="47853"/>
                  </a:lnTo>
                  <a:lnTo>
                    <a:pt x="78919" y="6368"/>
                  </a:lnTo>
                  <a:lnTo>
                    <a:pt x="5789" y="51905"/>
                  </a:lnTo>
                  <a:cubicBezTo>
                    <a:pt x="5480" y="52091"/>
                    <a:pt x="5131" y="52177"/>
                    <a:pt x="4780" y="52177"/>
                  </a:cubicBezTo>
                  <a:cubicBezTo>
                    <a:pt x="4037" y="52177"/>
                    <a:pt x="3288" y="51789"/>
                    <a:pt x="2894" y="51134"/>
                  </a:cubicBezTo>
                  <a:cubicBezTo>
                    <a:pt x="2123" y="50169"/>
                    <a:pt x="2509" y="48818"/>
                    <a:pt x="3473" y="48239"/>
                  </a:cubicBezTo>
                  <a:lnTo>
                    <a:pt x="77761" y="1930"/>
                  </a:lnTo>
                  <a:cubicBezTo>
                    <a:pt x="78147" y="1737"/>
                    <a:pt x="78533" y="1640"/>
                    <a:pt x="78919" y="1640"/>
                  </a:cubicBezTo>
                  <a:close/>
                  <a:moveTo>
                    <a:pt x="78919" y="0"/>
                  </a:moveTo>
                  <a:cubicBezTo>
                    <a:pt x="78195" y="0"/>
                    <a:pt x="77472" y="193"/>
                    <a:pt x="76796" y="579"/>
                  </a:cubicBezTo>
                  <a:lnTo>
                    <a:pt x="2509" y="46696"/>
                  </a:lnTo>
                  <a:cubicBezTo>
                    <a:pt x="579" y="47853"/>
                    <a:pt x="0" y="50362"/>
                    <a:pt x="1158" y="52291"/>
                  </a:cubicBezTo>
                  <a:cubicBezTo>
                    <a:pt x="1914" y="53552"/>
                    <a:pt x="3247" y="54236"/>
                    <a:pt x="4618" y="54236"/>
                  </a:cubicBezTo>
                  <a:cubicBezTo>
                    <a:pt x="5346" y="54236"/>
                    <a:pt x="6085" y="54043"/>
                    <a:pt x="6754" y="53642"/>
                  </a:cubicBezTo>
                  <a:lnTo>
                    <a:pt x="78919" y="8490"/>
                  </a:lnTo>
                  <a:lnTo>
                    <a:pt x="149155" y="49011"/>
                  </a:lnTo>
                  <a:lnTo>
                    <a:pt x="149155" y="117896"/>
                  </a:lnTo>
                  <a:cubicBezTo>
                    <a:pt x="149155" y="120212"/>
                    <a:pt x="151084" y="121948"/>
                    <a:pt x="153207" y="121948"/>
                  </a:cubicBezTo>
                  <a:cubicBezTo>
                    <a:pt x="155522" y="121948"/>
                    <a:pt x="157452" y="120212"/>
                    <a:pt x="157452" y="117896"/>
                  </a:cubicBezTo>
                  <a:lnTo>
                    <a:pt x="157452" y="46696"/>
                  </a:lnTo>
                  <a:cubicBezTo>
                    <a:pt x="157259" y="45345"/>
                    <a:pt x="156487" y="43994"/>
                    <a:pt x="155329" y="43415"/>
                  </a:cubicBezTo>
                  <a:lnTo>
                    <a:pt x="81041" y="579"/>
                  </a:lnTo>
                  <a:cubicBezTo>
                    <a:pt x="80366" y="193"/>
                    <a:pt x="79642" y="0"/>
                    <a:pt x="78919" y="0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bdda86c838_0_1288"/>
            <p:cNvSpPr/>
            <p:nvPr/>
          </p:nvSpPr>
          <p:spPr>
            <a:xfrm>
              <a:off x="2399000" y="1106425"/>
              <a:ext cx="2686925" cy="1587075"/>
            </a:xfrm>
            <a:custGeom>
              <a:rect b="b" l="l" r="r" t="t"/>
              <a:pathLst>
                <a:path extrusionOk="0" h="63483" w="107477">
                  <a:moveTo>
                    <a:pt x="52677" y="0"/>
                  </a:moveTo>
                  <a:lnTo>
                    <a:pt x="0" y="32417"/>
                  </a:lnTo>
                  <a:lnTo>
                    <a:pt x="53642" y="63483"/>
                  </a:lnTo>
                  <a:lnTo>
                    <a:pt x="107476" y="32995"/>
                  </a:lnTo>
                  <a:lnTo>
                    <a:pt x="104389" y="31259"/>
                  </a:lnTo>
                  <a:lnTo>
                    <a:pt x="53642" y="60009"/>
                  </a:lnTo>
                  <a:lnTo>
                    <a:pt x="5982" y="32417"/>
                  </a:lnTo>
                  <a:lnTo>
                    <a:pt x="49783" y="5210"/>
                  </a:lnTo>
                  <a:lnTo>
                    <a:pt x="49783" y="32224"/>
                  </a:lnTo>
                  <a:lnTo>
                    <a:pt x="52677" y="32224"/>
                  </a:lnTo>
                  <a:lnTo>
                    <a:pt x="52677" y="0"/>
                  </a:ln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bdda86c838_0_1288"/>
            <p:cNvSpPr/>
            <p:nvPr/>
          </p:nvSpPr>
          <p:spPr>
            <a:xfrm>
              <a:off x="2345925" y="1058175"/>
              <a:ext cx="2793050" cy="1664275"/>
            </a:xfrm>
            <a:custGeom>
              <a:rect b="b" l="l" r="r" t="t"/>
              <a:pathLst>
                <a:path extrusionOk="0" h="66571" w="111722">
                  <a:moveTo>
                    <a:pt x="53835" y="3667"/>
                  </a:moveTo>
                  <a:lnTo>
                    <a:pt x="53835" y="32996"/>
                  </a:lnTo>
                  <a:lnTo>
                    <a:pt x="52870" y="32996"/>
                  </a:lnTo>
                  <a:lnTo>
                    <a:pt x="52870" y="5210"/>
                  </a:lnTo>
                  <a:lnTo>
                    <a:pt x="5982" y="34347"/>
                  </a:lnTo>
                  <a:lnTo>
                    <a:pt x="55765" y="63290"/>
                  </a:lnTo>
                  <a:lnTo>
                    <a:pt x="106512" y="34347"/>
                  </a:lnTo>
                  <a:lnTo>
                    <a:pt x="107477" y="34925"/>
                  </a:lnTo>
                  <a:lnTo>
                    <a:pt x="55765" y="64255"/>
                  </a:lnTo>
                  <a:lnTo>
                    <a:pt x="4053" y="34347"/>
                  </a:lnTo>
                  <a:lnTo>
                    <a:pt x="53835" y="3667"/>
                  </a:lnTo>
                  <a:close/>
                  <a:moveTo>
                    <a:pt x="55958" y="0"/>
                  </a:moveTo>
                  <a:lnTo>
                    <a:pt x="1" y="34347"/>
                  </a:lnTo>
                  <a:lnTo>
                    <a:pt x="55765" y="66570"/>
                  </a:lnTo>
                  <a:lnTo>
                    <a:pt x="111722" y="34925"/>
                  </a:lnTo>
                  <a:lnTo>
                    <a:pt x="106512" y="31838"/>
                  </a:lnTo>
                  <a:lnTo>
                    <a:pt x="55958" y="60782"/>
                  </a:lnTo>
                  <a:lnTo>
                    <a:pt x="10034" y="34347"/>
                  </a:lnTo>
                  <a:lnTo>
                    <a:pt x="50748" y="8876"/>
                  </a:lnTo>
                  <a:lnTo>
                    <a:pt x="50748" y="35118"/>
                  </a:lnTo>
                  <a:lnTo>
                    <a:pt x="55958" y="35118"/>
                  </a:lnTo>
                  <a:lnTo>
                    <a:pt x="55958" y="0"/>
                  </a:ln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bdda86c838_0_1288"/>
            <p:cNvSpPr/>
            <p:nvPr/>
          </p:nvSpPr>
          <p:spPr>
            <a:xfrm>
              <a:off x="3503650" y="1886350"/>
              <a:ext cx="299125" cy="257225"/>
            </a:xfrm>
            <a:custGeom>
              <a:rect b="b" l="l" r="r" t="t"/>
              <a:pathLst>
                <a:path extrusionOk="0" h="10289" w="11965">
                  <a:moveTo>
                    <a:pt x="6947" y="2956"/>
                  </a:moveTo>
                  <a:cubicBezTo>
                    <a:pt x="7912" y="2956"/>
                    <a:pt x="8877" y="3921"/>
                    <a:pt x="8877" y="5079"/>
                  </a:cubicBezTo>
                  <a:cubicBezTo>
                    <a:pt x="8877" y="6247"/>
                    <a:pt x="7917" y="7066"/>
                    <a:pt x="6877" y="7066"/>
                  </a:cubicBezTo>
                  <a:cubicBezTo>
                    <a:pt x="6371" y="7066"/>
                    <a:pt x="5846" y="6872"/>
                    <a:pt x="5404" y="6429"/>
                  </a:cubicBezTo>
                  <a:cubicBezTo>
                    <a:pt x="4053" y="5272"/>
                    <a:pt x="5018" y="2956"/>
                    <a:pt x="6947" y="2956"/>
                  </a:cubicBezTo>
                  <a:close/>
                  <a:moveTo>
                    <a:pt x="6790" y="1"/>
                  </a:moveTo>
                  <a:cubicBezTo>
                    <a:pt x="5566" y="1"/>
                    <a:pt x="4318" y="437"/>
                    <a:pt x="3281" y="1413"/>
                  </a:cubicBezTo>
                  <a:cubicBezTo>
                    <a:pt x="1" y="4693"/>
                    <a:pt x="2316" y="10096"/>
                    <a:pt x="6947" y="10289"/>
                  </a:cubicBezTo>
                  <a:cubicBezTo>
                    <a:pt x="9649" y="10289"/>
                    <a:pt x="11964" y="7973"/>
                    <a:pt x="11964" y="5079"/>
                  </a:cubicBezTo>
                  <a:cubicBezTo>
                    <a:pt x="11964" y="2043"/>
                    <a:pt x="9437" y="1"/>
                    <a:pt x="6790" y="1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bdda86c838_0_1288"/>
            <p:cNvSpPr/>
            <p:nvPr/>
          </p:nvSpPr>
          <p:spPr>
            <a:xfrm>
              <a:off x="3489175" y="1876400"/>
              <a:ext cx="323225" cy="276825"/>
            </a:xfrm>
            <a:custGeom>
              <a:rect b="b" l="l" r="r" t="t"/>
              <a:pathLst>
                <a:path extrusionOk="0" h="11073" w="12929">
                  <a:moveTo>
                    <a:pt x="7526" y="3933"/>
                  </a:moveTo>
                  <a:cubicBezTo>
                    <a:pt x="8298" y="3933"/>
                    <a:pt x="9070" y="4705"/>
                    <a:pt x="9070" y="5670"/>
                  </a:cubicBezTo>
                  <a:cubicBezTo>
                    <a:pt x="9070" y="6560"/>
                    <a:pt x="8315" y="7199"/>
                    <a:pt x="7524" y="7199"/>
                  </a:cubicBezTo>
                  <a:cubicBezTo>
                    <a:pt x="7115" y="7199"/>
                    <a:pt x="6697" y="7029"/>
                    <a:pt x="6369" y="6634"/>
                  </a:cubicBezTo>
                  <a:cubicBezTo>
                    <a:pt x="5211" y="5670"/>
                    <a:pt x="5983" y="3933"/>
                    <a:pt x="7526" y="3933"/>
                  </a:cubicBezTo>
                  <a:close/>
                  <a:moveTo>
                    <a:pt x="7445" y="3224"/>
                  </a:moveTo>
                  <a:cubicBezTo>
                    <a:pt x="6870" y="3224"/>
                    <a:pt x="6281" y="3442"/>
                    <a:pt x="5790" y="3933"/>
                  </a:cubicBezTo>
                  <a:cubicBezTo>
                    <a:pt x="4246" y="5477"/>
                    <a:pt x="5211" y="8178"/>
                    <a:pt x="7526" y="8178"/>
                  </a:cubicBezTo>
                  <a:lnTo>
                    <a:pt x="7526" y="7985"/>
                  </a:lnTo>
                  <a:cubicBezTo>
                    <a:pt x="8684" y="7985"/>
                    <a:pt x="9842" y="7020"/>
                    <a:pt x="9842" y="5670"/>
                  </a:cubicBezTo>
                  <a:cubicBezTo>
                    <a:pt x="9842" y="4223"/>
                    <a:pt x="8676" y="3224"/>
                    <a:pt x="7445" y="3224"/>
                  </a:cubicBezTo>
                  <a:close/>
                  <a:moveTo>
                    <a:pt x="7526" y="846"/>
                  </a:moveTo>
                  <a:cubicBezTo>
                    <a:pt x="10035" y="846"/>
                    <a:pt x="12157" y="2968"/>
                    <a:pt x="12157" y="5477"/>
                  </a:cubicBezTo>
                  <a:cubicBezTo>
                    <a:pt x="12157" y="8328"/>
                    <a:pt x="9893" y="10222"/>
                    <a:pt x="7529" y="10222"/>
                  </a:cubicBezTo>
                  <a:cubicBezTo>
                    <a:pt x="6375" y="10222"/>
                    <a:pt x="5196" y="9770"/>
                    <a:pt x="4246" y="8757"/>
                  </a:cubicBezTo>
                  <a:cubicBezTo>
                    <a:pt x="1159" y="5863"/>
                    <a:pt x="3281" y="846"/>
                    <a:pt x="7526" y="846"/>
                  </a:cubicBezTo>
                  <a:close/>
                  <a:moveTo>
                    <a:pt x="7328" y="1"/>
                  </a:moveTo>
                  <a:cubicBezTo>
                    <a:pt x="5972" y="1"/>
                    <a:pt x="4593" y="499"/>
                    <a:pt x="3474" y="1618"/>
                  </a:cubicBezTo>
                  <a:cubicBezTo>
                    <a:pt x="1" y="5091"/>
                    <a:pt x="2509" y="11072"/>
                    <a:pt x="7526" y="11072"/>
                  </a:cubicBezTo>
                  <a:cubicBezTo>
                    <a:pt x="10421" y="11072"/>
                    <a:pt x="12929" y="8564"/>
                    <a:pt x="12929" y="5477"/>
                  </a:cubicBezTo>
                  <a:cubicBezTo>
                    <a:pt x="12929" y="2207"/>
                    <a:pt x="10180" y="1"/>
                    <a:pt x="7328" y="1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bdda86c838_0_1288"/>
            <p:cNvSpPr/>
            <p:nvPr/>
          </p:nvSpPr>
          <p:spPr>
            <a:xfrm>
              <a:off x="2292875" y="2119425"/>
              <a:ext cx="1341050" cy="2267250"/>
            </a:xfrm>
            <a:custGeom>
              <a:rect b="b" l="l" r="r" t="t"/>
              <a:pathLst>
                <a:path extrusionOk="0" h="90690" w="53642">
                  <a:moveTo>
                    <a:pt x="0" y="1"/>
                  </a:moveTo>
                  <a:lnTo>
                    <a:pt x="0" y="63869"/>
                  </a:lnTo>
                  <a:lnTo>
                    <a:pt x="27207" y="48433"/>
                  </a:lnTo>
                  <a:lnTo>
                    <a:pt x="25663" y="45924"/>
                  </a:lnTo>
                  <a:lnTo>
                    <a:pt x="2894" y="58659"/>
                  </a:lnTo>
                  <a:lnTo>
                    <a:pt x="2894" y="5211"/>
                  </a:lnTo>
                  <a:lnTo>
                    <a:pt x="50747" y="32803"/>
                  </a:lnTo>
                  <a:lnTo>
                    <a:pt x="50747" y="90690"/>
                  </a:lnTo>
                  <a:lnTo>
                    <a:pt x="53642" y="90690"/>
                  </a:lnTo>
                  <a:lnTo>
                    <a:pt x="53642" y="310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bdda86c838_0_1288"/>
            <p:cNvSpPr/>
            <p:nvPr/>
          </p:nvSpPr>
          <p:spPr>
            <a:xfrm>
              <a:off x="2263925" y="2071200"/>
              <a:ext cx="1398950" cy="2339600"/>
            </a:xfrm>
            <a:custGeom>
              <a:rect b="b" l="l" r="r" t="t"/>
              <a:pathLst>
                <a:path extrusionOk="0" h="93584" w="55958">
                  <a:moveTo>
                    <a:pt x="2123" y="3859"/>
                  </a:moveTo>
                  <a:lnTo>
                    <a:pt x="53835" y="33575"/>
                  </a:lnTo>
                  <a:lnTo>
                    <a:pt x="53835" y="91461"/>
                  </a:lnTo>
                  <a:lnTo>
                    <a:pt x="52870" y="91461"/>
                  </a:lnTo>
                  <a:lnTo>
                    <a:pt x="52870" y="34153"/>
                  </a:lnTo>
                  <a:lnTo>
                    <a:pt x="3088" y="5403"/>
                  </a:lnTo>
                  <a:lnTo>
                    <a:pt x="3088" y="62518"/>
                  </a:lnTo>
                  <a:lnTo>
                    <a:pt x="26435" y="49397"/>
                  </a:lnTo>
                  <a:lnTo>
                    <a:pt x="26821" y="50169"/>
                  </a:lnTo>
                  <a:lnTo>
                    <a:pt x="2123" y="64254"/>
                  </a:lnTo>
                  <a:lnTo>
                    <a:pt x="2123" y="3859"/>
                  </a:lnTo>
                  <a:close/>
                  <a:moveTo>
                    <a:pt x="0" y="0"/>
                  </a:moveTo>
                  <a:lnTo>
                    <a:pt x="0" y="67535"/>
                  </a:lnTo>
                  <a:lnTo>
                    <a:pt x="29715" y="50748"/>
                  </a:lnTo>
                  <a:lnTo>
                    <a:pt x="27207" y="46503"/>
                  </a:lnTo>
                  <a:lnTo>
                    <a:pt x="5210" y="58852"/>
                  </a:lnTo>
                  <a:lnTo>
                    <a:pt x="5210" y="8876"/>
                  </a:lnTo>
                  <a:lnTo>
                    <a:pt x="50748" y="35311"/>
                  </a:lnTo>
                  <a:lnTo>
                    <a:pt x="50748" y="93584"/>
                  </a:lnTo>
                  <a:lnTo>
                    <a:pt x="55957" y="93584"/>
                  </a:lnTo>
                  <a:lnTo>
                    <a:pt x="55957" y="32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bdda86c838_0_1288"/>
            <p:cNvSpPr/>
            <p:nvPr/>
          </p:nvSpPr>
          <p:spPr>
            <a:xfrm>
              <a:off x="2842775" y="3118125"/>
              <a:ext cx="299125" cy="255550"/>
            </a:xfrm>
            <a:custGeom>
              <a:rect b="b" l="l" r="r" t="t"/>
              <a:pathLst>
                <a:path extrusionOk="0" h="10222" w="11965">
                  <a:moveTo>
                    <a:pt x="6947" y="3082"/>
                  </a:moveTo>
                  <a:cubicBezTo>
                    <a:pt x="8105" y="3082"/>
                    <a:pt x="9070" y="3854"/>
                    <a:pt x="9070" y="5011"/>
                  </a:cubicBezTo>
                  <a:cubicBezTo>
                    <a:pt x="9070" y="6320"/>
                    <a:pt x="8005" y="7185"/>
                    <a:pt x="6899" y="7185"/>
                  </a:cubicBezTo>
                  <a:cubicBezTo>
                    <a:pt x="6373" y="7185"/>
                    <a:pt x="5838" y="6990"/>
                    <a:pt x="5404" y="6555"/>
                  </a:cubicBezTo>
                  <a:cubicBezTo>
                    <a:pt x="4053" y="5204"/>
                    <a:pt x="5018" y="3082"/>
                    <a:pt x="6947" y="3082"/>
                  </a:cubicBezTo>
                  <a:close/>
                  <a:moveTo>
                    <a:pt x="6880" y="1"/>
                  </a:moveTo>
                  <a:cubicBezTo>
                    <a:pt x="5628" y="1"/>
                    <a:pt x="4343" y="476"/>
                    <a:pt x="3281" y="1538"/>
                  </a:cubicBezTo>
                  <a:cubicBezTo>
                    <a:pt x="1" y="4819"/>
                    <a:pt x="2316" y="10221"/>
                    <a:pt x="6947" y="10221"/>
                  </a:cubicBezTo>
                  <a:cubicBezTo>
                    <a:pt x="9649" y="10221"/>
                    <a:pt x="11964" y="7906"/>
                    <a:pt x="11964" y="5204"/>
                  </a:cubicBezTo>
                  <a:cubicBezTo>
                    <a:pt x="11964" y="2073"/>
                    <a:pt x="9494" y="1"/>
                    <a:pt x="6880" y="1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bdda86c838_0_1288"/>
            <p:cNvSpPr/>
            <p:nvPr/>
          </p:nvSpPr>
          <p:spPr>
            <a:xfrm>
              <a:off x="2828325" y="3106500"/>
              <a:ext cx="323225" cy="276825"/>
            </a:xfrm>
            <a:custGeom>
              <a:rect b="b" l="l" r="r" t="t"/>
              <a:pathLst>
                <a:path extrusionOk="0" h="11073" w="12929">
                  <a:moveTo>
                    <a:pt x="7525" y="3933"/>
                  </a:moveTo>
                  <a:cubicBezTo>
                    <a:pt x="8490" y="3933"/>
                    <a:pt x="9069" y="4705"/>
                    <a:pt x="9069" y="5476"/>
                  </a:cubicBezTo>
                  <a:cubicBezTo>
                    <a:pt x="9069" y="6506"/>
                    <a:pt x="8297" y="7192"/>
                    <a:pt x="7497" y="7192"/>
                  </a:cubicBezTo>
                  <a:cubicBezTo>
                    <a:pt x="7097" y="7192"/>
                    <a:pt x="6689" y="7020"/>
                    <a:pt x="6368" y="6634"/>
                  </a:cubicBezTo>
                  <a:cubicBezTo>
                    <a:pt x="5403" y="5669"/>
                    <a:pt x="5982" y="3933"/>
                    <a:pt x="7525" y="3933"/>
                  </a:cubicBezTo>
                  <a:close/>
                  <a:moveTo>
                    <a:pt x="7444" y="3224"/>
                  </a:moveTo>
                  <a:cubicBezTo>
                    <a:pt x="6869" y="3224"/>
                    <a:pt x="6280" y="3442"/>
                    <a:pt x="5789" y="3933"/>
                  </a:cubicBezTo>
                  <a:cubicBezTo>
                    <a:pt x="4245" y="5476"/>
                    <a:pt x="5403" y="8178"/>
                    <a:pt x="7525" y="8178"/>
                  </a:cubicBezTo>
                  <a:lnTo>
                    <a:pt x="7525" y="7985"/>
                  </a:lnTo>
                  <a:cubicBezTo>
                    <a:pt x="8876" y="7985"/>
                    <a:pt x="9841" y="7020"/>
                    <a:pt x="9841" y="5669"/>
                  </a:cubicBezTo>
                  <a:cubicBezTo>
                    <a:pt x="9841" y="4222"/>
                    <a:pt x="8675" y="3224"/>
                    <a:pt x="7444" y="3224"/>
                  </a:cubicBezTo>
                  <a:close/>
                  <a:moveTo>
                    <a:pt x="7525" y="846"/>
                  </a:moveTo>
                  <a:cubicBezTo>
                    <a:pt x="10034" y="846"/>
                    <a:pt x="12156" y="2968"/>
                    <a:pt x="12156" y="5476"/>
                  </a:cubicBezTo>
                  <a:cubicBezTo>
                    <a:pt x="12156" y="8329"/>
                    <a:pt x="9891" y="10136"/>
                    <a:pt x="7526" y="10136"/>
                  </a:cubicBezTo>
                  <a:cubicBezTo>
                    <a:pt x="6372" y="10136"/>
                    <a:pt x="5194" y="9706"/>
                    <a:pt x="4245" y="8757"/>
                  </a:cubicBezTo>
                  <a:cubicBezTo>
                    <a:pt x="1158" y="5862"/>
                    <a:pt x="3280" y="846"/>
                    <a:pt x="7525" y="846"/>
                  </a:cubicBezTo>
                  <a:close/>
                  <a:moveTo>
                    <a:pt x="7473" y="0"/>
                  </a:moveTo>
                  <a:cubicBezTo>
                    <a:pt x="6144" y="0"/>
                    <a:pt x="4785" y="499"/>
                    <a:pt x="3666" y="1617"/>
                  </a:cubicBezTo>
                  <a:cubicBezTo>
                    <a:pt x="0" y="5091"/>
                    <a:pt x="2509" y="11072"/>
                    <a:pt x="7525" y="11072"/>
                  </a:cubicBezTo>
                  <a:cubicBezTo>
                    <a:pt x="10613" y="11072"/>
                    <a:pt x="12928" y="8564"/>
                    <a:pt x="12928" y="5476"/>
                  </a:cubicBezTo>
                  <a:cubicBezTo>
                    <a:pt x="12928" y="2206"/>
                    <a:pt x="10268" y="0"/>
                    <a:pt x="7473" y="0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bdda86c838_0_1288"/>
            <p:cNvSpPr/>
            <p:nvPr/>
          </p:nvSpPr>
          <p:spPr>
            <a:xfrm>
              <a:off x="3855800" y="2133900"/>
              <a:ext cx="1345900" cy="2257600"/>
            </a:xfrm>
            <a:custGeom>
              <a:rect b="b" l="l" r="r" t="t"/>
              <a:pathLst>
                <a:path extrusionOk="0" h="90304" w="53836">
                  <a:moveTo>
                    <a:pt x="53835" y="1"/>
                  </a:moveTo>
                  <a:lnTo>
                    <a:pt x="1" y="30681"/>
                  </a:lnTo>
                  <a:lnTo>
                    <a:pt x="1" y="90304"/>
                  </a:lnTo>
                  <a:lnTo>
                    <a:pt x="3088" y="90304"/>
                  </a:lnTo>
                  <a:lnTo>
                    <a:pt x="3088" y="32417"/>
                  </a:lnTo>
                  <a:lnTo>
                    <a:pt x="50941" y="5210"/>
                  </a:lnTo>
                  <a:lnTo>
                    <a:pt x="50941" y="58273"/>
                  </a:lnTo>
                  <a:lnTo>
                    <a:pt x="27786" y="45152"/>
                  </a:lnTo>
                  <a:lnTo>
                    <a:pt x="26242" y="47854"/>
                  </a:lnTo>
                  <a:lnTo>
                    <a:pt x="53835" y="63483"/>
                  </a:lnTo>
                  <a:lnTo>
                    <a:pt x="53835" y="1"/>
                  </a:ln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bdda86c838_0_1288"/>
            <p:cNvSpPr/>
            <p:nvPr/>
          </p:nvSpPr>
          <p:spPr>
            <a:xfrm>
              <a:off x="3831675" y="2090500"/>
              <a:ext cx="1398950" cy="2325125"/>
            </a:xfrm>
            <a:custGeom>
              <a:rect b="b" l="l" r="r" t="t"/>
              <a:pathLst>
                <a:path extrusionOk="0" h="93005" w="55958">
                  <a:moveTo>
                    <a:pt x="53835" y="3666"/>
                  </a:moveTo>
                  <a:lnTo>
                    <a:pt x="53835" y="63675"/>
                  </a:lnTo>
                  <a:lnTo>
                    <a:pt x="28558" y="49204"/>
                  </a:lnTo>
                  <a:lnTo>
                    <a:pt x="29137" y="48239"/>
                  </a:lnTo>
                  <a:lnTo>
                    <a:pt x="52871" y="61939"/>
                  </a:lnTo>
                  <a:lnTo>
                    <a:pt x="52871" y="5210"/>
                  </a:lnTo>
                  <a:lnTo>
                    <a:pt x="3088" y="33574"/>
                  </a:lnTo>
                  <a:lnTo>
                    <a:pt x="3088" y="91075"/>
                  </a:lnTo>
                  <a:lnTo>
                    <a:pt x="2123" y="91075"/>
                  </a:lnTo>
                  <a:lnTo>
                    <a:pt x="2123" y="33188"/>
                  </a:lnTo>
                  <a:lnTo>
                    <a:pt x="53835" y="3666"/>
                  </a:lnTo>
                  <a:close/>
                  <a:moveTo>
                    <a:pt x="55958" y="0"/>
                  </a:moveTo>
                  <a:lnTo>
                    <a:pt x="1" y="31838"/>
                  </a:lnTo>
                  <a:lnTo>
                    <a:pt x="1" y="93005"/>
                  </a:lnTo>
                  <a:lnTo>
                    <a:pt x="5018" y="93005"/>
                  </a:lnTo>
                  <a:lnTo>
                    <a:pt x="5018" y="34925"/>
                  </a:lnTo>
                  <a:lnTo>
                    <a:pt x="50748" y="8876"/>
                  </a:lnTo>
                  <a:lnTo>
                    <a:pt x="50748" y="58273"/>
                  </a:lnTo>
                  <a:lnTo>
                    <a:pt x="28172" y="45538"/>
                  </a:lnTo>
                  <a:lnTo>
                    <a:pt x="25857" y="49976"/>
                  </a:lnTo>
                  <a:lnTo>
                    <a:pt x="55958" y="67149"/>
                  </a:lnTo>
                  <a:lnTo>
                    <a:pt x="55958" y="0"/>
                  </a:ln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bdda86c838_0_1288"/>
            <p:cNvSpPr/>
            <p:nvPr/>
          </p:nvSpPr>
          <p:spPr>
            <a:xfrm>
              <a:off x="4289950" y="3108475"/>
              <a:ext cx="294275" cy="255550"/>
            </a:xfrm>
            <a:custGeom>
              <a:rect b="b" l="l" r="r" t="t"/>
              <a:pathLst>
                <a:path extrusionOk="0" h="10222" w="11771">
                  <a:moveTo>
                    <a:pt x="6754" y="3082"/>
                  </a:moveTo>
                  <a:cubicBezTo>
                    <a:pt x="7912" y="3082"/>
                    <a:pt x="8876" y="4047"/>
                    <a:pt x="8876" y="5012"/>
                  </a:cubicBezTo>
                  <a:cubicBezTo>
                    <a:pt x="8876" y="6320"/>
                    <a:pt x="7812" y="7185"/>
                    <a:pt x="6705" y="7185"/>
                  </a:cubicBezTo>
                  <a:cubicBezTo>
                    <a:pt x="6180" y="7185"/>
                    <a:pt x="5645" y="6990"/>
                    <a:pt x="5210" y="6555"/>
                  </a:cubicBezTo>
                  <a:cubicBezTo>
                    <a:pt x="4053" y="5205"/>
                    <a:pt x="4824" y="3082"/>
                    <a:pt x="6754" y="3082"/>
                  </a:cubicBezTo>
                  <a:close/>
                  <a:moveTo>
                    <a:pt x="6687" y="1"/>
                  </a:moveTo>
                  <a:cubicBezTo>
                    <a:pt x="5435" y="1"/>
                    <a:pt x="4150" y="476"/>
                    <a:pt x="3088" y="1538"/>
                  </a:cubicBezTo>
                  <a:cubicBezTo>
                    <a:pt x="1" y="4819"/>
                    <a:pt x="2316" y="10221"/>
                    <a:pt x="6754" y="10221"/>
                  </a:cubicBezTo>
                  <a:cubicBezTo>
                    <a:pt x="9648" y="10221"/>
                    <a:pt x="11771" y="7906"/>
                    <a:pt x="11771" y="5205"/>
                  </a:cubicBezTo>
                  <a:cubicBezTo>
                    <a:pt x="11771" y="2073"/>
                    <a:pt x="9301" y="1"/>
                    <a:pt x="6687" y="1"/>
                  </a:cubicBez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bdda86c838_0_1288"/>
            <p:cNvSpPr/>
            <p:nvPr/>
          </p:nvSpPr>
          <p:spPr>
            <a:xfrm>
              <a:off x="4275475" y="3097000"/>
              <a:ext cx="323225" cy="276675"/>
            </a:xfrm>
            <a:custGeom>
              <a:rect b="b" l="l" r="r" t="t"/>
              <a:pathLst>
                <a:path extrusionOk="0" h="11067" w="12929">
                  <a:moveTo>
                    <a:pt x="7333" y="3927"/>
                  </a:moveTo>
                  <a:cubicBezTo>
                    <a:pt x="8298" y="3927"/>
                    <a:pt x="8877" y="4699"/>
                    <a:pt x="8877" y="5664"/>
                  </a:cubicBezTo>
                  <a:cubicBezTo>
                    <a:pt x="8877" y="6596"/>
                    <a:pt x="8049" y="7252"/>
                    <a:pt x="7219" y="7252"/>
                  </a:cubicBezTo>
                  <a:cubicBezTo>
                    <a:pt x="6847" y="7252"/>
                    <a:pt x="6474" y="7120"/>
                    <a:pt x="6175" y="6821"/>
                  </a:cubicBezTo>
                  <a:cubicBezTo>
                    <a:pt x="5210" y="5664"/>
                    <a:pt x="5982" y="3927"/>
                    <a:pt x="7333" y="3927"/>
                  </a:cubicBezTo>
                  <a:close/>
                  <a:moveTo>
                    <a:pt x="7289" y="3304"/>
                  </a:moveTo>
                  <a:cubicBezTo>
                    <a:pt x="6690" y="3304"/>
                    <a:pt x="6085" y="3499"/>
                    <a:pt x="5596" y="3927"/>
                  </a:cubicBezTo>
                  <a:cubicBezTo>
                    <a:pt x="4053" y="5471"/>
                    <a:pt x="5210" y="8172"/>
                    <a:pt x="7333" y="8172"/>
                  </a:cubicBezTo>
                  <a:cubicBezTo>
                    <a:pt x="8684" y="8172"/>
                    <a:pt x="9841" y="7014"/>
                    <a:pt x="9841" y="5664"/>
                  </a:cubicBezTo>
                  <a:cubicBezTo>
                    <a:pt x="9841" y="4213"/>
                    <a:pt x="8580" y="3304"/>
                    <a:pt x="7289" y="3304"/>
                  </a:cubicBezTo>
                  <a:close/>
                  <a:moveTo>
                    <a:pt x="7333" y="840"/>
                  </a:moveTo>
                  <a:lnTo>
                    <a:pt x="7333" y="1033"/>
                  </a:lnTo>
                  <a:cubicBezTo>
                    <a:pt x="9841" y="1033"/>
                    <a:pt x="11964" y="2962"/>
                    <a:pt x="11964" y="5471"/>
                  </a:cubicBezTo>
                  <a:cubicBezTo>
                    <a:pt x="11964" y="8322"/>
                    <a:pt x="9700" y="10216"/>
                    <a:pt x="7336" y="10216"/>
                  </a:cubicBezTo>
                  <a:cubicBezTo>
                    <a:pt x="6181" y="10216"/>
                    <a:pt x="5003" y="9764"/>
                    <a:pt x="4053" y="8751"/>
                  </a:cubicBezTo>
                  <a:cubicBezTo>
                    <a:pt x="1158" y="5856"/>
                    <a:pt x="3281" y="840"/>
                    <a:pt x="7333" y="840"/>
                  </a:cubicBezTo>
                  <a:close/>
                  <a:moveTo>
                    <a:pt x="7301" y="1"/>
                  </a:moveTo>
                  <a:cubicBezTo>
                    <a:pt x="5954" y="1"/>
                    <a:pt x="4586" y="500"/>
                    <a:pt x="3474" y="1611"/>
                  </a:cubicBezTo>
                  <a:cubicBezTo>
                    <a:pt x="1" y="5085"/>
                    <a:pt x="2316" y="11066"/>
                    <a:pt x="7333" y="11066"/>
                  </a:cubicBezTo>
                  <a:cubicBezTo>
                    <a:pt x="10420" y="11066"/>
                    <a:pt x="12736" y="8558"/>
                    <a:pt x="12929" y="5664"/>
                  </a:cubicBezTo>
                  <a:cubicBezTo>
                    <a:pt x="12929" y="2252"/>
                    <a:pt x="10163" y="1"/>
                    <a:pt x="7301" y="1"/>
                  </a:cubicBezTo>
                  <a:close/>
                </a:path>
              </a:pathLst>
            </a:custGeom>
            <a:solidFill>
              <a:srgbClr val="3369CC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g3bdda86c838_0_1288"/>
          <p:cNvSpPr txBox="1"/>
          <p:nvPr>
            <p:ph idx="12" type="sldNum"/>
          </p:nvPr>
        </p:nvSpPr>
        <p:spPr>
          <a:xfrm>
            <a:off x="11245817" y="6381751"/>
            <a:ext cx="731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 sz="1200"/>
          </a:p>
        </p:txBody>
      </p:sp>
      <p:sp>
        <p:nvSpPr>
          <p:cNvPr id="182" name="Google Shape;182;g3bdda86c838_0_1288"/>
          <p:cNvSpPr/>
          <p:nvPr/>
        </p:nvSpPr>
        <p:spPr>
          <a:xfrm>
            <a:off x="463550" y="6401350"/>
            <a:ext cx="317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H" sz="12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rPr>
              <a:t>Big Blue Data Academy | </a:t>
            </a:r>
            <a:r>
              <a:rPr b="0" i="0" lang="en-CH" sz="1200" u="sng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bigblue.academy</a:t>
            </a:r>
            <a:endParaRPr b="0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dda86c838_0_132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2" name="Google Shape;192;g3bdda86c838_0_132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3" name="Google Shape;193;g3bdda86c838_0_13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4" name="Google Shape;194;g3bdda86c838_0_13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5" name="Google Shape;195;g3bdda86c838_0_13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dda86c838_0_13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8" name="Google Shape;198;g3bdda86c838_0_13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9" name="Google Shape;199;g3bdda86c838_0_13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0" name="Google Shape;200;g3bdda86c838_0_13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1" name="Google Shape;201;g3bdda86c838_0_13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dda86c838_0_133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" name="Google Shape;204;g3bdda86c838_0_133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5" name="Google Shape;205;g3bdda86c838_0_13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6" name="Google Shape;206;g3bdda86c838_0_13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7" name="Google Shape;207;g3bdda86c838_0_13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dda86c838_0_13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10" name="Google Shape;210;g3bdda86c838_0_13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1" name="Google Shape;211;g3bdda86c838_0_13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  <p:sp>
        <p:nvSpPr>
          <p:cNvPr id="212" name="Google Shape;212;g3bdda86c838_0_1339"/>
          <p:cNvSpPr txBox="1"/>
          <p:nvPr>
            <p:ph type="title"/>
          </p:nvPr>
        </p:nvSpPr>
        <p:spPr>
          <a:xfrm>
            <a:off x="838200" y="3324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dda86c838_0_13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5" name="Google Shape;215;g3bdda86c838_0_1344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16" name="Google Shape;216;g3bdda86c838_0_1344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17" name="Google Shape;217;g3bdda86c838_0_13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8" name="Google Shape;218;g3bdda86c838_0_13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9" name="Google Shape;219;g3bdda86c838_0_13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dda86c838_0_13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2" name="Google Shape;222;g3bdda86c838_0_1351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3" name="Google Shape;223;g3bdda86c838_0_1351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4" name="Google Shape;224;g3bdda86c838_0_1351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5" name="Google Shape;225;g3bdda86c838_0_1351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6" name="Google Shape;226;g3bdda86c838_0_13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7" name="Google Shape;227;g3bdda86c838_0_13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8" name="Google Shape;228;g3bdda86c838_0_13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dda86c838_0_13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1" name="Google Shape;231;g3bdda86c838_0_13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2" name="Google Shape;232;g3bdda86c838_0_13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3" name="Google Shape;233;g3bdda86c838_0_13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dda86c838_0_136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6" name="Google Shape;236;g3bdda86c838_0_136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7" name="Google Shape;237;g3bdda86c838_0_13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dda86c838_0_1369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0" name="Google Shape;240;g3bdda86c838_0_1369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41" name="Google Shape;241;g3bdda86c838_0_136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42" name="Google Shape;242;g3bdda86c838_0_13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3" name="Google Shape;243;g3bdda86c838_0_13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4" name="Google Shape;244;g3bdda86c838_0_13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dda86c838_0_1376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7" name="Google Shape;247;g3bdda86c838_0_1376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g3bdda86c838_0_137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49" name="Google Shape;249;g3bdda86c838_0_13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0" name="Google Shape;250;g3bdda86c838_0_13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1" name="Google Shape;251;g3bdda86c838_0_13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dda86c838_0_13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4" name="Google Shape;254;g3bdda86c838_0_1383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55" name="Google Shape;255;g3bdda86c838_0_13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6" name="Google Shape;256;g3bdda86c838_0_13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7" name="Google Shape;257;g3bdda86c838_0_13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dda86c838_0_1389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0" name="Google Shape;260;g3bdda86c838_0_1389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1" name="Google Shape;261;g3bdda86c838_0_13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2" name="Google Shape;262;g3bdda86c838_0_13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3" name="Google Shape;263;g3bdda86c838_0_13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  <p:pic>
        <p:nvPicPr>
          <p:cNvPr descr="Download HSLU Hochschule Luzern 2022 Logo PNG and Vector (PDF, SVG, Ai,  EPS) Free" id="11" name="Google Shape;11;p45"/>
          <p:cNvPicPr preferRelativeResize="0"/>
          <p:nvPr/>
        </p:nvPicPr>
        <p:blipFill rotWithShape="1">
          <a:blip r:embed="rId1">
            <a:alphaModFix/>
          </a:blip>
          <a:srcRect b="32797" l="0" r="0" t="32696"/>
          <a:stretch/>
        </p:blipFill>
        <p:spPr>
          <a:xfrm>
            <a:off x="9939130" y="0"/>
            <a:ext cx="2252870" cy="5800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dda86c838_0_12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3" name="Google Shape;83;g3bdda86c838_0_12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bdda86c838_0_12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bdda86c838_0_12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g3bdda86c838_0_12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  <p:pic>
        <p:nvPicPr>
          <p:cNvPr descr="Download HSLU Hochschule Luzern 2022 Logo PNG and Vector (PDF, SVG, Ai,  EPS) Free" id="87" name="Google Shape;87;g3bdda86c838_0_1212"/>
          <p:cNvPicPr preferRelativeResize="0"/>
          <p:nvPr/>
        </p:nvPicPr>
        <p:blipFill rotWithShape="1">
          <a:blip r:embed="rId1">
            <a:alphaModFix/>
          </a:blip>
          <a:srcRect b="32795" l="0" r="0" t="32698"/>
          <a:stretch/>
        </p:blipFill>
        <p:spPr>
          <a:xfrm>
            <a:off x="9757163" y="210700"/>
            <a:ext cx="2252871" cy="5800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dda86c838_0_13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85" name="Google Shape;185;g3bdda86c838_0_13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g3bdda86c838_0_13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g3bdda86c838_0_13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g3bdda86c838_0_13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  <p:pic>
        <p:nvPicPr>
          <p:cNvPr descr="Download HSLU Hochschule Luzern 2022 Logo PNG and Vector (PDF, SVG, Ai,  EPS) Free" id="189" name="Google Shape;189;g3bdda86c838_0_1314"/>
          <p:cNvPicPr preferRelativeResize="0"/>
          <p:nvPr/>
        </p:nvPicPr>
        <p:blipFill rotWithShape="1">
          <a:blip r:embed="rId1">
            <a:alphaModFix/>
          </a:blip>
          <a:srcRect b="32795" l="0" r="0" t="32698"/>
          <a:stretch/>
        </p:blipFill>
        <p:spPr>
          <a:xfrm>
            <a:off x="9939130" y="23554"/>
            <a:ext cx="2252871" cy="5800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dda86c838_0_1042"/>
          <p:cNvSpPr txBox="1"/>
          <p:nvPr>
            <p:ph type="title"/>
          </p:nvPr>
        </p:nvSpPr>
        <p:spPr>
          <a:xfrm>
            <a:off x="838200" y="2704892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/>
              <a:t>Computer Vision Metrics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puter Vision tasks" id="273" name="Google Shape;273;g3bdda86c838_0_1046"/>
          <p:cNvPicPr preferRelativeResize="0"/>
          <p:nvPr/>
        </p:nvPicPr>
        <p:blipFill rotWithShape="1">
          <a:blip r:embed="rId3">
            <a:alphaModFix/>
          </a:blip>
          <a:srcRect b="13096" l="0" r="0" t="0"/>
          <a:stretch/>
        </p:blipFill>
        <p:spPr>
          <a:xfrm>
            <a:off x="644028" y="936418"/>
            <a:ext cx="10764796" cy="498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dda86c838_0_1050"/>
          <p:cNvSpPr txBox="1"/>
          <p:nvPr>
            <p:ph type="title"/>
          </p:nvPr>
        </p:nvSpPr>
        <p:spPr>
          <a:xfrm>
            <a:off x="606972" y="27662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/>
              <a:t>Metrics for Image Classification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dda86c838_0_1054"/>
          <p:cNvSpPr txBox="1"/>
          <p:nvPr>
            <p:ph type="title"/>
          </p:nvPr>
        </p:nvSpPr>
        <p:spPr>
          <a:xfrm>
            <a:off x="604284" y="2197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/>
              <a:t>Confusion Matrix (binary classification)</a:t>
            </a:r>
            <a:endParaRPr/>
          </a:p>
        </p:txBody>
      </p:sp>
      <p:sp>
        <p:nvSpPr>
          <p:cNvPr id="284" name="Google Shape;284;g3bdda86c838_0_1054"/>
          <p:cNvSpPr/>
          <p:nvPr/>
        </p:nvSpPr>
        <p:spPr>
          <a:xfrm>
            <a:off x="2420903" y="1786809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0 and that have a true class of 0</a:t>
            </a:r>
            <a:b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(TRUE POSITIVES, TP)</a:t>
            </a:r>
            <a:endParaRPr b="0" i="0" sz="19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5" name="Google Shape;285;g3bdda86c838_0_1054"/>
          <p:cNvSpPr/>
          <p:nvPr/>
        </p:nvSpPr>
        <p:spPr>
          <a:xfrm>
            <a:off x="5227899" y="1786808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1 and that have a true class of 0</a:t>
            </a:r>
            <a:b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(FALSE NEGATIVES, FN)</a:t>
            </a:r>
            <a:endParaRPr b="0" i="0" sz="19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dda86c838_0_1054"/>
          <p:cNvSpPr/>
          <p:nvPr/>
        </p:nvSpPr>
        <p:spPr>
          <a:xfrm>
            <a:off x="2420903" y="3753831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0 and that have a true class of 1</a:t>
            </a:r>
            <a:b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(FALSE POSITIVES, FP)</a:t>
            </a:r>
            <a:endParaRPr b="0" i="0" sz="19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bdda86c838_0_1054"/>
          <p:cNvSpPr/>
          <p:nvPr/>
        </p:nvSpPr>
        <p:spPr>
          <a:xfrm>
            <a:off x="5227899" y="3753830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1 and that have a true class of 1</a:t>
            </a:r>
            <a:b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(TRUE NEGATIVES, TN)</a:t>
            </a:r>
            <a:endParaRPr b="0" i="0" sz="19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bdda86c838_0_1054"/>
          <p:cNvSpPr txBox="1"/>
          <p:nvPr/>
        </p:nvSpPr>
        <p:spPr>
          <a:xfrm>
            <a:off x="758680" y="2585653"/>
            <a:ext cx="138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H" sz="19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True Label 0</a:t>
            </a:r>
            <a:endParaRPr sz="1500"/>
          </a:p>
        </p:txBody>
      </p:sp>
      <p:sp>
        <p:nvSpPr>
          <p:cNvPr id="289" name="Google Shape;289;g3bdda86c838_0_1054"/>
          <p:cNvSpPr txBox="1"/>
          <p:nvPr/>
        </p:nvSpPr>
        <p:spPr>
          <a:xfrm>
            <a:off x="2879655" y="5853394"/>
            <a:ext cx="188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Predicted Label 0</a:t>
            </a:r>
            <a:endParaRPr sz="1500"/>
          </a:p>
        </p:txBody>
      </p:sp>
      <p:sp>
        <p:nvSpPr>
          <p:cNvPr id="290" name="Google Shape;290;g3bdda86c838_0_1054"/>
          <p:cNvSpPr txBox="1"/>
          <p:nvPr/>
        </p:nvSpPr>
        <p:spPr>
          <a:xfrm>
            <a:off x="5686653" y="5853394"/>
            <a:ext cx="188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Predicted Label 1</a:t>
            </a:r>
            <a:endParaRPr sz="1500"/>
          </a:p>
        </p:txBody>
      </p:sp>
      <p:sp>
        <p:nvSpPr>
          <p:cNvPr id="291" name="Google Shape;291;g3bdda86c838_0_1054"/>
          <p:cNvSpPr txBox="1"/>
          <p:nvPr/>
        </p:nvSpPr>
        <p:spPr>
          <a:xfrm>
            <a:off x="758680" y="4552675"/>
            <a:ext cx="138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True Label 1</a:t>
            </a:r>
            <a:endParaRPr sz="1500"/>
          </a:p>
        </p:txBody>
      </p:sp>
      <p:sp>
        <p:nvSpPr>
          <p:cNvPr id="292" name="Google Shape;292;g3bdda86c838_0_1054"/>
          <p:cNvSpPr txBox="1"/>
          <p:nvPr/>
        </p:nvSpPr>
        <p:spPr>
          <a:xfrm>
            <a:off x="8277826" y="1929901"/>
            <a:ext cx="3914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H" sz="19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 the case of the perfect classifier: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FN = 0 and FP = 0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g3bdda86c838_0_1054"/>
          <p:cNvCxnSpPr/>
          <p:nvPr/>
        </p:nvCxnSpPr>
        <p:spPr>
          <a:xfrm flipH="1">
            <a:off x="7720462" y="2576232"/>
            <a:ext cx="983700" cy="37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4" name="Google Shape;294;g3bdda86c838_0_1054"/>
          <p:cNvCxnSpPr/>
          <p:nvPr/>
        </p:nvCxnSpPr>
        <p:spPr>
          <a:xfrm flipH="1">
            <a:off x="4985197" y="2576231"/>
            <a:ext cx="4785900" cy="1967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dda86c838_0_1069"/>
          <p:cNvSpPr txBox="1"/>
          <p:nvPr>
            <p:ph type="title"/>
          </p:nvPr>
        </p:nvSpPr>
        <p:spPr>
          <a:xfrm>
            <a:off x="297552" y="0"/>
            <a:ext cx="105156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/>
              <a:t>Summary – confusion matrix</a:t>
            </a:r>
            <a:endParaRPr/>
          </a:p>
        </p:txBody>
      </p:sp>
      <p:pic>
        <p:nvPicPr>
          <p:cNvPr id="300" name="Google Shape;300;g3bdda86c838_0_10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44391"/>
            <a:ext cx="12191999" cy="564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dda86c838_0_10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/>
              <a:t>Note</a:t>
            </a:r>
            <a:endParaRPr/>
          </a:p>
        </p:txBody>
      </p:sp>
      <p:sp>
        <p:nvSpPr>
          <p:cNvPr id="306" name="Google Shape;306;g3bdda86c838_0_10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H"/>
              <a:t>All the previous metrics can be used in any segmentation task. You treat each pixel as correctly classified or wrongly classified So you are dealing with a binary classification problem</a:t>
            </a:r>
            <a:endParaRPr/>
          </a:p>
          <a:p>
            <a:pPr indent="-50800" lvl="0" marL="2413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413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H"/>
              <a:t>But you must be careful when the portion of the image to be segmented is very small. You will easily get high accuracy but the segmentation could be very poor.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dda86c838_0_1079"/>
          <p:cNvSpPr txBox="1"/>
          <p:nvPr>
            <p:ph type="title"/>
          </p:nvPr>
        </p:nvSpPr>
        <p:spPr>
          <a:xfrm>
            <a:off x="436764" y="72475"/>
            <a:ext cx="116472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CH"/>
              <a:t>Confusion Matrix (Multi-class classification)</a:t>
            </a:r>
            <a:endParaRPr/>
          </a:p>
        </p:txBody>
      </p:sp>
      <p:sp>
        <p:nvSpPr>
          <p:cNvPr id="312" name="Google Shape;312;g3bdda86c838_0_1079"/>
          <p:cNvSpPr/>
          <p:nvPr/>
        </p:nvSpPr>
        <p:spPr>
          <a:xfrm>
            <a:off x="2098987" y="953433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0 and that have a true class of 0</a:t>
            </a:r>
            <a:b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1500"/>
          </a:p>
        </p:txBody>
      </p:sp>
      <p:sp>
        <p:nvSpPr>
          <p:cNvPr id="313" name="Google Shape;313;g3bdda86c838_0_1079"/>
          <p:cNvSpPr/>
          <p:nvPr/>
        </p:nvSpPr>
        <p:spPr>
          <a:xfrm>
            <a:off x="4905983" y="953432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1 and that have a true class of 0</a:t>
            </a:r>
            <a:b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1500"/>
          </a:p>
        </p:txBody>
      </p:sp>
      <p:sp>
        <p:nvSpPr>
          <p:cNvPr id="314" name="Google Shape;314;g3bdda86c838_0_1079"/>
          <p:cNvSpPr/>
          <p:nvPr/>
        </p:nvSpPr>
        <p:spPr>
          <a:xfrm>
            <a:off x="2098987" y="2920455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0 and that have a true class of 1</a:t>
            </a:r>
            <a:b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1500"/>
          </a:p>
        </p:txBody>
      </p:sp>
      <p:sp>
        <p:nvSpPr>
          <p:cNvPr id="315" name="Google Shape;315;g3bdda86c838_0_1079"/>
          <p:cNvSpPr/>
          <p:nvPr/>
        </p:nvSpPr>
        <p:spPr>
          <a:xfrm>
            <a:off x="4905983" y="2920454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1 and that have a true class of 1</a:t>
            </a:r>
            <a:b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1500"/>
          </a:p>
        </p:txBody>
      </p:sp>
      <p:sp>
        <p:nvSpPr>
          <p:cNvPr id="316" name="Google Shape;316;g3bdda86c838_0_1079"/>
          <p:cNvSpPr txBox="1"/>
          <p:nvPr/>
        </p:nvSpPr>
        <p:spPr>
          <a:xfrm>
            <a:off x="436764" y="1752277"/>
            <a:ext cx="138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True Label 0</a:t>
            </a:r>
            <a:endParaRPr sz="1500"/>
          </a:p>
        </p:txBody>
      </p:sp>
      <p:sp>
        <p:nvSpPr>
          <p:cNvPr id="317" name="Google Shape;317;g3bdda86c838_0_1079"/>
          <p:cNvSpPr txBox="1"/>
          <p:nvPr/>
        </p:nvSpPr>
        <p:spPr>
          <a:xfrm>
            <a:off x="2523015" y="5936378"/>
            <a:ext cx="188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Predicted Label 0</a:t>
            </a:r>
            <a:endParaRPr sz="1500"/>
          </a:p>
        </p:txBody>
      </p:sp>
      <p:sp>
        <p:nvSpPr>
          <p:cNvPr id="318" name="Google Shape;318;g3bdda86c838_0_1079"/>
          <p:cNvSpPr txBox="1"/>
          <p:nvPr/>
        </p:nvSpPr>
        <p:spPr>
          <a:xfrm>
            <a:off x="5330013" y="5936378"/>
            <a:ext cx="188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Predicted Label 1</a:t>
            </a:r>
            <a:endParaRPr sz="1500"/>
          </a:p>
        </p:txBody>
      </p:sp>
      <p:sp>
        <p:nvSpPr>
          <p:cNvPr id="319" name="Google Shape;319;g3bdda86c838_0_1079"/>
          <p:cNvSpPr txBox="1"/>
          <p:nvPr/>
        </p:nvSpPr>
        <p:spPr>
          <a:xfrm>
            <a:off x="436764" y="3719299"/>
            <a:ext cx="138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True Label 1</a:t>
            </a:r>
            <a:endParaRPr sz="1500"/>
          </a:p>
        </p:txBody>
      </p:sp>
      <p:sp>
        <p:nvSpPr>
          <p:cNvPr id="320" name="Google Shape;320;g3bdda86c838_0_1079"/>
          <p:cNvSpPr/>
          <p:nvPr/>
        </p:nvSpPr>
        <p:spPr>
          <a:xfrm>
            <a:off x="7712979" y="953431"/>
            <a:ext cx="2807100" cy="1967100"/>
          </a:xfrm>
          <a:prstGeom prst="rect">
            <a:avLst/>
          </a:prstGeom>
          <a:solidFill>
            <a:srgbClr val="B3C6E7"/>
          </a:solidFill>
          <a:ln cap="flat" cmpd="sng" w="381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 of inputs classified as 2 and that have a true class of 0</a:t>
            </a:r>
            <a:b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1500"/>
          </a:p>
        </p:txBody>
      </p:sp>
      <p:sp>
        <p:nvSpPr>
          <p:cNvPr id="321" name="Google Shape;321;g3bdda86c838_0_1079"/>
          <p:cNvSpPr txBox="1"/>
          <p:nvPr/>
        </p:nvSpPr>
        <p:spPr>
          <a:xfrm>
            <a:off x="8166462" y="5967177"/>
            <a:ext cx="188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Predicted Label 2</a:t>
            </a:r>
            <a:endParaRPr sz="1500"/>
          </a:p>
        </p:txBody>
      </p:sp>
      <p:sp>
        <p:nvSpPr>
          <p:cNvPr id="322" name="Google Shape;322;g3bdda86c838_0_1079"/>
          <p:cNvSpPr txBox="1"/>
          <p:nvPr/>
        </p:nvSpPr>
        <p:spPr>
          <a:xfrm rot="1801627">
            <a:off x="9018442" y="3611687"/>
            <a:ext cx="490997" cy="58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</a:t>
            </a:r>
            <a:endParaRPr sz="1500"/>
          </a:p>
        </p:txBody>
      </p:sp>
      <p:sp>
        <p:nvSpPr>
          <p:cNvPr id="323" name="Google Shape;323;g3bdda86c838_0_1079"/>
          <p:cNvSpPr txBox="1"/>
          <p:nvPr/>
        </p:nvSpPr>
        <p:spPr>
          <a:xfrm rot="5400000">
            <a:off x="3514636" y="5119409"/>
            <a:ext cx="49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</a:t>
            </a:r>
            <a:endParaRPr sz="1500"/>
          </a:p>
        </p:txBody>
      </p:sp>
      <p:sp>
        <p:nvSpPr>
          <p:cNvPr id="324" name="Google Shape;324;g3bdda86c838_0_1079"/>
          <p:cNvSpPr txBox="1"/>
          <p:nvPr/>
        </p:nvSpPr>
        <p:spPr>
          <a:xfrm rot="5400000">
            <a:off x="6063968" y="5119408"/>
            <a:ext cx="49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</a:t>
            </a:r>
            <a:endParaRPr sz="1500"/>
          </a:p>
        </p:txBody>
      </p:sp>
      <p:sp>
        <p:nvSpPr>
          <p:cNvPr id="325" name="Google Shape;325;g3bdda86c838_0_1079"/>
          <p:cNvSpPr txBox="1"/>
          <p:nvPr/>
        </p:nvSpPr>
        <p:spPr>
          <a:xfrm rot="5400000">
            <a:off x="9037746" y="5119409"/>
            <a:ext cx="49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</a:t>
            </a:r>
            <a:endParaRPr sz="1500"/>
          </a:p>
        </p:txBody>
      </p:sp>
      <p:sp>
        <p:nvSpPr>
          <p:cNvPr id="326" name="Google Shape;326;g3bdda86c838_0_1079"/>
          <p:cNvSpPr txBox="1"/>
          <p:nvPr/>
        </p:nvSpPr>
        <p:spPr>
          <a:xfrm>
            <a:off x="10856993" y="1531809"/>
            <a:ext cx="49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</a:t>
            </a:r>
            <a:endParaRPr sz="1500"/>
          </a:p>
        </p:txBody>
      </p:sp>
      <p:sp>
        <p:nvSpPr>
          <p:cNvPr id="327" name="Google Shape;327;g3bdda86c838_0_1079"/>
          <p:cNvSpPr txBox="1"/>
          <p:nvPr/>
        </p:nvSpPr>
        <p:spPr>
          <a:xfrm>
            <a:off x="950014" y="5166507"/>
            <a:ext cx="35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…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dda86c838_0_1099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CH"/>
              <a:t>Metrics for Image Localisation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dda86c838_0_1103"/>
          <p:cNvSpPr txBox="1"/>
          <p:nvPr>
            <p:ph type="title"/>
          </p:nvPr>
        </p:nvSpPr>
        <p:spPr>
          <a:xfrm>
            <a:off x="164431" y="124494"/>
            <a:ext cx="105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CH"/>
              <a:t>Intersection Over Union (IoU)</a:t>
            </a:r>
            <a:endParaRPr/>
          </a:p>
        </p:txBody>
      </p:sp>
      <p:sp>
        <p:nvSpPr>
          <p:cNvPr id="338" name="Google Shape;338;g3bdda86c838_0_1103"/>
          <p:cNvSpPr txBox="1"/>
          <p:nvPr>
            <p:ph idx="1" type="body"/>
          </p:nvPr>
        </p:nvSpPr>
        <p:spPr>
          <a:xfrm>
            <a:off x="838200" y="9954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H" sz="2200"/>
              <a:t>Intersection over union is actually a very straightforward and self-explanatory measurement and is based on the Jaccard index (a coefficient for similarity for two sets of data)</a:t>
            </a:r>
            <a:endParaRPr sz="2200"/>
          </a:p>
        </p:txBody>
      </p:sp>
      <p:sp>
        <p:nvSpPr>
          <p:cNvPr id="339" name="Google Shape;339;g3bdda86c838_0_1103"/>
          <p:cNvSpPr txBox="1"/>
          <p:nvPr/>
        </p:nvSpPr>
        <p:spPr>
          <a:xfrm>
            <a:off x="0" y="6469368"/>
            <a:ext cx="111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https://www.superannotate.com/blog/intersection-over-union-for-object-detection</a:t>
            </a:r>
            <a:endParaRPr sz="1200"/>
          </a:p>
        </p:txBody>
      </p:sp>
      <p:pic>
        <p:nvPicPr>
          <p:cNvPr descr="intersection over union formula" id="340" name="Google Shape;340;g3bdda86c838_0_1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7556" y="2446771"/>
            <a:ext cx="7078581" cy="3415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dda86c838_0_11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/>
              <a:t>IoU - An example</a:t>
            </a:r>
            <a:endParaRPr/>
          </a:p>
        </p:txBody>
      </p:sp>
      <p:pic>
        <p:nvPicPr>
          <p:cNvPr descr="Prediction quality based on Intersection Over Union IoU" id="346" name="Google Shape;346;g3bdda86c838_0_1110"/>
          <p:cNvPicPr preferRelativeResize="0"/>
          <p:nvPr/>
        </p:nvPicPr>
        <p:blipFill rotWithShape="1">
          <a:blip r:embed="rId3">
            <a:alphaModFix/>
          </a:blip>
          <a:srcRect b="13268" l="0" r="0" t="4011"/>
          <a:stretch/>
        </p:blipFill>
        <p:spPr>
          <a:xfrm>
            <a:off x="749405" y="1939176"/>
            <a:ext cx="10693188" cy="334477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bdda86c838_0_1110"/>
          <p:cNvSpPr txBox="1"/>
          <p:nvPr/>
        </p:nvSpPr>
        <p:spPr>
          <a:xfrm>
            <a:off x="0" y="6492875"/>
            <a:ext cx="1069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https://learnopencv.com/intersection-over-union-iou-in-object-detection-and-segmentation/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dda86c838_0_111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CH"/>
              <a:t>IoU in image segmentation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rd segmentation mask for calculation of Intersection Over Union IoU - intersection over union segmentation" id="357" name="Google Shape;357;g3bdda86c838_0_1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71372"/>
            <a:ext cx="1219200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bdda86c838_0_1120"/>
          <p:cNvSpPr txBox="1"/>
          <p:nvPr/>
        </p:nvSpPr>
        <p:spPr>
          <a:xfrm>
            <a:off x="0" y="6469368"/>
            <a:ext cx="1111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https://www.superannotate.com/blog/intersection-over-union-for-object-detection</a:t>
            </a:r>
            <a:endParaRPr sz="1100"/>
          </a:p>
        </p:txBody>
      </p:sp>
      <p:sp>
        <p:nvSpPr>
          <p:cNvPr id="359" name="Google Shape;359;g3bdda86c838_0_1120"/>
          <p:cNvSpPr txBox="1"/>
          <p:nvPr/>
        </p:nvSpPr>
        <p:spPr>
          <a:xfrm>
            <a:off x="164431" y="124494"/>
            <a:ext cx="105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CH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Intersection Over Union (IoU)</a:t>
            </a:r>
            <a:endParaRPr b="0" i="0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bdda86c838_0_1120"/>
          <p:cNvSpPr txBox="1"/>
          <p:nvPr/>
        </p:nvSpPr>
        <p:spPr>
          <a:xfrm>
            <a:off x="4601071" y="1214680"/>
            <a:ext cx="2990100" cy="697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289" l="-1689" r="-169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dda86c838_0_112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CH"/>
              <a:t>Image Similarity Metrics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bd961a9dd_0_0"/>
          <p:cNvSpPr txBox="1"/>
          <p:nvPr>
            <p:ph idx="1" type="body"/>
          </p:nvPr>
        </p:nvSpPr>
        <p:spPr>
          <a:xfrm>
            <a:off x="838200" y="1825625"/>
            <a:ext cx="10515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CH" sz="2000"/>
              <a:t>Peak Signal-to-Noise Ratio</a:t>
            </a:r>
            <a:r>
              <a:rPr lang="en-CH" sz="2000"/>
              <a:t> (PSNR) is an engineering metric used to measure the quality of a reconstructed image (e.g., after compression or AI generation) compared to the original.</a:t>
            </a:r>
            <a:endParaRPr sz="2000"/>
          </a:p>
        </p:txBody>
      </p:sp>
      <p:sp>
        <p:nvSpPr>
          <p:cNvPr id="371" name="Google Shape;371;g3bbd961a9dd_0_0"/>
          <p:cNvSpPr txBox="1"/>
          <p:nvPr>
            <p:ph type="title"/>
          </p:nvPr>
        </p:nvSpPr>
        <p:spPr>
          <a:xfrm>
            <a:off x="838200" y="33246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/>
              <a:t>MSE and PSNR</a:t>
            </a:r>
            <a:endParaRPr/>
          </a:p>
        </p:txBody>
      </p:sp>
      <p:sp>
        <p:nvSpPr>
          <p:cNvPr id="372" name="Google Shape;372;g3bbd961a9dd_0_0"/>
          <p:cNvSpPr txBox="1"/>
          <p:nvPr/>
        </p:nvSpPr>
        <p:spPr>
          <a:xfrm>
            <a:off x="838201" y="4635370"/>
            <a:ext cx="106077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CH" sz="2000">
                <a:solidFill>
                  <a:schemeClr val="dk1"/>
                </a:solidFill>
              </a:rPr>
              <a:t>M:</a:t>
            </a:r>
            <a:r>
              <a:rPr lang="en-CH" sz="2000">
                <a:solidFill>
                  <a:schemeClr val="dk1"/>
                </a:solidFill>
              </a:rPr>
              <a:t> The maximum possible pixel value (usually 255 for 8-bit images)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CH" sz="2000">
                <a:solidFill>
                  <a:schemeClr val="dk1"/>
                </a:solidFill>
              </a:rPr>
              <a:t>MSE</a:t>
            </a:r>
            <a:r>
              <a:rPr lang="en-CH" sz="2000">
                <a:solidFill>
                  <a:schemeClr val="dk1"/>
                </a:solidFill>
              </a:rPr>
              <a:t>: The average squared difference between the original and reconstructed pixels.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CH" sz="2000">
                <a:solidFill>
                  <a:schemeClr val="dk1"/>
                </a:solidFill>
              </a:rPr>
              <a:t>A higher PSNR value indicates better quality (less noise).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73" name="Google Shape;373;g3bbd961a9dd_0_0"/>
          <p:cNvPicPr preferRelativeResize="0"/>
          <p:nvPr/>
        </p:nvPicPr>
        <p:blipFill rotWithShape="1">
          <a:blip r:embed="rId3">
            <a:alphaModFix/>
          </a:blip>
          <a:srcRect b="0" l="9371" r="8351" t="0"/>
          <a:stretch/>
        </p:blipFill>
        <p:spPr>
          <a:xfrm>
            <a:off x="4349100" y="3009531"/>
            <a:ext cx="2710950" cy="10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bd961a9dd_0_10"/>
          <p:cNvSpPr txBox="1"/>
          <p:nvPr>
            <p:ph idx="1" type="body"/>
          </p:nvPr>
        </p:nvSpPr>
        <p:spPr>
          <a:xfrm>
            <a:off x="838200" y="1825625"/>
            <a:ext cx="10515600" cy="328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rPr b="1" lang="en-CH" sz="1900"/>
              <a:t>Limitations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rPr b="1" lang="en-CH" sz="1900"/>
              <a:t>Not Perceptual:</a:t>
            </a:r>
            <a:r>
              <a:rPr lang="en-CH" sz="1900"/>
              <a:t> PSNR looks at raw pixel math, not how humans see.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rPr lang="en-CH" sz="1900"/>
              <a:t>The Blur Problem: An image can have a high PSNR but look slightly blurry, or a lower PSNR but look sharper to the human eye.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rPr b="1" lang="en-CH" sz="1900"/>
              <a:t>Alternative:</a:t>
            </a:r>
            <a:r>
              <a:rPr lang="en-CH" sz="1900"/>
              <a:t> SSIM (Structural Similarity Index) is often used alongside PSNR to capture perceptual quality.</a:t>
            </a:r>
            <a:endParaRPr sz="1900"/>
          </a:p>
        </p:txBody>
      </p:sp>
      <p:sp>
        <p:nvSpPr>
          <p:cNvPr id="379" name="Google Shape;379;g3bbd961a9dd_0_10"/>
          <p:cNvSpPr txBox="1"/>
          <p:nvPr>
            <p:ph type="title"/>
          </p:nvPr>
        </p:nvSpPr>
        <p:spPr>
          <a:xfrm>
            <a:off x="838200" y="33246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/>
              <a:t>MSE and PSNR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bd961a9dd_0_17"/>
          <p:cNvSpPr txBox="1"/>
          <p:nvPr>
            <p:ph idx="1" type="body"/>
          </p:nvPr>
        </p:nvSpPr>
        <p:spPr>
          <a:xfrm>
            <a:off x="838200" y="1825625"/>
            <a:ext cx="10833600" cy="41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H" sz="2000"/>
              <a:t>The </a:t>
            </a:r>
            <a:r>
              <a:rPr b="1" lang="en-CH" sz="2000"/>
              <a:t>Structural Similarity Index Measure (SSIM)</a:t>
            </a:r>
            <a:r>
              <a:rPr lang="en-CH" sz="2000"/>
              <a:t> is a perceptual metric that quantifies image quality degradation caused by processing (compression, noise, etc.).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H" sz="2000"/>
              <a:t>The Philosophy:</a:t>
            </a:r>
            <a:r>
              <a:rPr lang="en-CH" sz="2000"/>
              <a:t> Unlike MSE/PSNR (which just check if pixel numbers match), SSIM attempts to mimic the </a:t>
            </a:r>
            <a:r>
              <a:rPr b="1" lang="en-CH" sz="2000"/>
              <a:t>Human Visual System (HVS)</a:t>
            </a:r>
            <a:r>
              <a:rPr lang="en-CH" sz="2000"/>
              <a:t>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H" sz="2000"/>
              <a:t>Key Insight:</a:t>
            </a:r>
            <a:r>
              <a:rPr lang="en-CH" sz="2000"/>
              <a:t> Humans are highly sensitive to changes in </a:t>
            </a:r>
            <a:r>
              <a:rPr b="1" lang="en-CH" sz="2000"/>
              <a:t>structure</a:t>
            </a:r>
            <a:r>
              <a:rPr lang="en-CH" sz="2000"/>
              <a:t> (edges, shapes, textures), not just absolute pixel intensity.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/>
          </a:p>
        </p:txBody>
      </p:sp>
      <p:sp>
        <p:nvSpPr>
          <p:cNvPr id="385" name="Google Shape;385;g3bbd961a9dd_0_17"/>
          <p:cNvSpPr txBox="1"/>
          <p:nvPr>
            <p:ph type="title"/>
          </p:nvPr>
        </p:nvSpPr>
        <p:spPr>
          <a:xfrm>
            <a:off x="838200" y="33246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/>
              <a:t>Mean Structural Similarity Index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bd961a9dd_0_24"/>
          <p:cNvSpPr txBox="1"/>
          <p:nvPr>
            <p:ph idx="1" type="body"/>
          </p:nvPr>
        </p:nvSpPr>
        <p:spPr>
          <a:xfrm>
            <a:off x="838200" y="1825625"/>
            <a:ext cx="10833600" cy="195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CH" sz="1800"/>
              <a:t>SSIM compares two windows (patches) of an image based on three independent features: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H" sz="1800"/>
              <a:t>Luminance (l):</a:t>
            </a:r>
            <a:r>
              <a:rPr lang="en-CH" sz="1800"/>
              <a:t> Compares the brightness (average pixel intensity).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H" sz="1800"/>
              <a:t>Contrast (c):</a:t>
            </a:r>
            <a:r>
              <a:rPr lang="en-CH" sz="1800"/>
              <a:t> Compares the range of pixel values (standard deviation).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H" sz="1800"/>
              <a:t>Structure (s):</a:t>
            </a:r>
            <a:r>
              <a:rPr lang="en-CH" sz="1800"/>
              <a:t> Compares the local patterns/textures (correlation) after removing brightness and contrast.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/>
          </a:p>
        </p:txBody>
      </p:sp>
      <p:sp>
        <p:nvSpPr>
          <p:cNvPr id="391" name="Google Shape;391;g3bbd961a9dd_0_24"/>
          <p:cNvSpPr txBox="1"/>
          <p:nvPr>
            <p:ph type="title"/>
          </p:nvPr>
        </p:nvSpPr>
        <p:spPr>
          <a:xfrm>
            <a:off x="838200" y="33246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/>
              <a:t>Mean Structural Similarity Index</a:t>
            </a:r>
            <a:endParaRPr/>
          </a:p>
        </p:txBody>
      </p:sp>
      <p:pic>
        <p:nvPicPr>
          <p:cNvPr id="392" name="Google Shape;392;g3bbd961a9dd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750" y="3946974"/>
            <a:ext cx="5422499" cy="62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g3bbd961a9dd_0_24"/>
          <p:cNvGrpSpPr/>
          <p:nvPr/>
        </p:nvGrpSpPr>
        <p:grpSpPr>
          <a:xfrm>
            <a:off x="5272024" y="5001040"/>
            <a:ext cx="2994833" cy="876510"/>
            <a:chOff x="273721" y="2419784"/>
            <a:chExt cx="4386105" cy="1283700"/>
          </a:xfrm>
        </p:grpSpPr>
        <p:pic>
          <p:nvPicPr>
            <p:cNvPr id="394" name="Google Shape;394;g3bbd961a9dd_0_24"/>
            <p:cNvPicPr preferRelativeResize="0"/>
            <p:nvPr/>
          </p:nvPicPr>
          <p:blipFill rotWithShape="1">
            <a:blip r:embed="rId4">
              <a:alphaModFix/>
            </a:blip>
            <a:srcRect b="0" l="6063" r="4770" t="8684"/>
            <a:stretch/>
          </p:blipFill>
          <p:spPr>
            <a:xfrm>
              <a:off x="379139" y="2450179"/>
              <a:ext cx="4280687" cy="8813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g3bbd961a9dd_0_24"/>
            <p:cNvSpPr txBox="1"/>
            <p:nvPr/>
          </p:nvSpPr>
          <p:spPr>
            <a:xfrm>
              <a:off x="2047593" y="3245172"/>
              <a:ext cx="1152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200" lIns="62425" spcFirstLastPara="1" rIns="62425" wrap="square" tIns="312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H" sz="136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Contrast</a:t>
              </a:r>
              <a:endParaRPr sz="1024"/>
            </a:p>
          </p:txBody>
        </p:sp>
        <p:sp>
          <p:nvSpPr>
            <p:cNvPr id="396" name="Google Shape;396;g3bbd961a9dd_0_24"/>
            <p:cNvSpPr/>
            <p:nvPr/>
          </p:nvSpPr>
          <p:spPr>
            <a:xfrm>
              <a:off x="273721" y="2419784"/>
              <a:ext cx="4386000" cy="1283700"/>
            </a:xfrm>
            <a:prstGeom prst="rect">
              <a:avLst/>
            </a:prstGeom>
            <a:noFill/>
            <a:ln cap="flat" cmpd="sng" w="867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200" lIns="62425" spcFirstLastPara="1" rIns="62425" wrap="square" tIns="31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g3bbd961a9dd_0_24"/>
          <p:cNvGrpSpPr/>
          <p:nvPr/>
        </p:nvGrpSpPr>
        <p:grpSpPr>
          <a:xfrm>
            <a:off x="8798968" y="5001058"/>
            <a:ext cx="2994761" cy="876510"/>
            <a:chOff x="7244373" y="2537772"/>
            <a:chExt cx="4386000" cy="1283700"/>
          </a:xfrm>
        </p:grpSpPr>
        <p:pic>
          <p:nvPicPr>
            <p:cNvPr id="398" name="Google Shape;398;g3bbd961a9dd_0_24"/>
            <p:cNvPicPr preferRelativeResize="0"/>
            <p:nvPr/>
          </p:nvPicPr>
          <p:blipFill rotWithShape="1">
            <a:blip r:embed="rId5">
              <a:alphaModFix/>
            </a:blip>
            <a:srcRect b="8436" l="3614" r="2497" t="11672"/>
            <a:stretch/>
          </p:blipFill>
          <p:spPr>
            <a:xfrm>
              <a:off x="7297082" y="2589230"/>
              <a:ext cx="4280688" cy="781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g3bbd961a9dd_0_24"/>
            <p:cNvSpPr txBox="1"/>
            <p:nvPr/>
          </p:nvSpPr>
          <p:spPr>
            <a:xfrm>
              <a:off x="8991336" y="3366818"/>
              <a:ext cx="122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200" lIns="62425" spcFirstLastPara="1" rIns="62425" wrap="square" tIns="312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H" sz="136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Structure</a:t>
              </a:r>
              <a:endParaRPr sz="1024"/>
            </a:p>
          </p:txBody>
        </p:sp>
        <p:sp>
          <p:nvSpPr>
            <p:cNvPr id="400" name="Google Shape;400;g3bbd961a9dd_0_24"/>
            <p:cNvSpPr/>
            <p:nvPr/>
          </p:nvSpPr>
          <p:spPr>
            <a:xfrm>
              <a:off x="7244373" y="2537772"/>
              <a:ext cx="4386000" cy="1283700"/>
            </a:xfrm>
            <a:prstGeom prst="rect">
              <a:avLst/>
            </a:prstGeom>
            <a:noFill/>
            <a:ln cap="flat" cmpd="sng" w="867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200" lIns="62425" spcFirstLastPara="1" rIns="62425" wrap="square" tIns="31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g3bbd961a9dd_0_24"/>
          <p:cNvGrpSpPr/>
          <p:nvPr/>
        </p:nvGrpSpPr>
        <p:grpSpPr>
          <a:xfrm>
            <a:off x="1954699" y="5001056"/>
            <a:ext cx="2709009" cy="876510"/>
            <a:chOff x="276815" y="3709673"/>
            <a:chExt cx="3967500" cy="1283700"/>
          </a:xfrm>
        </p:grpSpPr>
        <p:sp>
          <p:nvSpPr>
            <p:cNvPr id="402" name="Google Shape;402;g3bbd961a9dd_0_24"/>
            <p:cNvSpPr/>
            <p:nvPr/>
          </p:nvSpPr>
          <p:spPr>
            <a:xfrm>
              <a:off x="276815" y="3709673"/>
              <a:ext cx="3967500" cy="1283700"/>
            </a:xfrm>
            <a:prstGeom prst="rect">
              <a:avLst/>
            </a:prstGeom>
            <a:noFill/>
            <a:ln cap="flat" cmpd="sng" w="867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1200" lIns="62425" spcFirstLastPara="1" rIns="62425" wrap="square" tIns="31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3" name="Google Shape;403;g3bbd961a9dd_0_24"/>
            <p:cNvPicPr preferRelativeResize="0"/>
            <p:nvPr/>
          </p:nvPicPr>
          <p:blipFill rotWithShape="1">
            <a:blip r:embed="rId6">
              <a:alphaModFix/>
            </a:blip>
            <a:srcRect b="0" l="4175" r="3231" t="18447"/>
            <a:stretch/>
          </p:blipFill>
          <p:spPr>
            <a:xfrm>
              <a:off x="349642" y="3854432"/>
              <a:ext cx="3843755" cy="7626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g3bbd961a9dd_0_24"/>
            <p:cNvSpPr txBox="1"/>
            <p:nvPr/>
          </p:nvSpPr>
          <p:spPr>
            <a:xfrm>
              <a:off x="1298187" y="4545525"/>
              <a:ext cx="143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200" lIns="62425" spcFirstLastPara="1" rIns="62425" wrap="square" tIns="312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H" sz="136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Luminance</a:t>
              </a:r>
              <a:endParaRPr sz="1024"/>
            </a:p>
          </p:txBody>
        </p:sp>
      </p:grpSp>
      <p:sp>
        <p:nvSpPr>
          <p:cNvPr id="405" name="Google Shape;405;g3bbd961a9dd_0_24"/>
          <p:cNvSpPr/>
          <p:nvPr/>
        </p:nvSpPr>
        <p:spPr>
          <a:xfrm>
            <a:off x="3672355" y="6146903"/>
            <a:ext cx="6193500" cy="506700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g3bbd961a9dd_0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60247" y="6332287"/>
            <a:ext cx="164704" cy="20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bbd961a9dd_0_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05735" y="6301764"/>
            <a:ext cx="188696" cy="15095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bbd961a9dd_0_24"/>
          <p:cNvSpPr txBox="1"/>
          <p:nvPr/>
        </p:nvSpPr>
        <p:spPr>
          <a:xfrm>
            <a:off x="3971336" y="6192576"/>
            <a:ext cx="97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Mean</a:t>
            </a:r>
            <a:endParaRPr sz="1500"/>
          </a:p>
        </p:txBody>
      </p:sp>
      <p:sp>
        <p:nvSpPr>
          <p:cNvPr id="409" name="Google Shape;409;g3bbd961a9dd_0_24"/>
          <p:cNvSpPr txBox="1"/>
          <p:nvPr/>
        </p:nvSpPr>
        <p:spPr>
          <a:xfrm>
            <a:off x="5042203" y="6183253"/>
            <a:ext cx="2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Standard Deviation</a:t>
            </a:r>
            <a:endParaRPr sz="1500"/>
          </a:p>
        </p:txBody>
      </p:sp>
      <p:sp>
        <p:nvSpPr>
          <p:cNvPr id="410" name="Google Shape;410;g3bbd961a9dd_0_24"/>
          <p:cNvSpPr txBox="1"/>
          <p:nvPr/>
        </p:nvSpPr>
        <p:spPr>
          <a:xfrm>
            <a:off x="8437619" y="6168834"/>
            <a:ext cx="142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covariance</a:t>
            </a:r>
            <a:endParaRPr sz="1500"/>
          </a:p>
        </p:txBody>
      </p:sp>
      <p:pic>
        <p:nvPicPr>
          <p:cNvPr id="411" name="Google Shape;411;g3bbd961a9dd_0_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68074" y="6299434"/>
            <a:ext cx="1147748" cy="2387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g3bbd961a9dd_0_24"/>
          <p:cNvCxnSpPr>
            <a:stCxn id="402" idx="0"/>
          </p:cNvCxnSpPr>
          <p:nvPr/>
        </p:nvCxnSpPr>
        <p:spPr>
          <a:xfrm flipH="1" rot="10800000">
            <a:off x="3309204" y="4480856"/>
            <a:ext cx="2395800" cy="520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3" name="Google Shape;413;g3bbd961a9dd_0_24"/>
          <p:cNvCxnSpPr>
            <a:stCxn id="396" idx="0"/>
          </p:cNvCxnSpPr>
          <p:nvPr/>
        </p:nvCxnSpPr>
        <p:spPr>
          <a:xfrm rot="10800000">
            <a:off x="6769405" y="4450840"/>
            <a:ext cx="0" cy="550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4" name="Google Shape;414;g3bbd961a9dd_0_24"/>
          <p:cNvCxnSpPr>
            <a:stCxn id="400" idx="0"/>
          </p:cNvCxnSpPr>
          <p:nvPr/>
        </p:nvCxnSpPr>
        <p:spPr>
          <a:xfrm rot="10800000">
            <a:off x="8243448" y="4450858"/>
            <a:ext cx="2052900" cy="550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bd961a9dd_0_58"/>
          <p:cNvSpPr txBox="1"/>
          <p:nvPr>
            <p:ph idx="1" type="body"/>
          </p:nvPr>
        </p:nvSpPr>
        <p:spPr>
          <a:xfrm>
            <a:off x="838200" y="1825625"/>
            <a:ext cx="10833600" cy="195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-CH" sz="2000"/>
              <a:t>Interpreting the Score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CH" sz="2000"/>
              <a:t>Range:</a:t>
            </a:r>
            <a:r>
              <a:rPr lang="en-CH" sz="2000"/>
              <a:t> 0 to 1.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CH" sz="2000"/>
              <a:t>1.0:</a:t>
            </a:r>
            <a:r>
              <a:rPr lang="en-CH" sz="2000"/>
              <a:t> Perfect match (The images are identical).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CH" sz="2000"/>
              <a:t>0.95 - 0.99:</a:t>
            </a:r>
            <a:r>
              <a:rPr lang="en-CH" sz="2000"/>
              <a:t> High quality (Very hard to tell the difference).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CH" sz="2000"/>
              <a:t>&lt; 0.8:</a:t>
            </a:r>
            <a:r>
              <a:rPr lang="en-CH" sz="2000"/>
              <a:t> Noticeable distortion or loss of detail.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/>
          </a:p>
        </p:txBody>
      </p:sp>
      <p:sp>
        <p:nvSpPr>
          <p:cNvPr id="420" name="Google Shape;420;g3bbd961a9dd_0_58"/>
          <p:cNvSpPr txBox="1"/>
          <p:nvPr>
            <p:ph type="title"/>
          </p:nvPr>
        </p:nvSpPr>
        <p:spPr>
          <a:xfrm>
            <a:off x="838200" y="33246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H"/>
              <a:t>Mean Structural Similarity Index</a:t>
            </a:r>
            <a:endParaRPr/>
          </a:p>
        </p:txBody>
      </p:sp>
      <p:pic>
        <p:nvPicPr>
          <p:cNvPr id="421" name="Google Shape;421;g3bbd961a9dd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688" y="3946975"/>
            <a:ext cx="8968625" cy="277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2023-08-28T05:17:29Z</dcterms:created>
  <dc:creator>Michelucci Umberto HSLU 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2023-08-28T05:17:43Z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bffdf0f9-6f3f-42d9-a5b4-cb668bacc803</vt:lpwstr>
  </property>
  <property fmtid="{D5CDD505-2E9C-101B-9397-08002B2CF9AE}" pid="8" name="MSIP_Label_e8b0afbd-3cf7-4707-aee4-8dc9d855de29_ContentBits">
    <vt:lpwstr>0</vt:lpwstr>
  </property>
</Properties>
</file>