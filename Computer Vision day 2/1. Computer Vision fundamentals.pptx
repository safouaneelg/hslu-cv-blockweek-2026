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 id="2147483706" r:id="rId6"/>
    <p:sldMasterId id="2147483707" r:id="rId7"/>
    <p:sldMasterId id="214748370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Lst>
  <p:sldSz cy="5143500" cx="9144000"/>
  <p:notesSz cx="6858000" cy="9144000"/>
  <p:embeddedFontLst>
    <p:embeddedFont>
      <p:font typeface="Helvetica Neue"/>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1.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0.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HelveticaNeue-regular.fntdata"/><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HelveticaNeue-italic.fntdata"/><Relationship Id="rId14" Type="http://schemas.openxmlformats.org/officeDocument/2006/relationships/slide" Target="slides/slide5.xml"/><Relationship Id="rId36" Type="http://schemas.openxmlformats.org/officeDocument/2006/relationships/font" Target="fonts/HelveticaNeue-bold.fntdata"/><Relationship Id="rId17" Type="http://schemas.openxmlformats.org/officeDocument/2006/relationships/slide" Target="slides/slide8.xml"/><Relationship Id="rId39" Type="http://schemas.openxmlformats.org/officeDocument/2006/relationships/font" Target="fonts/OpenSans-regular.fntdata"/><Relationship Id="rId16" Type="http://schemas.openxmlformats.org/officeDocument/2006/relationships/slide" Target="slides/slide7.xml"/><Relationship Id="rId38" Type="http://schemas.openxmlformats.org/officeDocument/2006/relationships/font" Target="fonts/HelveticaNeue-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45775a6e8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45775a6e83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bb3281ca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bb3281ca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bb3281c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bb3281c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dda6c0d8f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bdda6c0d8f_0_3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dda6c0d8f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bdda6c0d8f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bdda6c0d8f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bdda6c0d8f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dda6c0d8f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bdda6c0d8f_0_4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dda6c0d8f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bdda6c0d8f_0_4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dda6c0d8f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bdda6c0d8f_0_4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dda6c0d8f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bdda6c0d8f_0_4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bdda6c0d8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bdda6c0d8f_0_5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bdda6c0d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bdda6c0d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bdda6c0d8f_0_1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g3bdda6c0d8f_0_1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bdda6c0d8f_0_1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g3bdda6c0d8f_0_1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dda6c0d8f_0_1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3bdda6c0d8f_0_1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dda6c0d8f_0_16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3bdda6c0d8f_0_16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bdda6c0d8f_0_1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g3bdda6c0d8f_0_16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bdda6c0d8f_0_1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g3bdda6c0d8f_0_16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bdda6c0d8f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bdda6c0d8f_0_8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bdda6c0d8f_0_16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g3bdda6c0d8f_0_1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bdda6c0d8f_0_1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g3bdda6c0d8f_0_16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dda6c0d8f_0_16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bdda6c0d8f_0_16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dda6c0d8f_0_1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g3bdda6c0d8f_0_16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dda6c0d8f_0_16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g3bdda6c0d8f_0_16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bdda6c0d8f_0_1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bdda6c0d8f_0_16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gblue.academy/"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6"/>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2" name="Google Shape;72;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8"/>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5" name="Google Shape;85;p18"/>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18"/>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300" cy="3655200"/>
          </a:xfrm>
          <a:prstGeom prst="rect">
            <a:avLst/>
          </a:prstGeom>
          <a:noFill/>
          <a:ln>
            <a:noFill/>
          </a:ln>
        </p:spPr>
      </p:sp>
      <p:sp>
        <p:nvSpPr>
          <p:cNvPr id="110" name="Google Shape;110;p22"/>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292625"/>
            <a:ext cx="8023500" cy="550500"/>
          </a:xfrm>
          <a:prstGeom prst="rect">
            <a:avLst/>
          </a:prstGeom>
          <a:noFill/>
          <a:ln>
            <a:noFill/>
          </a:ln>
        </p:spPr>
        <p:txBody>
          <a:bodyPr anchorCtr="0" anchor="t" bIns="91425" lIns="91425" spcFirstLastPara="1" rIns="91425" wrap="square" tIns="91425">
            <a:noAutofit/>
          </a:bodyPr>
          <a:lstStyle>
            <a:lvl1pPr lvl="0" marR="0" algn="l">
              <a:lnSpc>
                <a:spcPct val="125000"/>
              </a:lnSpc>
              <a:spcBef>
                <a:spcPts val="0"/>
              </a:spcBef>
              <a:spcAft>
                <a:spcPts val="0"/>
              </a:spcAft>
              <a:buClr>
                <a:srgbClr val="000000"/>
              </a:buClr>
              <a:buSzPts val="2100"/>
              <a:buFont typeface="Arial"/>
              <a:buNone/>
              <a:defRPr b="1" sz="2100">
                <a:solidFill>
                  <a:srgbClr val="3366C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8" name="Google Shape;128;p25"/>
          <p:cNvSpPr txBox="1"/>
          <p:nvPr>
            <p:ph idx="1" type="body"/>
          </p:nvPr>
        </p:nvSpPr>
        <p:spPr>
          <a:xfrm>
            <a:off x="311700" y="928100"/>
            <a:ext cx="8520600" cy="3771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grpSp>
        <p:nvGrpSpPr>
          <p:cNvPr id="129" name="Google Shape;129;p25"/>
          <p:cNvGrpSpPr/>
          <p:nvPr/>
        </p:nvGrpSpPr>
        <p:grpSpPr>
          <a:xfrm>
            <a:off x="8425700" y="330738"/>
            <a:ext cx="356755" cy="461336"/>
            <a:chOff x="1747775" y="237725"/>
            <a:chExt cx="3950775" cy="5108925"/>
          </a:xfrm>
        </p:grpSpPr>
        <p:sp>
          <p:nvSpPr>
            <p:cNvPr id="130" name="Google Shape;130;p25"/>
            <p:cNvSpPr/>
            <p:nvPr/>
          </p:nvSpPr>
          <p:spPr>
            <a:xfrm>
              <a:off x="3894100" y="4463825"/>
              <a:ext cx="1345450" cy="861500"/>
            </a:xfrm>
            <a:custGeom>
              <a:rect b="b" l="l" r="r" t="t"/>
              <a:pathLst>
                <a:path extrusionOk="0" h="34460" w="53818">
                  <a:moveTo>
                    <a:pt x="49443" y="0"/>
                  </a:moveTo>
                  <a:cubicBezTo>
                    <a:pt x="48882" y="0"/>
                    <a:pt x="48280" y="175"/>
                    <a:pt x="47672" y="580"/>
                  </a:cubicBezTo>
                  <a:lnTo>
                    <a:pt x="2907" y="28559"/>
                  </a:lnTo>
                  <a:cubicBezTo>
                    <a:pt x="1" y="30496"/>
                    <a:pt x="1687" y="34459"/>
                    <a:pt x="4350" y="34459"/>
                  </a:cubicBezTo>
                  <a:cubicBezTo>
                    <a:pt x="4869" y="34459"/>
                    <a:pt x="5427" y="34308"/>
                    <a:pt x="5994" y="33962"/>
                  </a:cubicBezTo>
                  <a:lnTo>
                    <a:pt x="50952" y="5790"/>
                  </a:lnTo>
                  <a:cubicBezTo>
                    <a:pt x="53818" y="3880"/>
                    <a:pt x="52087" y="0"/>
                    <a:pt x="49443"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1" name="Google Shape;131;p25"/>
            <p:cNvSpPr/>
            <p:nvPr/>
          </p:nvSpPr>
          <p:spPr>
            <a:xfrm>
              <a:off x="3865450" y="4441775"/>
              <a:ext cx="1398350" cy="904875"/>
            </a:xfrm>
            <a:custGeom>
              <a:rect b="b" l="l" r="r" t="t"/>
              <a:pathLst>
                <a:path extrusionOk="0" h="36195" w="55934">
                  <a:moveTo>
                    <a:pt x="50532" y="1861"/>
                  </a:moveTo>
                  <a:cubicBezTo>
                    <a:pt x="52302" y="1861"/>
                    <a:pt x="53444" y="4584"/>
                    <a:pt x="51520" y="5707"/>
                  </a:cubicBezTo>
                  <a:lnTo>
                    <a:pt x="6754" y="33879"/>
                  </a:lnTo>
                  <a:cubicBezTo>
                    <a:pt x="6320" y="34096"/>
                    <a:pt x="5886" y="34204"/>
                    <a:pt x="5482" y="34204"/>
                  </a:cubicBezTo>
                  <a:cubicBezTo>
                    <a:pt x="4809" y="34204"/>
                    <a:pt x="4221" y="33903"/>
                    <a:pt x="3860" y="33300"/>
                  </a:cubicBezTo>
                  <a:cubicBezTo>
                    <a:pt x="3281" y="32142"/>
                    <a:pt x="3474" y="30984"/>
                    <a:pt x="4438" y="30406"/>
                  </a:cubicBezTo>
                  <a:lnTo>
                    <a:pt x="49397" y="2234"/>
                  </a:lnTo>
                  <a:cubicBezTo>
                    <a:pt x="49788" y="1974"/>
                    <a:pt x="50173" y="1861"/>
                    <a:pt x="50532" y="1861"/>
                  </a:cubicBezTo>
                  <a:close/>
                  <a:moveTo>
                    <a:pt x="50158" y="0"/>
                  </a:moveTo>
                  <a:cubicBezTo>
                    <a:pt x="49548" y="0"/>
                    <a:pt x="48900" y="153"/>
                    <a:pt x="48239" y="497"/>
                  </a:cubicBezTo>
                  <a:lnTo>
                    <a:pt x="3474" y="28669"/>
                  </a:lnTo>
                  <a:cubicBezTo>
                    <a:pt x="0" y="30791"/>
                    <a:pt x="1544" y="36194"/>
                    <a:pt x="5596" y="36194"/>
                  </a:cubicBezTo>
                  <a:cubicBezTo>
                    <a:pt x="6368" y="36194"/>
                    <a:pt x="7140" y="36001"/>
                    <a:pt x="7719" y="35615"/>
                  </a:cubicBezTo>
                  <a:lnTo>
                    <a:pt x="52484" y="7444"/>
                  </a:lnTo>
                  <a:cubicBezTo>
                    <a:pt x="55933" y="4980"/>
                    <a:pt x="53651" y="0"/>
                    <a:pt x="50158"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2" name="Google Shape;132;p25"/>
            <p:cNvSpPr/>
            <p:nvPr/>
          </p:nvSpPr>
          <p:spPr>
            <a:xfrm>
              <a:off x="1786350" y="2030200"/>
              <a:ext cx="3878425" cy="3008925"/>
            </a:xfrm>
            <a:custGeom>
              <a:rect b="b" l="l" r="r" t="t"/>
              <a:pathLst>
                <a:path extrusionOk="0" h="120357" w="155137">
                  <a:moveTo>
                    <a:pt x="3185" y="0"/>
                  </a:moveTo>
                  <a:cubicBezTo>
                    <a:pt x="1593" y="0"/>
                    <a:pt x="1" y="1061"/>
                    <a:pt x="1" y="3184"/>
                  </a:cubicBezTo>
                  <a:lnTo>
                    <a:pt x="1" y="74385"/>
                  </a:lnTo>
                  <a:cubicBezTo>
                    <a:pt x="1" y="75349"/>
                    <a:pt x="580" y="76507"/>
                    <a:pt x="1544" y="77086"/>
                  </a:cubicBezTo>
                  <a:lnTo>
                    <a:pt x="75832" y="119922"/>
                  </a:lnTo>
                  <a:cubicBezTo>
                    <a:pt x="76315" y="120212"/>
                    <a:pt x="76845" y="120356"/>
                    <a:pt x="77376" y="120356"/>
                  </a:cubicBezTo>
                  <a:cubicBezTo>
                    <a:pt x="77906" y="120356"/>
                    <a:pt x="78437" y="120212"/>
                    <a:pt x="78919" y="119922"/>
                  </a:cubicBezTo>
                  <a:lnTo>
                    <a:pt x="153400" y="73613"/>
                  </a:lnTo>
                  <a:cubicBezTo>
                    <a:pt x="154751" y="72648"/>
                    <a:pt x="155137" y="70911"/>
                    <a:pt x="154365" y="69368"/>
                  </a:cubicBezTo>
                  <a:cubicBezTo>
                    <a:pt x="153730" y="68479"/>
                    <a:pt x="152677" y="67924"/>
                    <a:pt x="151646" y="67924"/>
                  </a:cubicBezTo>
                  <a:cubicBezTo>
                    <a:pt x="151111" y="67924"/>
                    <a:pt x="150581" y="68073"/>
                    <a:pt x="150120" y="68403"/>
                  </a:cubicBezTo>
                  <a:lnTo>
                    <a:pt x="77376" y="113555"/>
                  </a:lnTo>
                  <a:lnTo>
                    <a:pt x="6368" y="72648"/>
                  </a:lnTo>
                  <a:lnTo>
                    <a:pt x="6368" y="3184"/>
                  </a:lnTo>
                  <a:cubicBezTo>
                    <a:pt x="6368" y="1061"/>
                    <a:pt x="4776" y="0"/>
                    <a:pt x="3185"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3" name="Google Shape;133;p25"/>
            <p:cNvSpPr/>
            <p:nvPr/>
          </p:nvSpPr>
          <p:spPr>
            <a:xfrm>
              <a:off x="1762250" y="2015725"/>
              <a:ext cx="3936300" cy="3046300"/>
            </a:xfrm>
            <a:custGeom>
              <a:rect b="b" l="l" r="r" t="t"/>
              <a:pathLst>
                <a:path extrusionOk="0" h="121852" w="157452">
                  <a:moveTo>
                    <a:pt x="4052" y="1640"/>
                  </a:moveTo>
                  <a:cubicBezTo>
                    <a:pt x="5210" y="1640"/>
                    <a:pt x="6175" y="2605"/>
                    <a:pt x="6175" y="3763"/>
                  </a:cubicBezTo>
                  <a:lnTo>
                    <a:pt x="6175" y="73613"/>
                  </a:lnTo>
                  <a:lnTo>
                    <a:pt x="78340" y="115291"/>
                  </a:lnTo>
                  <a:lnTo>
                    <a:pt x="151470" y="69947"/>
                  </a:lnTo>
                  <a:cubicBezTo>
                    <a:pt x="151875" y="69676"/>
                    <a:pt x="152281" y="69560"/>
                    <a:pt x="152660" y="69560"/>
                  </a:cubicBezTo>
                  <a:cubicBezTo>
                    <a:pt x="154448" y="69560"/>
                    <a:pt x="155662" y="72146"/>
                    <a:pt x="153592" y="73420"/>
                  </a:cubicBezTo>
                  <a:lnTo>
                    <a:pt x="79305" y="119536"/>
                  </a:lnTo>
                  <a:cubicBezTo>
                    <a:pt x="79015" y="119729"/>
                    <a:pt x="78629" y="119826"/>
                    <a:pt x="78243" y="119826"/>
                  </a:cubicBezTo>
                  <a:cubicBezTo>
                    <a:pt x="77857" y="119826"/>
                    <a:pt x="77472" y="119729"/>
                    <a:pt x="77182" y="119536"/>
                  </a:cubicBezTo>
                  <a:lnTo>
                    <a:pt x="3087" y="76700"/>
                  </a:lnTo>
                  <a:cubicBezTo>
                    <a:pt x="2315" y="76314"/>
                    <a:pt x="1930" y="75735"/>
                    <a:pt x="1930" y="74964"/>
                  </a:cubicBezTo>
                  <a:lnTo>
                    <a:pt x="1930" y="3763"/>
                  </a:lnTo>
                  <a:cubicBezTo>
                    <a:pt x="1930" y="2412"/>
                    <a:pt x="2894" y="1640"/>
                    <a:pt x="4052" y="1640"/>
                  </a:cubicBezTo>
                  <a:close/>
                  <a:moveTo>
                    <a:pt x="4052" y="0"/>
                  </a:moveTo>
                  <a:cubicBezTo>
                    <a:pt x="2123" y="0"/>
                    <a:pt x="193" y="1254"/>
                    <a:pt x="0" y="3763"/>
                  </a:cubicBezTo>
                  <a:lnTo>
                    <a:pt x="0" y="74964"/>
                  </a:lnTo>
                  <a:cubicBezTo>
                    <a:pt x="0" y="76314"/>
                    <a:pt x="772" y="77665"/>
                    <a:pt x="2123" y="78437"/>
                  </a:cubicBezTo>
                  <a:lnTo>
                    <a:pt x="76217" y="121273"/>
                  </a:lnTo>
                  <a:cubicBezTo>
                    <a:pt x="76989" y="121659"/>
                    <a:pt x="77568" y="121852"/>
                    <a:pt x="78340" y="121852"/>
                  </a:cubicBezTo>
                  <a:cubicBezTo>
                    <a:pt x="79112" y="121852"/>
                    <a:pt x="79883" y="121659"/>
                    <a:pt x="80462" y="121273"/>
                  </a:cubicBezTo>
                  <a:lnTo>
                    <a:pt x="154943" y="74964"/>
                  </a:lnTo>
                  <a:cubicBezTo>
                    <a:pt x="156873" y="73806"/>
                    <a:pt x="157451" y="71297"/>
                    <a:pt x="156294" y="69368"/>
                  </a:cubicBezTo>
                  <a:cubicBezTo>
                    <a:pt x="155422" y="68246"/>
                    <a:pt x="154067" y="67608"/>
                    <a:pt x="152748" y="67608"/>
                  </a:cubicBezTo>
                  <a:cubicBezTo>
                    <a:pt x="152025" y="67608"/>
                    <a:pt x="151313" y="67800"/>
                    <a:pt x="150698" y="68210"/>
                  </a:cubicBezTo>
                  <a:lnTo>
                    <a:pt x="78340" y="113169"/>
                  </a:lnTo>
                  <a:lnTo>
                    <a:pt x="8104" y="72648"/>
                  </a:lnTo>
                  <a:lnTo>
                    <a:pt x="8104" y="3763"/>
                  </a:lnTo>
                  <a:cubicBezTo>
                    <a:pt x="7911" y="1254"/>
                    <a:pt x="5982" y="0"/>
                    <a:pt x="4052"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4" name="Google Shape;134;p25"/>
            <p:cNvSpPr/>
            <p:nvPr/>
          </p:nvSpPr>
          <p:spPr>
            <a:xfrm>
              <a:off x="2200950" y="259425"/>
              <a:ext cx="1346400" cy="859475"/>
            </a:xfrm>
            <a:custGeom>
              <a:rect b="b" l="l" r="r" t="t"/>
              <a:pathLst>
                <a:path extrusionOk="0" h="34379" w="53856">
                  <a:moveTo>
                    <a:pt x="49512" y="0"/>
                  </a:moveTo>
                  <a:cubicBezTo>
                    <a:pt x="48991" y="0"/>
                    <a:pt x="48433" y="151"/>
                    <a:pt x="47864" y="499"/>
                  </a:cubicBezTo>
                  <a:lnTo>
                    <a:pt x="2905" y="28670"/>
                  </a:lnTo>
                  <a:cubicBezTo>
                    <a:pt x="1" y="30445"/>
                    <a:pt x="1819" y="34379"/>
                    <a:pt x="4523" y="34379"/>
                  </a:cubicBezTo>
                  <a:cubicBezTo>
                    <a:pt x="5053" y="34379"/>
                    <a:pt x="5617" y="34228"/>
                    <a:pt x="6185" y="33880"/>
                  </a:cubicBezTo>
                  <a:lnTo>
                    <a:pt x="50951" y="5708"/>
                  </a:lnTo>
                  <a:cubicBezTo>
                    <a:pt x="53855" y="3934"/>
                    <a:pt x="52172" y="0"/>
                    <a:pt x="49512" y="0"/>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5" name="Google Shape;135;p25"/>
            <p:cNvSpPr/>
            <p:nvPr/>
          </p:nvSpPr>
          <p:spPr>
            <a:xfrm>
              <a:off x="2177100" y="237725"/>
              <a:ext cx="1374825" cy="907300"/>
            </a:xfrm>
            <a:custGeom>
              <a:rect b="b" l="l" r="r" t="t"/>
              <a:pathLst>
                <a:path extrusionOk="0" h="36292" w="54993">
                  <a:moveTo>
                    <a:pt x="50361" y="1946"/>
                  </a:moveTo>
                  <a:cubicBezTo>
                    <a:pt x="52484" y="1946"/>
                    <a:pt x="53256" y="4647"/>
                    <a:pt x="51519" y="5805"/>
                  </a:cubicBezTo>
                  <a:lnTo>
                    <a:pt x="6561" y="33976"/>
                  </a:lnTo>
                  <a:cubicBezTo>
                    <a:pt x="6172" y="34236"/>
                    <a:pt x="5788" y="34348"/>
                    <a:pt x="5430" y="34348"/>
                  </a:cubicBezTo>
                  <a:cubicBezTo>
                    <a:pt x="3657" y="34348"/>
                    <a:pt x="2512" y="31594"/>
                    <a:pt x="4438" y="30310"/>
                  </a:cubicBezTo>
                  <a:lnTo>
                    <a:pt x="49204" y="2331"/>
                  </a:lnTo>
                  <a:cubicBezTo>
                    <a:pt x="49590" y="1946"/>
                    <a:pt x="49976" y="1946"/>
                    <a:pt x="50361" y="1946"/>
                  </a:cubicBezTo>
                  <a:close/>
                  <a:moveTo>
                    <a:pt x="50374" y="1"/>
                  </a:moveTo>
                  <a:cubicBezTo>
                    <a:pt x="49646" y="1"/>
                    <a:pt x="48908" y="193"/>
                    <a:pt x="48239" y="595"/>
                  </a:cubicBezTo>
                  <a:lnTo>
                    <a:pt x="3473" y="28766"/>
                  </a:lnTo>
                  <a:cubicBezTo>
                    <a:pt x="0" y="30889"/>
                    <a:pt x="1544" y="36099"/>
                    <a:pt x="5596" y="36292"/>
                  </a:cubicBezTo>
                  <a:cubicBezTo>
                    <a:pt x="6368" y="36292"/>
                    <a:pt x="6947" y="36099"/>
                    <a:pt x="7718" y="35713"/>
                  </a:cubicBezTo>
                  <a:lnTo>
                    <a:pt x="52484" y="7541"/>
                  </a:lnTo>
                  <a:cubicBezTo>
                    <a:pt x="54414" y="6384"/>
                    <a:pt x="54992" y="3875"/>
                    <a:pt x="53835" y="1946"/>
                  </a:cubicBezTo>
                  <a:cubicBezTo>
                    <a:pt x="53078" y="685"/>
                    <a:pt x="51745" y="1"/>
                    <a:pt x="50374"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6" name="Google Shape;136;p25"/>
            <p:cNvSpPr/>
            <p:nvPr/>
          </p:nvSpPr>
          <p:spPr>
            <a:xfrm>
              <a:off x="1776700" y="545625"/>
              <a:ext cx="3878425" cy="3005325"/>
            </a:xfrm>
            <a:custGeom>
              <a:rect b="b" l="l" r="r" t="t"/>
              <a:pathLst>
                <a:path extrusionOk="0" h="120213" w="155137">
                  <a:moveTo>
                    <a:pt x="77762" y="1"/>
                  </a:moveTo>
                  <a:cubicBezTo>
                    <a:pt x="77231" y="1"/>
                    <a:pt x="76701" y="146"/>
                    <a:pt x="76218" y="435"/>
                  </a:cubicBezTo>
                  <a:lnTo>
                    <a:pt x="1930" y="46744"/>
                  </a:lnTo>
                  <a:cubicBezTo>
                    <a:pt x="387" y="47516"/>
                    <a:pt x="1" y="49446"/>
                    <a:pt x="773" y="50990"/>
                  </a:cubicBezTo>
                  <a:cubicBezTo>
                    <a:pt x="1406" y="51877"/>
                    <a:pt x="2456" y="52348"/>
                    <a:pt x="3485" y="52348"/>
                  </a:cubicBezTo>
                  <a:cubicBezTo>
                    <a:pt x="4023" y="52348"/>
                    <a:pt x="4554" y="52219"/>
                    <a:pt x="5018" y="51954"/>
                  </a:cubicBezTo>
                  <a:lnTo>
                    <a:pt x="77762" y="6610"/>
                  </a:lnTo>
                  <a:lnTo>
                    <a:pt x="148962" y="47709"/>
                  </a:lnTo>
                  <a:lnTo>
                    <a:pt x="148962" y="117173"/>
                  </a:lnTo>
                  <a:cubicBezTo>
                    <a:pt x="148962" y="119199"/>
                    <a:pt x="150506" y="120212"/>
                    <a:pt x="152050" y="120212"/>
                  </a:cubicBezTo>
                  <a:cubicBezTo>
                    <a:pt x="153593" y="120212"/>
                    <a:pt x="155137" y="119199"/>
                    <a:pt x="155137" y="117173"/>
                  </a:cubicBezTo>
                  <a:lnTo>
                    <a:pt x="155137" y="45973"/>
                  </a:lnTo>
                  <a:cubicBezTo>
                    <a:pt x="155137" y="44815"/>
                    <a:pt x="154558" y="43850"/>
                    <a:pt x="153593" y="43271"/>
                  </a:cubicBezTo>
                  <a:lnTo>
                    <a:pt x="79305" y="435"/>
                  </a:lnTo>
                  <a:cubicBezTo>
                    <a:pt x="78823" y="146"/>
                    <a:pt x="78292" y="1"/>
                    <a:pt x="77762"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7" name="Google Shape;137;p25"/>
            <p:cNvSpPr/>
            <p:nvPr/>
          </p:nvSpPr>
          <p:spPr>
            <a:xfrm>
              <a:off x="1747775" y="527550"/>
              <a:ext cx="3936300" cy="3048725"/>
            </a:xfrm>
            <a:custGeom>
              <a:rect b="b" l="l" r="r" t="t"/>
              <a:pathLst>
                <a:path extrusionOk="0" h="121949" w="157452">
                  <a:moveTo>
                    <a:pt x="78919" y="1640"/>
                  </a:moveTo>
                  <a:cubicBezTo>
                    <a:pt x="79305" y="1640"/>
                    <a:pt x="79691" y="1737"/>
                    <a:pt x="80077" y="1930"/>
                  </a:cubicBezTo>
                  <a:lnTo>
                    <a:pt x="154364" y="44959"/>
                  </a:lnTo>
                  <a:cubicBezTo>
                    <a:pt x="154943" y="45345"/>
                    <a:pt x="155329" y="45924"/>
                    <a:pt x="155329" y="46696"/>
                  </a:cubicBezTo>
                  <a:lnTo>
                    <a:pt x="155329" y="117896"/>
                  </a:lnTo>
                  <a:cubicBezTo>
                    <a:pt x="155329" y="119247"/>
                    <a:pt x="154268" y="119922"/>
                    <a:pt x="153207" y="119922"/>
                  </a:cubicBezTo>
                  <a:cubicBezTo>
                    <a:pt x="152145" y="119922"/>
                    <a:pt x="151084" y="119247"/>
                    <a:pt x="151084" y="117896"/>
                  </a:cubicBezTo>
                  <a:lnTo>
                    <a:pt x="151084" y="47853"/>
                  </a:lnTo>
                  <a:lnTo>
                    <a:pt x="78919" y="6368"/>
                  </a:lnTo>
                  <a:lnTo>
                    <a:pt x="5789" y="51905"/>
                  </a:lnTo>
                  <a:cubicBezTo>
                    <a:pt x="5480" y="52091"/>
                    <a:pt x="5131" y="52177"/>
                    <a:pt x="4780" y="52177"/>
                  </a:cubicBezTo>
                  <a:cubicBezTo>
                    <a:pt x="4037" y="52177"/>
                    <a:pt x="3288" y="51789"/>
                    <a:pt x="2894" y="51134"/>
                  </a:cubicBezTo>
                  <a:cubicBezTo>
                    <a:pt x="2123" y="50169"/>
                    <a:pt x="2509" y="48818"/>
                    <a:pt x="3473" y="48239"/>
                  </a:cubicBezTo>
                  <a:lnTo>
                    <a:pt x="77761" y="1930"/>
                  </a:lnTo>
                  <a:cubicBezTo>
                    <a:pt x="78147" y="1737"/>
                    <a:pt x="78533" y="1640"/>
                    <a:pt x="78919" y="1640"/>
                  </a:cubicBezTo>
                  <a:close/>
                  <a:moveTo>
                    <a:pt x="78919" y="0"/>
                  </a:moveTo>
                  <a:cubicBezTo>
                    <a:pt x="78195" y="0"/>
                    <a:pt x="77472" y="193"/>
                    <a:pt x="76796" y="579"/>
                  </a:cubicBezTo>
                  <a:lnTo>
                    <a:pt x="2509" y="46696"/>
                  </a:lnTo>
                  <a:cubicBezTo>
                    <a:pt x="579" y="47853"/>
                    <a:pt x="0" y="50362"/>
                    <a:pt x="1158" y="52291"/>
                  </a:cubicBezTo>
                  <a:cubicBezTo>
                    <a:pt x="1914" y="53552"/>
                    <a:pt x="3247" y="54236"/>
                    <a:pt x="4618" y="54236"/>
                  </a:cubicBezTo>
                  <a:cubicBezTo>
                    <a:pt x="5346" y="54236"/>
                    <a:pt x="6085" y="54043"/>
                    <a:pt x="6754" y="53642"/>
                  </a:cubicBezTo>
                  <a:lnTo>
                    <a:pt x="78919" y="8490"/>
                  </a:lnTo>
                  <a:lnTo>
                    <a:pt x="149155" y="49011"/>
                  </a:lnTo>
                  <a:lnTo>
                    <a:pt x="149155" y="117896"/>
                  </a:lnTo>
                  <a:cubicBezTo>
                    <a:pt x="149155" y="120212"/>
                    <a:pt x="151084" y="121948"/>
                    <a:pt x="153207" y="121948"/>
                  </a:cubicBezTo>
                  <a:cubicBezTo>
                    <a:pt x="155522" y="121948"/>
                    <a:pt x="157452" y="120212"/>
                    <a:pt x="157452" y="117896"/>
                  </a:cubicBezTo>
                  <a:lnTo>
                    <a:pt x="157452" y="46696"/>
                  </a:lnTo>
                  <a:cubicBezTo>
                    <a:pt x="157259" y="45345"/>
                    <a:pt x="156487" y="43994"/>
                    <a:pt x="155329" y="43415"/>
                  </a:cubicBezTo>
                  <a:lnTo>
                    <a:pt x="81041" y="579"/>
                  </a:lnTo>
                  <a:cubicBezTo>
                    <a:pt x="80366" y="193"/>
                    <a:pt x="79642" y="0"/>
                    <a:pt x="78919"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8" name="Google Shape;138;p25"/>
            <p:cNvSpPr/>
            <p:nvPr/>
          </p:nvSpPr>
          <p:spPr>
            <a:xfrm>
              <a:off x="2399000" y="1106425"/>
              <a:ext cx="2686925" cy="1587075"/>
            </a:xfrm>
            <a:custGeom>
              <a:rect b="b" l="l" r="r" t="t"/>
              <a:pathLst>
                <a:path extrusionOk="0" h="63483" w="107477">
                  <a:moveTo>
                    <a:pt x="52677" y="0"/>
                  </a:moveTo>
                  <a:lnTo>
                    <a:pt x="0" y="32417"/>
                  </a:lnTo>
                  <a:lnTo>
                    <a:pt x="53642" y="63483"/>
                  </a:lnTo>
                  <a:lnTo>
                    <a:pt x="107476" y="32995"/>
                  </a:lnTo>
                  <a:lnTo>
                    <a:pt x="104389" y="31259"/>
                  </a:lnTo>
                  <a:lnTo>
                    <a:pt x="53642" y="60009"/>
                  </a:lnTo>
                  <a:lnTo>
                    <a:pt x="5982" y="32417"/>
                  </a:lnTo>
                  <a:lnTo>
                    <a:pt x="49783" y="5210"/>
                  </a:lnTo>
                  <a:lnTo>
                    <a:pt x="49783" y="32224"/>
                  </a:lnTo>
                  <a:lnTo>
                    <a:pt x="52677" y="32224"/>
                  </a:lnTo>
                  <a:lnTo>
                    <a:pt x="52677" y="0"/>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9" name="Google Shape;139;p25"/>
            <p:cNvSpPr/>
            <p:nvPr/>
          </p:nvSpPr>
          <p:spPr>
            <a:xfrm>
              <a:off x="2345925" y="1058175"/>
              <a:ext cx="2793050" cy="1664275"/>
            </a:xfrm>
            <a:custGeom>
              <a:rect b="b" l="l" r="r" t="t"/>
              <a:pathLst>
                <a:path extrusionOk="0" h="66571" w="111722">
                  <a:moveTo>
                    <a:pt x="53835" y="3667"/>
                  </a:moveTo>
                  <a:lnTo>
                    <a:pt x="53835" y="32996"/>
                  </a:lnTo>
                  <a:lnTo>
                    <a:pt x="52870" y="32996"/>
                  </a:lnTo>
                  <a:lnTo>
                    <a:pt x="52870" y="5210"/>
                  </a:lnTo>
                  <a:lnTo>
                    <a:pt x="5982" y="34347"/>
                  </a:lnTo>
                  <a:lnTo>
                    <a:pt x="55765" y="63290"/>
                  </a:lnTo>
                  <a:lnTo>
                    <a:pt x="106512" y="34347"/>
                  </a:lnTo>
                  <a:lnTo>
                    <a:pt x="107477" y="34925"/>
                  </a:lnTo>
                  <a:lnTo>
                    <a:pt x="55765" y="64255"/>
                  </a:lnTo>
                  <a:lnTo>
                    <a:pt x="4053" y="34347"/>
                  </a:lnTo>
                  <a:lnTo>
                    <a:pt x="53835" y="3667"/>
                  </a:lnTo>
                  <a:close/>
                  <a:moveTo>
                    <a:pt x="55958" y="0"/>
                  </a:moveTo>
                  <a:lnTo>
                    <a:pt x="1" y="34347"/>
                  </a:lnTo>
                  <a:lnTo>
                    <a:pt x="55765" y="66570"/>
                  </a:lnTo>
                  <a:lnTo>
                    <a:pt x="111722" y="34925"/>
                  </a:lnTo>
                  <a:lnTo>
                    <a:pt x="106512" y="31838"/>
                  </a:lnTo>
                  <a:lnTo>
                    <a:pt x="55958" y="60782"/>
                  </a:lnTo>
                  <a:lnTo>
                    <a:pt x="10034" y="34347"/>
                  </a:lnTo>
                  <a:lnTo>
                    <a:pt x="50748" y="8876"/>
                  </a:lnTo>
                  <a:lnTo>
                    <a:pt x="50748" y="35118"/>
                  </a:lnTo>
                  <a:lnTo>
                    <a:pt x="55958" y="35118"/>
                  </a:lnTo>
                  <a:lnTo>
                    <a:pt x="55958"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0" name="Google Shape;140;p25"/>
            <p:cNvSpPr/>
            <p:nvPr/>
          </p:nvSpPr>
          <p:spPr>
            <a:xfrm>
              <a:off x="3503650" y="1886350"/>
              <a:ext cx="299125" cy="257225"/>
            </a:xfrm>
            <a:custGeom>
              <a:rect b="b" l="l" r="r" t="t"/>
              <a:pathLst>
                <a:path extrusionOk="0" h="10289" w="11965">
                  <a:moveTo>
                    <a:pt x="6947" y="2956"/>
                  </a:moveTo>
                  <a:cubicBezTo>
                    <a:pt x="7912" y="2956"/>
                    <a:pt x="8877" y="3921"/>
                    <a:pt x="8877" y="5079"/>
                  </a:cubicBezTo>
                  <a:cubicBezTo>
                    <a:pt x="8877" y="6247"/>
                    <a:pt x="7917" y="7066"/>
                    <a:pt x="6877" y="7066"/>
                  </a:cubicBezTo>
                  <a:cubicBezTo>
                    <a:pt x="6371" y="7066"/>
                    <a:pt x="5846" y="6872"/>
                    <a:pt x="5404" y="6429"/>
                  </a:cubicBezTo>
                  <a:cubicBezTo>
                    <a:pt x="4053" y="5272"/>
                    <a:pt x="5018" y="2956"/>
                    <a:pt x="6947" y="2956"/>
                  </a:cubicBezTo>
                  <a:close/>
                  <a:moveTo>
                    <a:pt x="6790" y="1"/>
                  </a:moveTo>
                  <a:cubicBezTo>
                    <a:pt x="5566" y="1"/>
                    <a:pt x="4318" y="437"/>
                    <a:pt x="3281" y="1413"/>
                  </a:cubicBezTo>
                  <a:cubicBezTo>
                    <a:pt x="1" y="4693"/>
                    <a:pt x="2316" y="10096"/>
                    <a:pt x="6947" y="10289"/>
                  </a:cubicBezTo>
                  <a:cubicBezTo>
                    <a:pt x="9649" y="10289"/>
                    <a:pt x="11964" y="7973"/>
                    <a:pt x="11964" y="5079"/>
                  </a:cubicBezTo>
                  <a:cubicBezTo>
                    <a:pt x="11964" y="2043"/>
                    <a:pt x="9437" y="1"/>
                    <a:pt x="6790"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1" name="Google Shape;141;p25"/>
            <p:cNvSpPr/>
            <p:nvPr/>
          </p:nvSpPr>
          <p:spPr>
            <a:xfrm>
              <a:off x="3489175" y="1876400"/>
              <a:ext cx="323225" cy="276825"/>
            </a:xfrm>
            <a:custGeom>
              <a:rect b="b" l="l" r="r" t="t"/>
              <a:pathLst>
                <a:path extrusionOk="0" h="11073" w="12929">
                  <a:moveTo>
                    <a:pt x="7526" y="3933"/>
                  </a:moveTo>
                  <a:cubicBezTo>
                    <a:pt x="8298" y="3933"/>
                    <a:pt x="9070" y="4705"/>
                    <a:pt x="9070" y="5670"/>
                  </a:cubicBezTo>
                  <a:cubicBezTo>
                    <a:pt x="9070" y="6560"/>
                    <a:pt x="8315" y="7199"/>
                    <a:pt x="7524" y="7199"/>
                  </a:cubicBezTo>
                  <a:cubicBezTo>
                    <a:pt x="7115" y="7199"/>
                    <a:pt x="6697" y="7029"/>
                    <a:pt x="6369" y="6634"/>
                  </a:cubicBezTo>
                  <a:cubicBezTo>
                    <a:pt x="5211" y="5670"/>
                    <a:pt x="5983" y="3933"/>
                    <a:pt x="7526" y="3933"/>
                  </a:cubicBezTo>
                  <a:close/>
                  <a:moveTo>
                    <a:pt x="7445" y="3224"/>
                  </a:moveTo>
                  <a:cubicBezTo>
                    <a:pt x="6870" y="3224"/>
                    <a:pt x="6281" y="3442"/>
                    <a:pt x="5790" y="3933"/>
                  </a:cubicBezTo>
                  <a:cubicBezTo>
                    <a:pt x="4246" y="5477"/>
                    <a:pt x="5211" y="8178"/>
                    <a:pt x="7526" y="8178"/>
                  </a:cubicBezTo>
                  <a:lnTo>
                    <a:pt x="7526" y="7985"/>
                  </a:lnTo>
                  <a:cubicBezTo>
                    <a:pt x="8684" y="7985"/>
                    <a:pt x="9842" y="7020"/>
                    <a:pt x="9842" y="5670"/>
                  </a:cubicBezTo>
                  <a:cubicBezTo>
                    <a:pt x="9842" y="4223"/>
                    <a:pt x="8676" y="3224"/>
                    <a:pt x="7445" y="3224"/>
                  </a:cubicBezTo>
                  <a:close/>
                  <a:moveTo>
                    <a:pt x="7526" y="846"/>
                  </a:moveTo>
                  <a:cubicBezTo>
                    <a:pt x="10035" y="846"/>
                    <a:pt x="12157" y="2968"/>
                    <a:pt x="12157" y="5477"/>
                  </a:cubicBezTo>
                  <a:cubicBezTo>
                    <a:pt x="12157" y="8328"/>
                    <a:pt x="9893" y="10222"/>
                    <a:pt x="7529" y="10222"/>
                  </a:cubicBezTo>
                  <a:cubicBezTo>
                    <a:pt x="6375" y="10222"/>
                    <a:pt x="5196" y="9770"/>
                    <a:pt x="4246" y="8757"/>
                  </a:cubicBezTo>
                  <a:cubicBezTo>
                    <a:pt x="1159" y="5863"/>
                    <a:pt x="3281" y="846"/>
                    <a:pt x="7526" y="846"/>
                  </a:cubicBezTo>
                  <a:close/>
                  <a:moveTo>
                    <a:pt x="7328" y="1"/>
                  </a:moveTo>
                  <a:cubicBezTo>
                    <a:pt x="5972" y="1"/>
                    <a:pt x="4593" y="499"/>
                    <a:pt x="3474" y="1618"/>
                  </a:cubicBezTo>
                  <a:cubicBezTo>
                    <a:pt x="1" y="5091"/>
                    <a:pt x="2509" y="11072"/>
                    <a:pt x="7526" y="11072"/>
                  </a:cubicBezTo>
                  <a:cubicBezTo>
                    <a:pt x="10421" y="11072"/>
                    <a:pt x="12929" y="8564"/>
                    <a:pt x="12929" y="5477"/>
                  </a:cubicBezTo>
                  <a:cubicBezTo>
                    <a:pt x="12929" y="2207"/>
                    <a:pt x="10180" y="1"/>
                    <a:pt x="7328"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2" name="Google Shape;142;p25"/>
            <p:cNvSpPr/>
            <p:nvPr/>
          </p:nvSpPr>
          <p:spPr>
            <a:xfrm>
              <a:off x="2292875" y="2119425"/>
              <a:ext cx="1341050" cy="2267250"/>
            </a:xfrm>
            <a:custGeom>
              <a:rect b="b" l="l" r="r" t="t"/>
              <a:pathLst>
                <a:path extrusionOk="0" h="90690" w="53642">
                  <a:moveTo>
                    <a:pt x="0" y="1"/>
                  </a:moveTo>
                  <a:lnTo>
                    <a:pt x="0" y="63869"/>
                  </a:lnTo>
                  <a:lnTo>
                    <a:pt x="27207" y="48433"/>
                  </a:lnTo>
                  <a:lnTo>
                    <a:pt x="25663" y="45924"/>
                  </a:lnTo>
                  <a:lnTo>
                    <a:pt x="2894" y="58659"/>
                  </a:lnTo>
                  <a:lnTo>
                    <a:pt x="2894" y="5211"/>
                  </a:lnTo>
                  <a:lnTo>
                    <a:pt x="50747" y="32803"/>
                  </a:lnTo>
                  <a:lnTo>
                    <a:pt x="50747" y="90690"/>
                  </a:lnTo>
                  <a:lnTo>
                    <a:pt x="53642" y="90690"/>
                  </a:lnTo>
                  <a:lnTo>
                    <a:pt x="53642" y="31067"/>
                  </a:lnTo>
                  <a:lnTo>
                    <a:pt x="0" y="1"/>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3" name="Google Shape;143;p25"/>
            <p:cNvSpPr/>
            <p:nvPr/>
          </p:nvSpPr>
          <p:spPr>
            <a:xfrm>
              <a:off x="2263925" y="2071200"/>
              <a:ext cx="1398950" cy="2339600"/>
            </a:xfrm>
            <a:custGeom>
              <a:rect b="b" l="l" r="r" t="t"/>
              <a:pathLst>
                <a:path extrusionOk="0" h="93584" w="55958">
                  <a:moveTo>
                    <a:pt x="2123" y="3859"/>
                  </a:moveTo>
                  <a:lnTo>
                    <a:pt x="53835" y="33575"/>
                  </a:lnTo>
                  <a:lnTo>
                    <a:pt x="53835" y="91461"/>
                  </a:lnTo>
                  <a:lnTo>
                    <a:pt x="52870" y="91461"/>
                  </a:lnTo>
                  <a:lnTo>
                    <a:pt x="52870" y="34153"/>
                  </a:lnTo>
                  <a:lnTo>
                    <a:pt x="3088" y="5403"/>
                  </a:lnTo>
                  <a:lnTo>
                    <a:pt x="3088" y="62518"/>
                  </a:lnTo>
                  <a:lnTo>
                    <a:pt x="26435" y="49397"/>
                  </a:lnTo>
                  <a:lnTo>
                    <a:pt x="26821" y="50169"/>
                  </a:lnTo>
                  <a:lnTo>
                    <a:pt x="2123" y="64254"/>
                  </a:lnTo>
                  <a:lnTo>
                    <a:pt x="2123" y="3859"/>
                  </a:lnTo>
                  <a:close/>
                  <a:moveTo>
                    <a:pt x="0" y="0"/>
                  </a:moveTo>
                  <a:lnTo>
                    <a:pt x="0" y="67535"/>
                  </a:lnTo>
                  <a:lnTo>
                    <a:pt x="29715" y="50748"/>
                  </a:lnTo>
                  <a:lnTo>
                    <a:pt x="27207" y="46503"/>
                  </a:lnTo>
                  <a:lnTo>
                    <a:pt x="5210" y="58852"/>
                  </a:lnTo>
                  <a:lnTo>
                    <a:pt x="5210" y="8876"/>
                  </a:lnTo>
                  <a:lnTo>
                    <a:pt x="50748" y="35311"/>
                  </a:lnTo>
                  <a:lnTo>
                    <a:pt x="50748" y="93584"/>
                  </a:lnTo>
                  <a:lnTo>
                    <a:pt x="55957" y="93584"/>
                  </a:lnTo>
                  <a:lnTo>
                    <a:pt x="55957" y="32417"/>
                  </a:lnTo>
                  <a:lnTo>
                    <a:pt x="0"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4" name="Google Shape;144;p25"/>
            <p:cNvSpPr/>
            <p:nvPr/>
          </p:nvSpPr>
          <p:spPr>
            <a:xfrm>
              <a:off x="2842775" y="3118125"/>
              <a:ext cx="299125" cy="255550"/>
            </a:xfrm>
            <a:custGeom>
              <a:rect b="b" l="l" r="r" t="t"/>
              <a:pathLst>
                <a:path extrusionOk="0" h="10222" w="11965">
                  <a:moveTo>
                    <a:pt x="6947" y="3082"/>
                  </a:moveTo>
                  <a:cubicBezTo>
                    <a:pt x="8105" y="3082"/>
                    <a:pt x="9070" y="3854"/>
                    <a:pt x="9070" y="5011"/>
                  </a:cubicBezTo>
                  <a:cubicBezTo>
                    <a:pt x="9070" y="6320"/>
                    <a:pt x="8005" y="7185"/>
                    <a:pt x="6899" y="7185"/>
                  </a:cubicBezTo>
                  <a:cubicBezTo>
                    <a:pt x="6373" y="7185"/>
                    <a:pt x="5838" y="6990"/>
                    <a:pt x="5404" y="6555"/>
                  </a:cubicBezTo>
                  <a:cubicBezTo>
                    <a:pt x="4053" y="5204"/>
                    <a:pt x="5018" y="3082"/>
                    <a:pt x="6947" y="3082"/>
                  </a:cubicBezTo>
                  <a:close/>
                  <a:moveTo>
                    <a:pt x="6880" y="1"/>
                  </a:moveTo>
                  <a:cubicBezTo>
                    <a:pt x="5628" y="1"/>
                    <a:pt x="4343" y="476"/>
                    <a:pt x="3281" y="1538"/>
                  </a:cubicBezTo>
                  <a:cubicBezTo>
                    <a:pt x="1" y="4819"/>
                    <a:pt x="2316" y="10221"/>
                    <a:pt x="6947" y="10221"/>
                  </a:cubicBezTo>
                  <a:cubicBezTo>
                    <a:pt x="9649" y="10221"/>
                    <a:pt x="11964" y="7906"/>
                    <a:pt x="11964" y="5204"/>
                  </a:cubicBezTo>
                  <a:cubicBezTo>
                    <a:pt x="11964" y="2073"/>
                    <a:pt x="9494" y="1"/>
                    <a:pt x="6880"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5" name="Google Shape;145;p25"/>
            <p:cNvSpPr/>
            <p:nvPr/>
          </p:nvSpPr>
          <p:spPr>
            <a:xfrm>
              <a:off x="2828325" y="3106500"/>
              <a:ext cx="323225" cy="276825"/>
            </a:xfrm>
            <a:custGeom>
              <a:rect b="b" l="l" r="r" t="t"/>
              <a:pathLst>
                <a:path extrusionOk="0" h="11073" w="12929">
                  <a:moveTo>
                    <a:pt x="7525" y="3933"/>
                  </a:moveTo>
                  <a:cubicBezTo>
                    <a:pt x="8490" y="3933"/>
                    <a:pt x="9069" y="4705"/>
                    <a:pt x="9069" y="5476"/>
                  </a:cubicBezTo>
                  <a:cubicBezTo>
                    <a:pt x="9069" y="6506"/>
                    <a:pt x="8297" y="7192"/>
                    <a:pt x="7497" y="7192"/>
                  </a:cubicBezTo>
                  <a:cubicBezTo>
                    <a:pt x="7097" y="7192"/>
                    <a:pt x="6689" y="7020"/>
                    <a:pt x="6368" y="6634"/>
                  </a:cubicBezTo>
                  <a:cubicBezTo>
                    <a:pt x="5403" y="5669"/>
                    <a:pt x="5982" y="3933"/>
                    <a:pt x="7525" y="3933"/>
                  </a:cubicBezTo>
                  <a:close/>
                  <a:moveTo>
                    <a:pt x="7444" y="3224"/>
                  </a:moveTo>
                  <a:cubicBezTo>
                    <a:pt x="6869" y="3224"/>
                    <a:pt x="6280" y="3442"/>
                    <a:pt x="5789" y="3933"/>
                  </a:cubicBezTo>
                  <a:cubicBezTo>
                    <a:pt x="4245" y="5476"/>
                    <a:pt x="5403" y="8178"/>
                    <a:pt x="7525" y="8178"/>
                  </a:cubicBezTo>
                  <a:lnTo>
                    <a:pt x="7525" y="7985"/>
                  </a:lnTo>
                  <a:cubicBezTo>
                    <a:pt x="8876" y="7985"/>
                    <a:pt x="9841" y="7020"/>
                    <a:pt x="9841" y="5669"/>
                  </a:cubicBezTo>
                  <a:cubicBezTo>
                    <a:pt x="9841" y="4222"/>
                    <a:pt x="8675" y="3224"/>
                    <a:pt x="7444" y="3224"/>
                  </a:cubicBezTo>
                  <a:close/>
                  <a:moveTo>
                    <a:pt x="7525" y="846"/>
                  </a:moveTo>
                  <a:cubicBezTo>
                    <a:pt x="10034" y="846"/>
                    <a:pt x="12156" y="2968"/>
                    <a:pt x="12156" y="5476"/>
                  </a:cubicBezTo>
                  <a:cubicBezTo>
                    <a:pt x="12156" y="8329"/>
                    <a:pt x="9891" y="10136"/>
                    <a:pt x="7526" y="10136"/>
                  </a:cubicBezTo>
                  <a:cubicBezTo>
                    <a:pt x="6372" y="10136"/>
                    <a:pt x="5194" y="9706"/>
                    <a:pt x="4245" y="8757"/>
                  </a:cubicBezTo>
                  <a:cubicBezTo>
                    <a:pt x="1158" y="5862"/>
                    <a:pt x="3280" y="846"/>
                    <a:pt x="7525" y="846"/>
                  </a:cubicBezTo>
                  <a:close/>
                  <a:moveTo>
                    <a:pt x="7473" y="0"/>
                  </a:moveTo>
                  <a:cubicBezTo>
                    <a:pt x="6144" y="0"/>
                    <a:pt x="4785" y="499"/>
                    <a:pt x="3666" y="1617"/>
                  </a:cubicBezTo>
                  <a:cubicBezTo>
                    <a:pt x="0" y="5091"/>
                    <a:pt x="2509" y="11072"/>
                    <a:pt x="7525" y="11072"/>
                  </a:cubicBezTo>
                  <a:cubicBezTo>
                    <a:pt x="10613" y="11072"/>
                    <a:pt x="12928" y="8564"/>
                    <a:pt x="12928" y="5476"/>
                  </a:cubicBezTo>
                  <a:cubicBezTo>
                    <a:pt x="12928" y="2206"/>
                    <a:pt x="10268" y="0"/>
                    <a:pt x="7473" y="0"/>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6" name="Google Shape;146;p25"/>
            <p:cNvSpPr/>
            <p:nvPr/>
          </p:nvSpPr>
          <p:spPr>
            <a:xfrm>
              <a:off x="3855800" y="2133900"/>
              <a:ext cx="1345900" cy="2257600"/>
            </a:xfrm>
            <a:custGeom>
              <a:rect b="b" l="l" r="r" t="t"/>
              <a:pathLst>
                <a:path extrusionOk="0" h="90304" w="53836">
                  <a:moveTo>
                    <a:pt x="53835" y="1"/>
                  </a:moveTo>
                  <a:lnTo>
                    <a:pt x="1" y="30681"/>
                  </a:lnTo>
                  <a:lnTo>
                    <a:pt x="1" y="90304"/>
                  </a:lnTo>
                  <a:lnTo>
                    <a:pt x="3088" y="90304"/>
                  </a:lnTo>
                  <a:lnTo>
                    <a:pt x="3088" y="32417"/>
                  </a:lnTo>
                  <a:lnTo>
                    <a:pt x="50941" y="5210"/>
                  </a:lnTo>
                  <a:lnTo>
                    <a:pt x="50941" y="58273"/>
                  </a:lnTo>
                  <a:lnTo>
                    <a:pt x="27786" y="45152"/>
                  </a:lnTo>
                  <a:lnTo>
                    <a:pt x="26242" y="47854"/>
                  </a:lnTo>
                  <a:lnTo>
                    <a:pt x="53835" y="63483"/>
                  </a:lnTo>
                  <a:lnTo>
                    <a:pt x="53835" y="1"/>
                  </a:ln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7" name="Google Shape;147;p25"/>
            <p:cNvSpPr/>
            <p:nvPr/>
          </p:nvSpPr>
          <p:spPr>
            <a:xfrm>
              <a:off x="3831675" y="2090500"/>
              <a:ext cx="1398950" cy="2325125"/>
            </a:xfrm>
            <a:custGeom>
              <a:rect b="b" l="l" r="r" t="t"/>
              <a:pathLst>
                <a:path extrusionOk="0" h="93005" w="55958">
                  <a:moveTo>
                    <a:pt x="53835" y="3666"/>
                  </a:moveTo>
                  <a:lnTo>
                    <a:pt x="53835" y="63675"/>
                  </a:lnTo>
                  <a:lnTo>
                    <a:pt x="28558" y="49204"/>
                  </a:lnTo>
                  <a:lnTo>
                    <a:pt x="29137" y="48239"/>
                  </a:lnTo>
                  <a:lnTo>
                    <a:pt x="52871" y="61939"/>
                  </a:lnTo>
                  <a:lnTo>
                    <a:pt x="52871" y="5210"/>
                  </a:lnTo>
                  <a:lnTo>
                    <a:pt x="3088" y="33574"/>
                  </a:lnTo>
                  <a:lnTo>
                    <a:pt x="3088" y="91075"/>
                  </a:lnTo>
                  <a:lnTo>
                    <a:pt x="2123" y="91075"/>
                  </a:lnTo>
                  <a:lnTo>
                    <a:pt x="2123" y="33188"/>
                  </a:lnTo>
                  <a:lnTo>
                    <a:pt x="53835" y="3666"/>
                  </a:lnTo>
                  <a:close/>
                  <a:moveTo>
                    <a:pt x="55958" y="0"/>
                  </a:moveTo>
                  <a:lnTo>
                    <a:pt x="1" y="31838"/>
                  </a:lnTo>
                  <a:lnTo>
                    <a:pt x="1" y="93005"/>
                  </a:lnTo>
                  <a:lnTo>
                    <a:pt x="5018" y="93005"/>
                  </a:lnTo>
                  <a:lnTo>
                    <a:pt x="5018" y="34925"/>
                  </a:lnTo>
                  <a:lnTo>
                    <a:pt x="50748" y="8876"/>
                  </a:lnTo>
                  <a:lnTo>
                    <a:pt x="50748" y="58273"/>
                  </a:lnTo>
                  <a:lnTo>
                    <a:pt x="28172" y="45538"/>
                  </a:lnTo>
                  <a:lnTo>
                    <a:pt x="25857" y="49976"/>
                  </a:lnTo>
                  <a:lnTo>
                    <a:pt x="55958" y="67149"/>
                  </a:lnTo>
                  <a:lnTo>
                    <a:pt x="55958" y="0"/>
                  </a:ln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8" name="Google Shape;148;p25"/>
            <p:cNvSpPr/>
            <p:nvPr/>
          </p:nvSpPr>
          <p:spPr>
            <a:xfrm>
              <a:off x="4289950" y="3108475"/>
              <a:ext cx="294275" cy="255550"/>
            </a:xfrm>
            <a:custGeom>
              <a:rect b="b" l="l" r="r" t="t"/>
              <a:pathLst>
                <a:path extrusionOk="0" h="10222" w="11771">
                  <a:moveTo>
                    <a:pt x="6754" y="3082"/>
                  </a:moveTo>
                  <a:cubicBezTo>
                    <a:pt x="7912" y="3082"/>
                    <a:pt x="8876" y="4047"/>
                    <a:pt x="8876" y="5012"/>
                  </a:cubicBezTo>
                  <a:cubicBezTo>
                    <a:pt x="8876" y="6320"/>
                    <a:pt x="7812" y="7185"/>
                    <a:pt x="6705" y="7185"/>
                  </a:cubicBezTo>
                  <a:cubicBezTo>
                    <a:pt x="6180" y="7185"/>
                    <a:pt x="5645" y="6990"/>
                    <a:pt x="5210" y="6555"/>
                  </a:cubicBezTo>
                  <a:cubicBezTo>
                    <a:pt x="4053" y="5205"/>
                    <a:pt x="4824" y="3082"/>
                    <a:pt x="6754" y="3082"/>
                  </a:cubicBezTo>
                  <a:close/>
                  <a:moveTo>
                    <a:pt x="6687" y="1"/>
                  </a:moveTo>
                  <a:cubicBezTo>
                    <a:pt x="5435" y="1"/>
                    <a:pt x="4150" y="476"/>
                    <a:pt x="3088" y="1538"/>
                  </a:cubicBezTo>
                  <a:cubicBezTo>
                    <a:pt x="1" y="4819"/>
                    <a:pt x="2316" y="10221"/>
                    <a:pt x="6754" y="10221"/>
                  </a:cubicBezTo>
                  <a:cubicBezTo>
                    <a:pt x="9648" y="10221"/>
                    <a:pt x="11771" y="7906"/>
                    <a:pt x="11771" y="5205"/>
                  </a:cubicBezTo>
                  <a:cubicBezTo>
                    <a:pt x="11771" y="2073"/>
                    <a:pt x="9301" y="1"/>
                    <a:pt x="6687" y="1"/>
                  </a:cubicBezTo>
                  <a:close/>
                </a:path>
              </a:pathLst>
            </a:custGeom>
            <a:solidFill>
              <a:srgbClr val="3366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9" name="Google Shape;149;p25"/>
            <p:cNvSpPr/>
            <p:nvPr/>
          </p:nvSpPr>
          <p:spPr>
            <a:xfrm>
              <a:off x="4275475" y="3097000"/>
              <a:ext cx="323225" cy="276675"/>
            </a:xfrm>
            <a:custGeom>
              <a:rect b="b" l="l" r="r" t="t"/>
              <a:pathLst>
                <a:path extrusionOk="0" h="11067" w="12929">
                  <a:moveTo>
                    <a:pt x="7333" y="3927"/>
                  </a:moveTo>
                  <a:cubicBezTo>
                    <a:pt x="8298" y="3927"/>
                    <a:pt x="8877" y="4699"/>
                    <a:pt x="8877" y="5664"/>
                  </a:cubicBezTo>
                  <a:cubicBezTo>
                    <a:pt x="8877" y="6596"/>
                    <a:pt x="8049" y="7252"/>
                    <a:pt x="7219" y="7252"/>
                  </a:cubicBezTo>
                  <a:cubicBezTo>
                    <a:pt x="6847" y="7252"/>
                    <a:pt x="6474" y="7120"/>
                    <a:pt x="6175" y="6821"/>
                  </a:cubicBezTo>
                  <a:cubicBezTo>
                    <a:pt x="5210" y="5664"/>
                    <a:pt x="5982" y="3927"/>
                    <a:pt x="7333" y="3927"/>
                  </a:cubicBezTo>
                  <a:close/>
                  <a:moveTo>
                    <a:pt x="7289" y="3304"/>
                  </a:moveTo>
                  <a:cubicBezTo>
                    <a:pt x="6690" y="3304"/>
                    <a:pt x="6085" y="3499"/>
                    <a:pt x="5596" y="3927"/>
                  </a:cubicBezTo>
                  <a:cubicBezTo>
                    <a:pt x="4053" y="5471"/>
                    <a:pt x="5210" y="8172"/>
                    <a:pt x="7333" y="8172"/>
                  </a:cubicBezTo>
                  <a:cubicBezTo>
                    <a:pt x="8684" y="8172"/>
                    <a:pt x="9841" y="7014"/>
                    <a:pt x="9841" y="5664"/>
                  </a:cubicBezTo>
                  <a:cubicBezTo>
                    <a:pt x="9841" y="4213"/>
                    <a:pt x="8580" y="3304"/>
                    <a:pt x="7289" y="3304"/>
                  </a:cubicBezTo>
                  <a:close/>
                  <a:moveTo>
                    <a:pt x="7333" y="840"/>
                  </a:moveTo>
                  <a:lnTo>
                    <a:pt x="7333" y="1033"/>
                  </a:lnTo>
                  <a:cubicBezTo>
                    <a:pt x="9841" y="1033"/>
                    <a:pt x="11964" y="2962"/>
                    <a:pt x="11964" y="5471"/>
                  </a:cubicBezTo>
                  <a:cubicBezTo>
                    <a:pt x="11964" y="8322"/>
                    <a:pt x="9700" y="10216"/>
                    <a:pt x="7336" y="10216"/>
                  </a:cubicBezTo>
                  <a:cubicBezTo>
                    <a:pt x="6181" y="10216"/>
                    <a:pt x="5003" y="9764"/>
                    <a:pt x="4053" y="8751"/>
                  </a:cubicBezTo>
                  <a:cubicBezTo>
                    <a:pt x="1158" y="5856"/>
                    <a:pt x="3281" y="840"/>
                    <a:pt x="7333" y="840"/>
                  </a:cubicBezTo>
                  <a:close/>
                  <a:moveTo>
                    <a:pt x="7301" y="1"/>
                  </a:moveTo>
                  <a:cubicBezTo>
                    <a:pt x="5954" y="1"/>
                    <a:pt x="4586" y="500"/>
                    <a:pt x="3474" y="1611"/>
                  </a:cubicBezTo>
                  <a:cubicBezTo>
                    <a:pt x="1" y="5085"/>
                    <a:pt x="2316" y="11066"/>
                    <a:pt x="7333" y="11066"/>
                  </a:cubicBezTo>
                  <a:cubicBezTo>
                    <a:pt x="10420" y="11066"/>
                    <a:pt x="12736" y="8558"/>
                    <a:pt x="12929" y="5664"/>
                  </a:cubicBezTo>
                  <a:cubicBezTo>
                    <a:pt x="12929" y="2252"/>
                    <a:pt x="10163" y="1"/>
                    <a:pt x="7301" y="1"/>
                  </a:cubicBezTo>
                  <a:close/>
                </a:path>
              </a:pathLst>
            </a:custGeom>
            <a:solidFill>
              <a:srgbClr val="3369C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150" name="Google Shape;150;p25"/>
          <p:cNvSpPr txBox="1"/>
          <p:nvPr>
            <p:ph idx="12" type="sldNum"/>
          </p:nvPr>
        </p:nvSpPr>
        <p:spPr>
          <a:xfrm>
            <a:off x="8434363" y="4786313"/>
            <a:ext cx="548700" cy="21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3366CC"/>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sz="900"/>
          </a:p>
        </p:txBody>
      </p:sp>
      <p:sp>
        <p:nvSpPr>
          <p:cNvPr id="151" name="Google Shape;151;p25"/>
          <p:cNvSpPr/>
          <p:nvPr/>
        </p:nvSpPr>
        <p:spPr>
          <a:xfrm>
            <a:off x="347663" y="4801013"/>
            <a:ext cx="2379300" cy="214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2D3033"/>
                </a:solidFill>
                <a:latin typeface="Open Sans"/>
                <a:ea typeface="Open Sans"/>
                <a:cs typeface="Open Sans"/>
                <a:sym typeface="Open Sans"/>
              </a:rPr>
              <a:t>Big Blue Data Academy | </a:t>
            </a:r>
            <a:r>
              <a:rPr b="0" i="0" lang="en" sz="900" u="sng" cap="none" strike="noStrike">
                <a:solidFill>
                  <a:srgbClr val="2D3033"/>
                </a:solidFill>
                <a:latin typeface="Open Sans"/>
                <a:ea typeface="Open Sans"/>
                <a:cs typeface="Open Sans"/>
                <a:sym typeface="Open Sans"/>
                <a:hlinkClick r:id="rId2">
                  <a:extLst>
                    <a:ext uri="{A12FA001-AC4F-418D-AE19-62706E023703}">
                      <ahyp:hlinkClr val="tx"/>
                    </a:ext>
                  </a:extLst>
                </a:hlinkClick>
              </a:rPr>
              <a:t>bigblue.academy</a:t>
            </a:r>
            <a:endParaRPr b="0" i="0" sz="900" u="none" cap="none" strike="noStrike">
              <a:solidFill>
                <a:srgbClr val="000000"/>
              </a:solidFill>
              <a:latin typeface="Open Sans"/>
              <a:ea typeface="Open Sans"/>
              <a:cs typeface="Open Sans"/>
              <a:sym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9" name="Shape 159"/>
        <p:cNvGrpSpPr/>
        <p:nvPr/>
      </p:nvGrpSpPr>
      <p:grpSpPr>
        <a:xfrm>
          <a:off x="0" y="0"/>
          <a:ext cx="0" cy="0"/>
          <a:chOff x="0" y="0"/>
          <a:chExt cx="0" cy="0"/>
        </a:xfrm>
      </p:grpSpPr>
      <p:sp>
        <p:nvSpPr>
          <p:cNvPr id="160" name="Google Shape;160;p2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2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62" name="Google Shape;162;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5" name="Shape 165"/>
        <p:cNvGrpSpPr/>
        <p:nvPr/>
      </p:nvGrpSpPr>
      <p:grpSpPr>
        <a:xfrm>
          <a:off x="0" y="0"/>
          <a:ext cx="0" cy="0"/>
          <a:chOff x="0" y="0"/>
          <a:chExt cx="0" cy="0"/>
        </a:xfrm>
      </p:grpSpPr>
      <p:sp>
        <p:nvSpPr>
          <p:cNvPr id="166" name="Google Shape;166;p28"/>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2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68" name="Google Shape;168;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3" name="Google Shape;173;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7" name="Shape 177"/>
        <p:cNvGrpSpPr/>
        <p:nvPr/>
      </p:nvGrpSpPr>
      <p:grpSpPr>
        <a:xfrm>
          <a:off x="0" y="0"/>
          <a:ext cx="0" cy="0"/>
          <a:chOff x="0" y="0"/>
          <a:chExt cx="0" cy="0"/>
        </a:xfrm>
      </p:grpSpPr>
      <p:sp>
        <p:nvSpPr>
          <p:cNvPr id="178" name="Google Shape;178;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9" name="Google Shape;179;p3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1" name="Google Shape;181;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4" name="Shape 184"/>
        <p:cNvGrpSpPr/>
        <p:nvPr/>
      </p:nvGrpSpPr>
      <p:grpSpPr>
        <a:xfrm>
          <a:off x="0" y="0"/>
          <a:ext cx="0" cy="0"/>
          <a:chOff x="0" y="0"/>
          <a:chExt cx="0" cy="0"/>
        </a:xfrm>
      </p:grpSpPr>
      <p:sp>
        <p:nvSpPr>
          <p:cNvPr id="185" name="Google Shape;185;p3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6" name="Google Shape;186;p31"/>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87" name="Google Shape;187;p31"/>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8" name="Google Shape;188;p31"/>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89" name="Google Shape;189;p31"/>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 name="Google Shape;190;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2" name="Google Shape;192;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3" name="Shape 193"/>
        <p:cNvGrpSpPr/>
        <p:nvPr/>
      </p:nvGrpSpPr>
      <p:grpSpPr>
        <a:xfrm>
          <a:off x="0" y="0"/>
          <a:ext cx="0" cy="0"/>
          <a:chOff x="0" y="0"/>
          <a:chExt cx="0" cy="0"/>
        </a:xfrm>
      </p:grpSpPr>
      <p:sp>
        <p:nvSpPr>
          <p:cNvPr id="194" name="Google Shape;194;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5" name="Google Shape;195;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8" name="Shape 198"/>
        <p:cNvGrpSpPr/>
        <p:nvPr/>
      </p:nvGrpSpPr>
      <p:grpSpPr>
        <a:xfrm>
          <a:off x="0" y="0"/>
          <a:ext cx="0" cy="0"/>
          <a:chOff x="0" y="0"/>
          <a:chExt cx="0" cy="0"/>
        </a:xfrm>
      </p:grpSpPr>
      <p:sp>
        <p:nvSpPr>
          <p:cNvPr id="199" name="Google Shape;199;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2" name="Shape 202"/>
        <p:cNvGrpSpPr/>
        <p:nvPr/>
      </p:nvGrpSpPr>
      <p:grpSpPr>
        <a:xfrm>
          <a:off x="0" y="0"/>
          <a:ext cx="0" cy="0"/>
          <a:chOff x="0" y="0"/>
          <a:chExt cx="0" cy="0"/>
        </a:xfrm>
      </p:grpSpPr>
      <p:sp>
        <p:nvSpPr>
          <p:cNvPr id="203" name="Google Shape;203;p3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4"/>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05" name="Google Shape;205;p34"/>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06" name="Google Shape;206;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9" name="Shape 209"/>
        <p:cNvGrpSpPr/>
        <p:nvPr/>
      </p:nvGrpSpPr>
      <p:grpSpPr>
        <a:xfrm>
          <a:off x="0" y="0"/>
          <a:ext cx="0" cy="0"/>
          <a:chOff x="0" y="0"/>
          <a:chExt cx="0" cy="0"/>
        </a:xfrm>
      </p:grpSpPr>
      <p:sp>
        <p:nvSpPr>
          <p:cNvPr id="210" name="Google Shape;210;p35"/>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1" name="Google Shape;211;p35"/>
          <p:cNvSpPr/>
          <p:nvPr>
            <p:ph idx="2" type="pic"/>
          </p:nvPr>
        </p:nvSpPr>
        <p:spPr>
          <a:xfrm>
            <a:off x="3887391" y="740569"/>
            <a:ext cx="4629300" cy="3655200"/>
          </a:xfrm>
          <a:prstGeom prst="rect">
            <a:avLst/>
          </a:prstGeom>
          <a:noFill/>
          <a:ln>
            <a:noFill/>
          </a:ln>
        </p:spPr>
      </p:sp>
      <p:sp>
        <p:nvSpPr>
          <p:cNvPr id="212" name="Google Shape;212;p35"/>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13" name="Google Shape;213;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4" name="Google Shape;214;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6" name="Shape 216"/>
        <p:cNvGrpSpPr/>
        <p:nvPr/>
      </p:nvGrpSpPr>
      <p:grpSpPr>
        <a:xfrm>
          <a:off x="0" y="0"/>
          <a:ext cx="0" cy="0"/>
          <a:chOff x="0" y="0"/>
          <a:chExt cx="0" cy="0"/>
        </a:xfrm>
      </p:grpSpPr>
      <p:sp>
        <p:nvSpPr>
          <p:cNvPr id="217" name="Google Shape;217;p3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8" name="Google Shape;218;p36"/>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0" name="Google Shape;220;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2" name="Shape 222"/>
        <p:cNvGrpSpPr/>
        <p:nvPr/>
      </p:nvGrpSpPr>
      <p:grpSpPr>
        <a:xfrm>
          <a:off x="0" y="0"/>
          <a:ext cx="0" cy="0"/>
          <a:chOff x="0" y="0"/>
          <a:chExt cx="0" cy="0"/>
        </a:xfrm>
      </p:grpSpPr>
      <p:sp>
        <p:nvSpPr>
          <p:cNvPr id="223" name="Google Shape;223;p37"/>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4" name="Google Shape;224;p37"/>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6" name="Google Shape;226;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7" name="Google Shape;227;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5" name="Shape 235"/>
        <p:cNvGrpSpPr/>
        <p:nvPr/>
      </p:nvGrpSpPr>
      <p:grpSpPr>
        <a:xfrm>
          <a:off x="0" y="0"/>
          <a:ext cx="0" cy="0"/>
          <a:chOff x="0" y="0"/>
          <a:chExt cx="0" cy="0"/>
        </a:xfrm>
      </p:grpSpPr>
      <p:sp>
        <p:nvSpPr>
          <p:cNvPr id="236" name="Google Shape;236;p3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7" name="Google Shape;237;p3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38" name="Google Shape;238;p3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9" name="Google Shape;239;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0" name="Google Shape;240;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1" name="Shape 241"/>
        <p:cNvGrpSpPr/>
        <p:nvPr/>
      </p:nvGrpSpPr>
      <p:grpSpPr>
        <a:xfrm>
          <a:off x="0" y="0"/>
          <a:ext cx="0" cy="0"/>
          <a:chOff x="0" y="0"/>
          <a:chExt cx="0" cy="0"/>
        </a:xfrm>
      </p:grpSpPr>
      <p:sp>
        <p:nvSpPr>
          <p:cNvPr id="242" name="Google Shape;242;p4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4" name="Google Shape;244;p4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5" name="Google Shape;245;p4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6" name="Google Shape;246;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7" name="Shape 247"/>
        <p:cNvGrpSpPr/>
        <p:nvPr/>
      </p:nvGrpSpPr>
      <p:grpSpPr>
        <a:xfrm>
          <a:off x="0" y="0"/>
          <a:ext cx="0" cy="0"/>
          <a:chOff x="0" y="0"/>
          <a:chExt cx="0" cy="0"/>
        </a:xfrm>
      </p:grpSpPr>
      <p:sp>
        <p:nvSpPr>
          <p:cNvPr id="248" name="Google Shape;248;p4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9" name="Google Shape;249;p41"/>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0" name="Google Shape;250;p4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1" name="Google Shape;251;p4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2" name="Google Shape;252;p4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3" name="Shape 253"/>
        <p:cNvGrpSpPr/>
        <p:nvPr/>
      </p:nvGrpSpPr>
      <p:grpSpPr>
        <a:xfrm>
          <a:off x="0" y="0"/>
          <a:ext cx="0" cy="0"/>
          <a:chOff x="0" y="0"/>
          <a:chExt cx="0" cy="0"/>
        </a:xfrm>
      </p:grpSpPr>
      <p:sp>
        <p:nvSpPr>
          <p:cNvPr id="254" name="Google Shape;254;p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5" name="Google Shape;255;p4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6" name="Google Shape;256;p4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7" name="Google Shape;257;p4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8" name="Google Shape;258;p4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9" name="Google Shape;259;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0" name="Shape 260"/>
        <p:cNvGrpSpPr/>
        <p:nvPr/>
      </p:nvGrpSpPr>
      <p:grpSpPr>
        <a:xfrm>
          <a:off x="0" y="0"/>
          <a:ext cx="0" cy="0"/>
          <a:chOff x="0" y="0"/>
          <a:chExt cx="0" cy="0"/>
        </a:xfrm>
      </p:grpSpPr>
      <p:sp>
        <p:nvSpPr>
          <p:cNvPr id="261" name="Google Shape;261;p4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2" name="Google Shape;262;p43"/>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3" name="Google Shape;263;p43"/>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4" name="Google Shape;264;p4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65" name="Google Shape;265;p43"/>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6" name="Google Shape;266;p4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7" name="Google Shape;267;p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8" name="Google Shape;268;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9" name="Shape 269"/>
        <p:cNvGrpSpPr/>
        <p:nvPr/>
      </p:nvGrpSpPr>
      <p:grpSpPr>
        <a:xfrm>
          <a:off x="0" y="0"/>
          <a:ext cx="0" cy="0"/>
          <a:chOff x="0" y="0"/>
          <a:chExt cx="0" cy="0"/>
        </a:xfrm>
      </p:grpSpPr>
      <p:sp>
        <p:nvSpPr>
          <p:cNvPr id="270" name="Google Shape;270;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2" name="Google Shape;272;p4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4" name="Shape 274"/>
        <p:cNvGrpSpPr/>
        <p:nvPr/>
      </p:nvGrpSpPr>
      <p:grpSpPr>
        <a:xfrm>
          <a:off x="0" y="0"/>
          <a:ext cx="0" cy="0"/>
          <a:chOff x="0" y="0"/>
          <a:chExt cx="0" cy="0"/>
        </a:xfrm>
      </p:grpSpPr>
      <p:sp>
        <p:nvSpPr>
          <p:cNvPr id="275" name="Google Shape;275;p4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6" name="Google Shape;276;p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7" name="Google Shape;277;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8" name="Shape 278"/>
        <p:cNvGrpSpPr/>
        <p:nvPr/>
      </p:nvGrpSpPr>
      <p:grpSpPr>
        <a:xfrm>
          <a:off x="0" y="0"/>
          <a:ext cx="0" cy="0"/>
          <a:chOff x="0" y="0"/>
          <a:chExt cx="0" cy="0"/>
        </a:xfrm>
      </p:grpSpPr>
      <p:sp>
        <p:nvSpPr>
          <p:cNvPr id="279" name="Google Shape;279;p46"/>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0" name="Google Shape;280;p46"/>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81" name="Google Shape;281;p46"/>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82" name="Google Shape;282;p4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3" name="Google Shape;283;p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4" name="Google Shape;284;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5" name="Shape 285"/>
        <p:cNvGrpSpPr/>
        <p:nvPr/>
      </p:nvGrpSpPr>
      <p:grpSpPr>
        <a:xfrm>
          <a:off x="0" y="0"/>
          <a:ext cx="0" cy="0"/>
          <a:chOff x="0" y="0"/>
          <a:chExt cx="0" cy="0"/>
        </a:xfrm>
      </p:grpSpPr>
      <p:sp>
        <p:nvSpPr>
          <p:cNvPr id="286" name="Google Shape;286;p4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7" name="Google Shape;287;p47"/>
          <p:cNvSpPr/>
          <p:nvPr>
            <p:ph idx="2" type="pic"/>
          </p:nvPr>
        </p:nvSpPr>
        <p:spPr>
          <a:xfrm>
            <a:off x="3887391" y="740569"/>
            <a:ext cx="4629300" cy="3655200"/>
          </a:xfrm>
          <a:prstGeom prst="rect">
            <a:avLst/>
          </a:prstGeom>
          <a:noFill/>
          <a:ln>
            <a:noFill/>
          </a:ln>
        </p:spPr>
      </p:sp>
      <p:sp>
        <p:nvSpPr>
          <p:cNvPr id="288" name="Google Shape;288;p4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89" name="Google Shape;289;p4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0" name="Google Shape;290;p4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1" name="Google Shape;291;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2" name="Shape 292"/>
        <p:cNvGrpSpPr/>
        <p:nvPr/>
      </p:nvGrpSpPr>
      <p:grpSpPr>
        <a:xfrm>
          <a:off x="0" y="0"/>
          <a:ext cx="0" cy="0"/>
          <a:chOff x="0" y="0"/>
          <a:chExt cx="0" cy="0"/>
        </a:xfrm>
      </p:grpSpPr>
      <p:sp>
        <p:nvSpPr>
          <p:cNvPr id="293" name="Google Shape;293;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4" name="Google Shape;294;p48"/>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5" name="Google Shape;295;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6" name="Google Shape;296;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7" name="Google Shape;297;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98" name="Shape 298"/>
        <p:cNvGrpSpPr/>
        <p:nvPr/>
      </p:nvGrpSpPr>
      <p:grpSpPr>
        <a:xfrm>
          <a:off x="0" y="0"/>
          <a:ext cx="0" cy="0"/>
          <a:chOff x="0" y="0"/>
          <a:chExt cx="0" cy="0"/>
        </a:xfrm>
      </p:grpSpPr>
      <p:sp>
        <p:nvSpPr>
          <p:cNvPr id="299" name="Google Shape;299;p49"/>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0" name="Google Shape;300;p49"/>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1" name="Google Shape;301;p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2" name="Google Shape;302;p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3" name="Google Shape;303;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1" name="Shape 311"/>
        <p:cNvGrpSpPr/>
        <p:nvPr/>
      </p:nvGrpSpPr>
      <p:grpSpPr>
        <a:xfrm>
          <a:off x="0" y="0"/>
          <a:ext cx="0" cy="0"/>
          <a:chOff x="0" y="0"/>
          <a:chExt cx="0" cy="0"/>
        </a:xfrm>
      </p:grpSpPr>
      <p:sp>
        <p:nvSpPr>
          <p:cNvPr id="312" name="Google Shape;312;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3" name="Google Shape;313;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4" name="Google Shape;314;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5" name="Google Shape;315;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6" name="Google Shape;316;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7" name="Shape 317"/>
        <p:cNvGrpSpPr/>
        <p:nvPr/>
      </p:nvGrpSpPr>
      <p:grpSpPr>
        <a:xfrm>
          <a:off x="0" y="0"/>
          <a:ext cx="0" cy="0"/>
          <a:chOff x="0" y="0"/>
          <a:chExt cx="0" cy="0"/>
        </a:xfrm>
      </p:grpSpPr>
      <p:sp>
        <p:nvSpPr>
          <p:cNvPr id="318" name="Google Shape;318;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9" name="Google Shape;319;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1" name="Google Shape;321;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2" name="Google Shape;322;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3" name="Shape 323"/>
        <p:cNvGrpSpPr/>
        <p:nvPr/>
      </p:nvGrpSpPr>
      <p:grpSpPr>
        <a:xfrm>
          <a:off x="0" y="0"/>
          <a:ext cx="0" cy="0"/>
          <a:chOff x="0" y="0"/>
          <a:chExt cx="0" cy="0"/>
        </a:xfrm>
      </p:grpSpPr>
      <p:sp>
        <p:nvSpPr>
          <p:cNvPr id="324" name="Google Shape;324;p5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5" name="Google Shape;325;p5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26" name="Google Shape;326;p5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7" name="Google Shape;327;p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8" name="Google Shape;328;p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9" name="Shape 329"/>
        <p:cNvGrpSpPr/>
        <p:nvPr/>
      </p:nvGrpSpPr>
      <p:grpSpPr>
        <a:xfrm>
          <a:off x="0" y="0"/>
          <a:ext cx="0" cy="0"/>
          <a:chOff x="0" y="0"/>
          <a:chExt cx="0" cy="0"/>
        </a:xfrm>
      </p:grpSpPr>
      <p:sp>
        <p:nvSpPr>
          <p:cNvPr id="330" name="Google Shape;330;p5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1" name="Google Shape;331;p5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5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5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4" name="Google Shape;334;p5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5" name="Google Shape;335;p5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6" name="Shape 336"/>
        <p:cNvGrpSpPr/>
        <p:nvPr/>
      </p:nvGrpSpPr>
      <p:grpSpPr>
        <a:xfrm>
          <a:off x="0" y="0"/>
          <a:ext cx="0" cy="0"/>
          <a:chOff x="0" y="0"/>
          <a:chExt cx="0" cy="0"/>
        </a:xfrm>
      </p:grpSpPr>
      <p:sp>
        <p:nvSpPr>
          <p:cNvPr id="337" name="Google Shape;337;p5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8" name="Google Shape;338;p5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39" name="Google Shape;339;p5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5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1" name="Google Shape;341;p5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2" name="Google Shape;342;p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3" name="Google Shape;343;p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4" name="Google Shape;344;p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5" name="Shape 345"/>
        <p:cNvGrpSpPr/>
        <p:nvPr/>
      </p:nvGrpSpPr>
      <p:grpSpPr>
        <a:xfrm>
          <a:off x="0" y="0"/>
          <a:ext cx="0" cy="0"/>
          <a:chOff x="0" y="0"/>
          <a:chExt cx="0" cy="0"/>
        </a:xfrm>
      </p:grpSpPr>
      <p:sp>
        <p:nvSpPr>
          <p:cNvPr id="346" name="Google Shape;346;p5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7" name="Google Shape;347;p5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8" name="Google Shape;348;p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9" name="Google Shape;349;p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0" name="Shape 350"/>
        <p:cNvGrpSpPr/>
        <p:nvPr/>
      </p:nvGrpSpPr>
      <p:grpSpPr>
        <a:xfrm>
          <a:off x="0" y="0"/>
          <a:ext cx="0" cy="0"/>
          <a:chOff x="0" y="0"/>
          <a:chExt cx="0" cy="0"/>
        </a:xfrm>
      </p:grpSpPr>
      <p:sp>
        <p:nvSpPr>
          <p:cNvPr id="351" name="Google Shape;351;p5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2" name="Google Shape;352;p5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3" name="Google Shape;353;p5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4" name="Shape 354"/>
        <p:cNvGrpSpPr/>
        <p:nvPr/>
      </p:nvGrpSpPr>
      <p:grpSpPr>
        <a:xfrm>
          <a:off x="0" y="0"/>
          <a:ext cx="0" cy="0"/>
          <a:chOff x="0" y="0"/>
          <a:chExt cx="0" cy="0"/>
        </a:xfrm>
      </p:grpSpPr>
      <p:sp>
        <p:nvSpPr>
          <p:cNvPr id="355" name="Google Shape;355;p5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6" name="Google Shape;356;p5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57" name="Google Shape;357;p5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58" name="Google Shape;358;p5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9" name="Google Shape;359;p5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0" name="Google Shape;360;p5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1" name="Shape 361"/>
        <p:cNvGrpSpPr/>
        <p:nvPr/>
      </p:nvGrpSpPr>
      <p:grpSpPr>
        <a:xfrm>
          <a:off x="0" y="0"/>
          <a:ext cx="0" cy="0"/>
          <a:chOff x="0" y="0"/>
          <a:chExt cx="0" cy="0"/>
        </a:xfrm>
      </p:grpSpPr>
      <p:sp>
        <p:nvSpPr>
          <p:cNvPr id="362" name="Google Shape;362;p5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3" name="Google Shape;363;p59"/>
          <p:cNvSpPr/>
          <p:nvPr>
            <p:ph idx="2" type="pic"/>
          </p:nvPr>
        </p:nvSpPr>
        <p:spPr>
          <a:xfrm>
            <a:off x="3887391" y="740569"/>
            <a:ext cx="4629300" cy="3655200"/>
          </a:xfrm>
          <a:prstGeom prst="rect">
            <a:avLst/>
          </a:prstGeom>
          <a:noFill/>
          <a:ln>
            <a:noFill/>
          </a:ln>
        </p:spPr>
      </p:sp>
      <p:sp>
        <p:nvSpPr>
          <p:cNvPr id="364" name="Google Shape;364;p5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65" name="Google Shape;365;p5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6" name="Google Shape;366;p5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7" name="Google Shape;367;p5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8" name="Shape 368"/>
        <p:cNvGrpSpPr/>
        <p:nvPr/>
      </p:nvGrpSpPr>
      <p:grpSpPr>
        <a:xfrm>
          <a:off x="0" y="0"/>
          <a:ext cx="0" cy="0"/>
          <a:chOff x="0" y="0"/>
          <a:chExt cx="0" cy="0"/>
        </a:xfrm>
      </p:grpSpPr>
      <p:sp>
        <p:nvSpPr>
          <p:cNvPr id="369" name="Google Shape;369;p6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0" name="Google Shape;370;p6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6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2" name="Google Shape;372;p6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3" name="Google Shape;373;p6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74" name="Shape 374"/>
        <p:cNvGrpSpPr/>
        <p:nvPr/>
      </p:nvGrpSpPr>
      <p:grpSpPr>
        <a:xfrm>
          <a:off x="0" y="0"/>
          <a:ext cx="0" cy="0"/>
          <a:chOff x="0" y="0"/>
          <a:chExt cx="0" cy="0"/>
        </a:xfrm>
      </p:grpSpPr>
      <p:sp>
        <p:nvSpPr>
          <p:cNvPr id="375" name="Google Shape;375;p6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6" name="Google Shape;376;p6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7" name="Google Shape;377;p6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8" name="Google Shape;378;p6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9" name="Google Shape;379;p6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2.xml"/><Relationship Id="rId12" Type="http://schemas.openxmlformats.org/officeDocument/2006/relationships/slideLayout" Target="../slideLayouts/slideLayout34.xml"/><Relationship Id="rId1" Type="http://schemas.openxmlformats.org/officeDocument/2006/relationships/image" Target="../media/image1.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0" Type="http://schemas.openxmlformats.org/officeDocument/2006/relationships/slideLayout" Target="../slideLayouts/slideLayout43.xml"/><Relationship Id="rId13" Type="http://schemas.openxmlformats.org/officeDocument/2006/relationships/theme" Target="../theme/theme6.xml"/><Relationship Id="rId12" Type="http://schemas.openxmlformats.org/officeDocument/2006/relationships/slideLayout" Target="../slideLayouts/slideLayout45.xml"/><Relationship Id="rId1" Type="http://schemas.openxmlformats.org/officeDocument/2006/relationships/image" Target="../media/image1.pn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theme" Target="../theme/theme1.xml"/><Relationship Id="rId12" Type="http://schemas.openxmlformats.org/officeDocument/2006/relationships/slideLayout" Target="../slideLayouts/slideLayout56.xml"/><Relationship Id="rId1" Type="http://schemas.openxmlformats.org/officeDocument/2006/relationships/image" Target="../media/image1.png"/><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56" name="Google Shape;56;p13"/>
          <p:cNvPicPr preferRelativeResize="0"/>
          <p:nvPr/>
        </p:nvPicPr>
        <p:blipFill rotWithShape="1">
          <a:blip r:embed="rId1">
            <a:alphaModFix/>
          </a:blip>
          <a:srcRect b="32795" l="0" r="0" t="32698"/>
          <a:stretch/>
        </p:blipFill>
        <p:spPr>
          <a:xfrm>
            <a:off x="7317873" y="158025"/>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54" name="Google Shape;154;p2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55" name="Google Shape;155;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6" name="Google Shape;156;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7" name="Google Shape;157;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158" name="Google Shape;158;p26"/>
          <p:cNvPicPr preferRelativeResize="0"/>
          <p:nvPr/>
        </p:nvPicPr>
        <p:blipFill rotWithShape="1">
          <a:blip r:embed="rId1">
            <a:alphaModFix/>
          </a:blip>
          <a:srcRect b="32795" l="0" r="0" t="32698"/>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3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30" name="Google Shape;230;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31" name="Google Shape;231;p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232" name="Google Shape;232;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233" name="Google Shape;233;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234" name="Google Shape;234;p38"/>
          <p:cNvPicPr preferRelativeResize="0"/>
          <p:nvPr/>
        </p:nvPicPr>
        <p:blipFill rotWithShape="1">
          <a:blip r:embed="rId1">
            <a:alphaModFix/>
          </a:blip>
          <a:srcRect b="32795" l="0" r="0" t="32698"/>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5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06" name="Google Shape;306;p5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307" name="Google Shape;307;p5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08" name="Google Shape;308;p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309" name="Google Shape;309;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descr="Download HSLU Hochschule Luzern 2022 Logo PNG and Vector (PDF, SVG, Ai,  EPS) Free" id="310" name="Google Shape;310;p50"/>
          <p:cNvPicPr preferRelativeResize="0"/>
          <p:nvPr/>
        </p:nvPicPr>
        <p:blipFill rotWithShape="1">
          <a:blip r:embed="rId1">
            <a:alphaModFix/>
          </a:blip>
          <a:srcRect b="32798" l="0" r="0" t="32694"/>
          <a:stretch/>
        </p:blipFill>
        <p:spPr>
          <a:xfrm>
            <a:off x="7454348" y="0"/>
            <a:ext cx="1689653" cy="4350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 Id="rId3" Type="http://schemas.openxmlformats.org/officeDocument/2006/relationships/hyperlink" Target="https://pomax.github.io/bezierinf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hyperlink" Target="https://matplotlib.org/stable/api/_as_gen/matplotlib.pyplot.savefig.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 Id="rId3" Type="http://schemas.openxmlformats.org/officeDocument/2006/relationships/hyperlink" Target="https://pillow.readthedocs.io/en/stable/" TargetMode="External"/><Relationship Id="rId4" Type="http://schemas.openxmlformats.org/officeDocument/2006/relationships/hyperlink" Target="https://opencv.org/" TargetMode="External"/><Relationship Id="rId9" Type="http://schemas.openxmlformats.org/officeDocument/2006/relationships/hyperlink" Target="https://docs.pytorch.org/docs/stable/index.html" TargetMode="External"/><Relationship Id="rId5" Type="http://schemas.openxmlformats.org/officeDocument/2006/relationships/hyperlink" Target="https://scikit-image.org/" TargetMode="External"/><Relationship Id="rId6" Type="http://schemas.openxmlformats.org/officeDocument/2006/relationships/hyperlink" Target="https://scipy.org/" TargetMode="External"/><Relationship Id="rId7" Type="http://schemas.openxmlformats.org/officeDocument/2006/relationships/hyperlink" Target="https://mahotas.readthedocs.io/en/latest/" TargetMode="External"/><Relationship Id="rId8" Type="http://schemas.openxmlformats.org/officeDocument/2006/relationships/hyperlink" Target="https://www.tensorflow.org/api_docs/python/tf/imag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2"/>
          <p:cNvSpPr txBox="1"/>
          <p:nvPr>
            <p:ph type="title"/>
          </p:nvPr>
        </p:nvSpPr>
        <p:spPr>
          <a:xfrm>
            <a:off x="662275" y="1907108"/>
            <a:ext cx="7886700" cy="9942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chemeClr val="dk1"/>
              </a:buClr>
              <a:buSzPts val="6000"/>
              <a:buFont typeface="Arial"/>
              <a:buNone/>
            </a:pPr>
            <a:r>
              <a:rPr lang="en" sz="3900">
                <a:latin typeface="Arial"/>
                <a:ea typeface="Arial"/>
                <a:cs typeface="Arial"/>
                <a:sym typeface="Arial"/>
              </a:rPr>
              <a:t>Computer Vision fundamentals</a:t>
            </a:r>
            <a:endParaRPr sz="39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Contents</a:t>
            </a:r>
            <a:endParaRPr/>
          </a:p>
        </p:txBody>
      </p:sp>
      <p:sp>
        <p:nvSpPr>
          <p:cNvPr id="390" name="Google Shape;390;p63"/>
          <p:cNvSpPr txBox="1"/>
          <p:nvPr>
            <p:ph idx="1" type="body"/>
          </p:nvPr>
        </p:nvSpPr>
        <p:spPr>
          <a:xfrm>
            <a:off x="628650" y="1369219"/>
            <a:ext cx="7886700" cy="3263400"/>
          </a:xfrm>
          <a:prstGeom prst="rect">
            <a:avLst/>
          </a:prstGeom>
        </p:spPr>
        <p:txBody>
          <a:bodyPr anchorCtr="0" anchor="t" bIns="34275" lIns="68575" spcFirstLastPara="1" rIns="68575" wrap="square" tIns="34275">
            <a:noAutofit/>
          </a:bodyPr>
          <a:lstStyle/>
          <a:p>
            <a:pPr indent="-323850" lvl="0" marL="457200" rtl="0" algn="l">
              <a:spcBef>
                <a:spcPts val="800"/>
              </a:spcBef>
              <a:spcAft>
                <a:spcPts val="0"/>
              </a:spcAft>
              <a:buSzPts val="1500"/>
              <a:buChar char="•"/>
            </a:pPr>
            <a:r>
              <a:rPr lang="en" sz="1500"/>
              <a:t>Computer Vision Introduction: Color theory</a:t>
            </a:r>
            <a:endParaRPr sz="1500"/>
          </a:p>
          <a:p>
            <a:pPr indent="-323850" lvl="0" marL="457200" rtl="0" algn="l">
              <a:spcBef>
                <a:spcPts val="1000"/>
              </a:spcBef>
              <a:spcAft>
                <a:spcPts val="0"/>
              </a:spcAft>
              <a:buSzPts val="1500"/>
              <a:buChar char="•"/>
            </a:pPr>
            <a:r>
              <a:rPr lang="en" sz="1500"/>
              <a:t>Image Formats</a:t>
            </a:r>
            <a:endParaRPr sz="1500"/>
          </a:p>
          <a:p>
            <a:pPr indent="-323850" lvl="0" marL="457200" rtl="0" algn="l">
              <a:spcBef>
                <a:spcPts val="1000"/>
              </a:spcBef>
              <a:spcAft>
                <a:spcPts val="1000"/>
              </a:spcAft>
              <a:buSzPts val="1500"/>
              <a:buChar char="•"/>
            </a:pPr>
            <a:r>
              <a:rPr lang="en" sz="1500"/>
              <a:t>Computer Vision Metrics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4"/>
          <p:cNvSpPr txBox="1"/>
          <p:nvPr>
            <p:ph type="title"/>
          </p:nvPr>
        </p:nvSpPr>
        <p:spPr>
          <a:xfrm>
            <a:off x="628650" y="2028669"/>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Computer Vision Introduction: Color theory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5"/>
          <p:cNvSpPr txBox="1"/>
          <p:nvPr>
            <p:ph type="title"/>
          </p:nvPr>
        </p:nvSpPr>
        <p:spPr>
          <a:xfrm>
            <a:off x="248680" y="155426"/>
            <a:ext cx="7886700" cy="643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The human eye</a:t>
            </a:r>
            <a:endParaRPr/>
          </a:p>
        </p:txBody>
      </p:sp>
      <p:sp>
        <p:nvSpPr>
          <p:cNvPr id="401" name="Google Shape;401;p65"/>
          <p:cNvSpPr txBox="1"/>
          <p:nvPr/>
        </p:nvSpPr>
        <p:spPr>
          <a:xfrm>
            <a:off x="56703" y="4884199"/>
            <a:ext cx="83817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chemeClr val="dk1"/>
                </a:solidFill>
                <a:latin typeface="Arial"/>
                <a:ea typeface="Arial"/>
                <a:cs typeface="Arial"/>
                <a:sym typeface="Arial"/>
              </a:rPr>
              <a:t>Image Source: https://medium.com/a-history-of-color/how-the-eye-percieves-color-93a3f10e03d9</a:t>
            </a:r>
            <a:endParaRPr sz="900">
              <a:solidFill>
                <a:schemeClr val="dk1"/>
              </a:solidFill>
              <a:latin typeface="Arial"/>
              <a:ea typeface="Arial"/>
              <a:cs typeface="Arial"/>
              <a:sym typeface="Arial"/>
            </a:endParaRPr>
          </a:p>
        </p:txBody>
      </p:sp>
      <p:sp>
        <p:nvSpPr>
          <p:cNvPr id="402" name="Google Shape;402;p65"/>
          <p:cNvSpPr txBox="1"/>
          <p:nvPr/>
        </p:nvSpPr>
        <p:spPr>
          <a:xfrm>
            <a:off x="427585" y="1179621"/>
            <a:ext cx="3268500" cy="136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a:solidFill>
                  <a:srgbClr val="202124"/>
                </a:solidFill>
                <a:latin typeface="arial"/>
                <a:ea typeface="arial"/>
                <a:cs typeface="arial"/>
                <a:sym typeface="arial"/>
              </a:rPr>
              <a:t>Cones are </a:t>
            </a:r>
            <a:r>
              <a:rPr b="1" i="0" lang="en" sz="1400">
                <a:solidFill>
                  <a:srgbClr val="202124"/>
                </a:solidFill>
                <a:latin typeface="arial"/>
                <a:ea typeface="arial"/>
                <a:cs typeface="arial"/>
                <a:sym typeface="arial"/>
              </a:rPr>
              <a:t>a type of photoreceptor cell in the retina</a:t>
            </a:r>
            <a:r>
              <a:rPr b="0" i="0" lang="en" sz="1400">
                <a:solidFill>
                  <a:srgbClr val="202124"/>
                </a:solidFill>
                <a:latin typeface="arial"/>
                <a:ea typeface="arial"/>
                <a:cs typeface="arial"/>
                <a:sym typeface="arial"/>
              </a:rPr>
              <a:t>. They give us our color vision. Cones are concentrated in the center of our retina in an area called the macula and help us see fine details</a:t>
            </a:r>
            <a:endParaRPr sz="1400">
              <a:solidFill>
                <a:schemeClr val="dk1"/>
              </a:solidFill>
              <a:latin typeface="Calibri"/>
              <a:ea typeface="Calibri"/>
              <a:cs typeface="Calibri"/>
              <a:sym typeface="Calibri"/>
            </a:endParaRPr>
          </a:p>
        </p:txBody>
      </p:sp>
      <p:sp>
        <p:nvSpPr>
          <p:cNvPr id="403" name="Google Shape;403;p65"/>
          <p:cNvSpPr txBox="1"/>
          <p:nvPr/>
        </p:nvSpPr>
        <p:spPr>
          <a:xfrm>
            <a:off x="427585" y="2779499"/>
            <a:ext cx="3344400" cy="1577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a:solidFill>
                  <a:srgbClr val="202124"/>
                </a:solidFill>
                <a:latin typeface="arial"/>
                <a:ea typeface="arial"/>
                <a:cs typeface="arial"/>
                <a:sym typeface="arial"/>
              </a:rPr>
              <a:t>Rods are </a:t>
            </a:r>
            <a:r>
              <a:rPr b="1" i="0" lang="en" sz="1400">
                <a:solidFill>
                  <a:srgbClr val="202124"/>
                </a:solidFill>
                <a:latin typeface="arial"/>
                <a:ea typeface="arial"/>
                <a:cs typeface="arial"/>
                <a:sym typeface="arial"/>
              </a:rPr>
              <a:t>a type of photoreceptor cell in the retina</a:t>
            </a:r>
            <a:r>
              <a:rPr b="0" i="0" lang="en" sz="1400">
                <a:solidFill>
                  <a:srgbClr val="202124"/>
                </a:solidFill>
                <a:latin typeface="arial"/>
                <a:ea typeface="arial"/>
                <a:cs typeface="arial"/>
                <a:sym typeface="arial"/>
              </a:rPr>
              <a:t>. They are sensitive to light levels and help give us good vision in low light. They are concentrated in the outer areas of the retina and give us peripheral vision. Rods are 500 to 1,000 times more sensitive to light than cones.</a:t>
            </a:r>
            <a:endParaRPr sz="1400">
              <a:solidFill>
                <a:schemeClr val="dk1"/>
              </a:solidFill>
              <a:latin typeface="Calibri"/>
              <a:ea typeface="Calibri"/>
              <a:cs typeface="Calibri"/>
              <a:sym typeface="Calibri"/>
            </a:endParaRPr>
          </a:p>
        </p:txBody>
      </p:sp>
      <p:sp>
        <p:nvSpPr>
          <p:cNvPr id="404" name="Google Shape;404;p65"/>
          <p:cNvSpPr txBox="1"/>
          <p:nvPr/>
        </p:nvSpPr>
        <p:spPr>
          <a:xfrm>
            <a:off x="56703" y="4676450"/>
            <a:ext cx="85458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dk1"/>
                </a:solidFill>
                <a:latin typeface="Arial"/>
                <a:ea typeface="Arial"/>
                <a:cs typeface="Arial"/>
                <a:sym typeface="Arial"/>
              </a:rPr>
              <a:t>https://www.aao.org/eye-health/anatomy/rods#:~:text=Rods%20are%20a%20type%20of,sensitive%20to%20light%20than%20cones.</a:t>
            </a:r>
            <a:endParaRPr sz="1100"/>
          </a:p>
        </p:txBody>
      </p:sp>
      <p:pic>
        <p:nvPicPr>
          <p:cNvPr id="405" name="Google Shape;405;p65"/>
          <p:cNvPicPr preferRelativeResize="0"/>
          <p:nvPr/>
        </p:nvPicPr>
        <p:blipFill rotWithShape="1">
          <a:blip r:embed="rId3">
            <a:alphaModFix/>
          </a:blip>
          <a:srcRect b="0" l="0" r="0" t="0"/>
          <a:stretch/>
        </p:blipFill>
        <p:spPr>
          <a:xfrm>
            <a:off x="3963119" y="708163"/>
            <a:ext cx="5180882" cy="3727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6"/>
          <p:cNvSpPr txBox="1"/>
          <p:nvPr>
            <p:ph type="title"/>
          </p:nvPr>
        </p:nvSpPr>
        <p:spPr>
          <a:xfrm>
            <a:off x="183807" y="468463"/>
            <a:ext cx="1521600" cy="59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en"/>
              <a:t>Light and colors</a:t>
            </a:r>
            <a:endParaRPr/>
          </a:p>
        </p:txBody>
      </p:sp>
      <p:pic>
        <p:nvPicPr>
          <p:cNvPr descr="The visible light spectrum - Once Inc." id="411" name="Google Shape;411;p66"/>
          <p:cNvPicPr preferRelativeResize="0"/>
          <p:nvPr/>
        </p:nvPicPr>
        <p:blipFill rotWithShape="1">
          <a:blip r:embed="rId3">
            <a:alphaModFix/>
          </a:blip>
          <a:srcRect b="0" l="0" r="0" t="0"/>
          <a:stretch/>
        </p:blipFill>
        <p:spPr>
          <a:xfrm>
            <a:off x="1414849" y="65633"/>
            <a:ext cx="7729152" cy="3686443"/>
          </a:xfrm>
          <a:prstGeom prst="rect">
            <a:avLst/>
          </a:prstGeom>
          <a:noFill/>
          <a:ln>
            <a:noFill/>
          </a:ln>
        </p:spPr>
      </p:pic>
      <p:sp>
        <p:nvSpPr>
          <p:cNvPr id="412" name="Google Shape;412;p66"/>
          <p:cNvSpPr txBox="1"/>
          <p:nvPr/>
        </p:nvSpPr>
        <p:spPr>
          <a:xfrm>
            <a:off x="77231" y="4866501"/>
            <a:ext cx="45735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https://www.oncelighting.eu/visible-light-spectrum/</a:t>
            </a:r>
            <a:endParaRPr sz="1100"/>
          </a:p>
        </p:txBody>
      </p:sp>
      <p:pic>
        <p:nvPicPr>
          <p:cNvPr id="413" name="Google Shape;413;p66"/>
          <p:cNvPicPr preferRelativeResize="0"/>
          <p:nvPr/>
        </p:nvPicPr>
        <p:blipFill rotWithShape="1">
          <a:blip r:embed="rId4">
            <a:alphaModFix/>
          </a:blip>
          <a:srcRect b="0" l="0" r="0" t="0"/>
          <a:stretch/>
        </p:blipFill>
        <p:spPr>
          <a:xfrm>
            <a:off x="4216871" y="3566339"/>
            <a:ext cx="1481138" cy="1485900"/>
          </a:xfrm>
          <a:prstGeom prst="rect">
            <a:avLst/>
          </a:prstGeom>
          <a:noFill/>
          <a:ln>
            <a:noFill/>
          </a:ln>
        </p:spPr>
      </p:pic>
      <p:pic>
        <p:nvPicPr>
          <p:cNvPr id="414" name="Google Shape;414;p66"/>
          <p:cNvPicPr preferRelativeResize="0"/>
          <p:nvPr/>
        </p:nvPicPr>
        <p:blipFill rotWithShape="1">
          <a:blip r:embed="rId5">
            <a:alphaModFix/>
          </a:blip>
          <a:srcRect b="0" l="0" r="0" t="0"/>
          <a:stretch/>
        </p:blipFill>
        <p:spPr>
          <a:xfrm>
            <a:off x="7725236" y="3711977"/>
            <a:ext cx="1411335" cy="1340261"/>
          </a:xfrm>
          <a:prstGeom prst="rect">
            <a:avLst/>
          </a:prstGeom>
          <a:noFill/>
          <a:ln>
            <a:noFill/>
          </a:ln>
        </p:spPr>
      </p:pic>
      <p:sp>
        <p:nvSpPr>
          <p:cNvPr id="415" name="Google Shape;415;p66"/>
          <p:cNvSpPr txBox="1"/>
          <p:nvPr/>
        </p:nvSpPr>
        <p:spPr>
          <a:xfrm rot="-5400000">
            <a:off x="-374881" y="3251280"/>
            <a:ext cx="18468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a:solidFill>
                  <a:srgbClr val="222222"/>
                </a:solidFill>
                <a:latin typeface="Helvetica Neue"/>
                <a:ea typeface="Helvetica Neue"/>
                <a:cs typeface="Helvetica Neue"/>
                <a:sym typeface="Helvetica Neue"/>
              </a:rPr>
              <a:t>Image source</a:t>
            </a:r>
            <a:r>
              <a:rPr b="0" i="0" lang="en" sz="800">
                <a:solidFill>
                  <a:srgbClr val="222222"/>
                </a:solidFill>
                <a:latin typeface="Helvetica Neue"/>
                <a:ea typeface="Helvetica Neue"/>
                <a:cs typeface="Helvetica Neue"/>
                <a:sym typeface="Helvetica Neue"/>
              </a:rPr>
              <a:t>: Kowalski, M.; Grudzień, A.; Mierzejewski, K. Thermal–Visible Face Recognition Based on CNN Features and Triple Triplet Configuration for On-the-Move Identity Verification. </a:t>
            </a:r>
            <a:r>
              <a:rPr b="0" i="1" lang="en" sz="800">
                <a:solidFill>
                  <a:srgbClr val="222222"/>
                </a:solidFill>
                <a:latin typeface="Helvetica Neue"/>
                <a:ea typeface="Helvetica Neue"/>
                <a:cs typeface="Helvetica Neue"/>
                <a:sym typeface="Helvetica Neue"/>
              </a:rPr>
              <a:t>Sensors</a:t>
            </a:r>
            <a:r>
              <a:rPr b="0" i="0" lang="en" sz="800">
                <a:solidFill>
                  <a:srgbClr val="222222"/>
                </a:solidFill>
                <a:latin typeface="Helvetica Neue"/>
                <a:ea typeface="Helvetica Neue"/>
                <a:cs typeface="Helvetica Neue"/>
                <a:sym typeface="Helvetica Neue"/>
              </a:rPr>
              <a:t> </a:t>
            </a:r>
            <a:r>
              <a:rPr b="1" i="0" lang="en" sz="800">
                <a:solidFill>
                  <a:srgbClr val="222222"/>
                </a:solidFill>
                <a:latin typeface="Helvetica Neue"/>
                <a:ea typeface="Helvetica Neue"/>
                <a:cs typeface="Helvetica Neue"/>
                <a:sym typeface="Helvetica Neue"/>
              </a:rPr>
              <a:t>2022</a:t>
            </a:r>
            <a:r>
              <a:rPr b="0" i="0" lang="en" sz="800">
                <a:solidFill>
                  <a:srgbClr val="222222"/>
                </a:solidFill>
                <a:latin typeface="Helvetica Neue"/>
                <a:ea typeface="Helvetica Neue"/>
                <a:cs typeface="Helvetica Neue"/>
                <a:sym typeface="Helvetica Neue"/>
              </a:rPr>
              <a:t>, </a:t>
            </a:r>
            <a:r>
              <a:rPr b="0" i="1" lang="en" sz="800">
                <a:solidFill>
                  <a:srgbClr val="222222"/>
                </a:solidFill>
                <a:latin typeface="Helvetica Neue"/>
                <a:ea typeface="Helvetica Neue"/>
                <a:cs typeface="Helvetica Neue"/>
                <a:sym typeface="Helvetica Neue"/>
              </a:rPr>
              <a:t>22</a:t>
            </a:r>
            <a:r>
              <a:rPr b="0" i="0" lang="en" sz="800">
                <a:solidFill>
                  <a:srgbClr val="222222"/>
                </a:solidFill>
                <a:latin typeface="Helvetica Neue"/>
                <a:ea typeface="Helvetica Neue"/>
                <a:cs typeface="Helvetica Neue"/>
                <a:sym typeface="Helvetica Neue"/>
              </a:rPr>
              <a:t>, 5012. https://doi.org/10.3390/s22135012</a:t>
            </a:r>
            <a:endParaRPr sz="800">
              <a:solidFill>
                <a:schemeClr val="dk1"/>
              </a:solidFill>
              <a:latin typeface="Calibri"/>
              <a:ea typeface="Calibri"/>
              <a:cs typeface="Calibri"/>
              <a:sym typeface="Calibri"/>
            </a:endParaRPr>
          </a:p>
        </p:txBody>
      </p:sp>
      <p:pic>
        <p:nvPicPr>
          <p:cNvPr descr="3.6: Interpreting Ultraviolet Spectra - Chemistry LibreTexts" id="416" name="Google Shape;416;p66"/>
          <p:cNvPicPr preferRelativeResize="0"/>
          <p:nvPr/>
        </p:nvPicPr>
        <p:blipFill rotWithShape="1">
          <a:blip r:embed="rId6">
            <a:alphaModFix/>
          </a:blip>
          <a:srcRect b="0" l="0" r="0" t="0"/>
          <a:stretch/>
        </p:blipFill>
        <p:spPr>
          <a:xfrm>
            <a:off x="862882" y="3380600"/>
            <a:ext cx="2568338" cy="1485901"/>
          </a:xfrm>
          <a:prstGeom prst="rect">
            <a:avLst/>
          </a:prstGeom>
          <a:noFill/>
          <a:ln>
            <a:noFill/>
          </a:ln>
        </p:spPr>
      </p:pic>
      <p:sp>
        <p:nvSpPr>
          <p:cNvPr id="417" name="Google Shape;417;p66"/>
          <p:cNvSpPr txBox="1"/>
          <p:nvPr/>
        </p:nvSpPr>
        <p:spPr>
          <a:xfrm rot="-5400000">
            <a:off x="-186030" y="1676289"/>
            <a:ext cx="1469100" cy="1054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https://chem.libretexts.org/Bookshelves/Organic_Chemistry/Introduction_to_Organic_Spectroscopy/03%3A_Conjugated_Compounds_and_Ultraviolet_Spectroscopy/3.06%3A_Interpreting_Ultraviolet_Spectra</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Space and color model</a:t>
            </a:r>
            <a:endParaRPr/>
          </a:p>
        </p:txBody>
      </p:sp>
      <p:sp>
        <p:nvSpPr>
          <p:cNvPr id="423" name="Google Shape;423;p6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46050" lvl="0" marL="177800" rtl="0" algn="l">
              <a:lnSpc>
                <a:spcPct val="90000"/>
              </a:lnSpc>
              <a:spcBef>
                <a:spcPts val="0"/>
              </a:spcBef>
              <a:spcAft>
                <a:spcPts val="0"/>
              </a:spcAft>
              <a:buClr>
                <a:schemeClr val="dk1"/>
              </a:buClr>
              <a:buSzPts val="1700"/>
              <a:buChar char="•"/>
            </a:pPr>
            <a:r>
              <a:rPr lang="en" sz="1700"/>
              <a:t>A </a:t>
            </a:r>
            <a:r>
              <a:rPr b="1" lang="en" sz="1700"/>
              <a:t>color space </a:t>
            </a:r>
            <a:r>
              <a:rPr lang="en" sz="1700"/>
              <a:t>is a specific organization of colors.</a:t>
            </a:r>
            <a:endParaRPr sz="1700"/>
          </a:p>
          <a:p>
            <a:pPr indent="-146050" lvl="0" marL="177800" rtl="0" algn="l">
              <a:lnSpc>
                <a:spcPct val="90000"/>
              </a:lnSpc>
              <a:spcBef>
                <a:spcPts val="800"/>
              </a:spcBef>
              <a:spcAft>
                <a:spcPts val="0"/>
              </a:spcAft>
              <a:buClr>
                <a:schemeClr val="dk1"/>
              </a:buClr>
              <a:buSzPts val="1700"/>
              <a:buChar char="•"/>
            </a:pPr>
            <a:r>
              <a:rPr lang="en" sz="1700"/>
              <a:t>A color space may be arbitrary, i.e. with physically realized colors assigned to a set of physical color swatches with corresponding assigned color names (including discrete numbers in – for example – the Pantone collection), or structured with mathematical rigor (as with the NCS System, Adobe RGB and sRGB)</a:t>
            </a:r>
            <a:endParaRPr sz="1700"/>
          </a:p>
          <a:p>
            <a:pPr indent="-146050" lvl="0" marL="177800" rtl="0" algn="l">
              <a:lnSpc>
                <a:spcPct val="90000"/>
              </a:lnSpc>
              <a:spcBef>
                <a:spcPts val="800"/>
              </a:spcBef>
              <a:spcAft>
                <a:spcPts val="0"/>
              </a:spcAft>
              <a:buClr>
                <a:schemeClr val="dk1"/>
              </a:buClr>
              <a:buSzPts val="1700"/>
              <a:buChar char="•"/>
            </a:pPr>
            <a:r>
              <a:rPr lang="en" sz="1700"/>
              <a:t>A "</a:t>
            </a:r>
            <a:r>
              <a:rPr b="1" lang="en" sz="1700"/>
              <a:t>color model</a:t>
            </a:r>
            <a:r>
              <a:rPr lang="en" sz="1700"/>
              <a:t>" is an abstract mathematical model describing the way colors can be represented as tuples of numbers (e.g. triples in RGB or quadruples in CMYK)</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Different color spaces</a:t>
            </a:r>
            <a:endParaRPr/>
          </a:p>
        </p:txBody>
      </p:sp>
      <p:pic>
        <p:nvPicPr>
          <p:cNvPr id="429" name="Google Shape;429;p68"/>
          <p:cNvPicPr preferRelativeResize="0"/>
          <p:nvPr/>
        </p:nvPicPr>
        <p:blipFill rotWithShape="1">
          <a:blip r:embed="rId3">
            <a:alphaModFix/>
          </a:blip>
          <a:srcRect b="0" l="0" r="0" t="0"/>
          <a:stretch/>
        </p:blipFill>
        <p:spPr>
          <a:xfrm>
            <a:off x="2691019" y="1484195"/>
            <a:ext cx="3295339" cy="3385462"/>
          </a:xfrm>
          <a:prstGeom prst="rect">
            <a:avLst/>
          </a:prstGeom>
          <a:noFill/>
          <a:ln>
            <a:noFill/>
          </a:ln>
        </p:spPr>
      </p:pic>
      <p:sp>
        <p:nvSpPr>
          <p:cNvPr id="430" name="Google Shape;430;p68"/>
          <p:cNvSpPr txBox="1"/>
          <p:nvPr/>
        </p:nvSpPr>
        <p:spPr>
          <a:xfrm rot="-5400000">
            <a:off x="7428046" y="2321753"/>
            <a:ext cx="32649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https://en.wikipedia.org/wiki/Color_space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Depth</a:t>
            </a:r>
            <a:endParaRPr/>
          </a:p>
        </p:txBody>
      </p:sp>
      <p:sp>
        <p:nvSpPr>
          <p:cNvPr id="436" name="Google Shape;436;p6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58750" lvl="0" marL="177800" rtl="0" algn="l">
              <a:lnSpc>
                <a:spcPct val="90000"/>
              </a:lnSpc>
              <a:spcBef>
                <a:spcPts val="0"/>
              </a:spcBef>
              <a:spcAft>
                <a:spcPts val="0"/>
              </a:spcAft>
              <a:buClr>
                <a:schemeClr val="dk1"/>
              </a:buClr>
              <a:buSzPts val="1900"/>
              <a:buChar char="•"/>
            </a:pPr>
            <a:r>
              <a:rPr b="1" lang="en" sz="1900"/>
              <a:t>Color depth </a:t>
            </a:r>
            <a:r>
              <a:rPr lang="en" sz="1900"/>
              <a:t>also known as bit depth, is either the number of bits used to indicate the color of a single pixel</a:t>
            </a:r>
            <a:endParaRPr sz="1900"/>
          </a:p>
          <a:p>
            <a:pPr indent="-158750" lvl="0" marL="177800" rtl="0" algn="l">
              <a:lnSpc>
                <a:spcPct val="90000"/>
              </a:lnSpc>
              <a:spcBef>
                <a:spcPts val="800"/>
              </a:spcBef>
              <a:spcAft>
                <a:spcPts val="0"/>
              </a:spcAft>
              <a:buClr>
                <a:srgbClr val="202122"/>
              </a:buClr>
              <a:buSzPts val="1900"/>
              <a:buChar char="•"/>
            </a:pPr>
            <a:r>
              <a:rPr b="0" i="0" lang="en" sz="1900">
                <a:solidFill>
                  <a:srgbClr val="202122"/>
                </a:solidFill>
                <a:latin typeface="Arial"/>
                <a:ea typeface="Arial"/>
                <a:cs typeface="Arial"/>
                <a:sym typeface="Arial"/>
              </a:rPr>
              <a:t>When referring to a pixel, the concept can be defined as </a:t>
            </a:r>
            <a:r>
              <a:rPr b="1" i="0" lang="en" sz="1900">
                <a:solidFill>
                  <a:srgbClr val="202122"/>
                </a:solidFill>
                <a:latin typeface="Arial"/>
                <a:ea typeface="Arial"/>
                <a:cs typeface="Arial"/>
                <a:sym typeface="Arial"/>
              </a:rPr>
              <a:t>bits per pixel</a:t>
            </a:r>
            <a:r>
              <a:rPr b="0" i="0" lang="en" sz="1900">
                <a:solidFill>
                  <a:srgbClr val="202122"/>
                </a:solidFill>
                <a:latin typeface="Arial"/>
                <a:ea typeface="Arial"/>
                <a:cs typeface="Arial"/>
                <a:sym typeface="Arial"/>
              </a:rPr>
              <a:t> (bpp)</a:t>
            </a:r>
            <a:endParaRPr sz="1900"/>
          </a:p>
          <a:p>
            <a:pPr indent="-158750" lvl="0" marL="177800" rtl="0" algn="l">
              <a:lnSpc>
                <a:spcPct val="90000"/>
              </a:lnSpc>
              <a:spcBef>
                <a:spcPts val="800"/>
              </a:spcBef>
              <a:spcAft>
                <a:spcPts val="0"/>
              </a:spcAft>
              <a:buClr>
                <a:srgbClr val="202122"/>
              </a:buClr>
              <a:buSzPts val="1900"/>
              <a:buChar char="•"/>
            </a:pPr>
            <a:r>
              <a:rPr b="0" i="0" lang="en" sz="1900">
                <a:solidFill>
                  <a:srgbClr val="202122"/>
                </a:solidFill>
                <a:latin typeface="Arial"/>
                <a:ea typeface="Arial"/>
                <a:cs typeface="Arial"/>
                <a:sym typeface="Arial"/>
              </a:rPr>
              <a:t>When referring to a color component, the concept can be defined as </a:t>
            </a:r>
            <a:r>
              <a:rPr b="1" i="0" lang="en" sz="1900">
                <a:solidFill>
                  <a:srgbClr val="202122"/>
                </a:solidFill>
                <a:latin typeface="Arial"/>
                <a:ea typeface="Arial"/>
                <a:cs typeface="Arial"/>
                <a:sym typeface="Arial"/>
              </a:rPr>
              <a:t>bits per component</a:t>
            </a:r>
            <a:r>
              <a:rPr b="0" i="0" lang="en" sz="1900">
                <a:solidFill>
                  <a:srgbClr val="202122"/>
                </a:solidFill>
                <a:latin typeface="Arial"/>
                <a:ea typeface="Arial"/>
                <a:cs typeface="Arial"/>
                <a:sym typeface="Arial"/>
              </a:rPr>
              <a:t>, </a:t>
            </a:r>
            <a:r>
              <a:rPr b="1" i="0" lang="en" sz="1900">
                <a:solidFill>
                  <a:srgbClr val="202122"/>
                </a:solidFill>
                <a:latin typeface="Arial"/>
                <a:ea typeface="Arial"/>
                <a:cs typeface="Arial"/>
                <a:sym typeface="Arial"/>
              </a:rPr>
              <a:t>bits per channel</a:t>
            </a:r>
            <a:r>
              <a:rPr b="0" i="0" lang="en" sz="1900">
                <a:solidFill>
                  <a:srgbClr val="202122"/>
                </a:solidFill>
                <a:latin typeface="Arial"/>
                <a:ea typeface="Arial"/>
                <a:cs typeface="Arial"/>
                <a:sym typeface="Arial"/>
              </a:rPr>
              <a:t>, </a:t>
            </a:r>
            <a:r>
              <a:rPr b="1" i="0" lang="en" sz="1900">
                <a:solidFill>
                  <a:srgbClr val="202122"/>
                </a:solidFill>
                <a:latin typeface="Arial"/>
                <a:ea typeface="Arial"/>
                <a:cs typeface="Arial"/>
                <a:sym typeface="Arial"/>
              </a:rPr>
              <a:t>bits per color</a:t>
            </a:r>
            <a:r>
              <a:rPr b="0" i="0" lang="en" sz="1900">
                <a:solidFill>
                  <a:srgbClr val="202122"/>
                </a:solidFill>
                <a:latin typeface="Arial"/>
                <a:ea typeface="Arial"/>
                <a:cs typeface="Arial"/>
                <a:sym typeface="Arial"/>
              </a:rPr>
              <a:t> (all three abbreviated bpc)</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Color Gamut</a:t>
            </a:r>
            <a:endParaRPr/>
          </a:p>
        </p:txBody>
      </p:sp>
      <p:sp>
        <p:nvSpPr>
          <p:cNvPr id="442" name="Google Shape;442;p7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58750" lvl="0" marL="177800" rtl="0" algn="l">
              <a:lnSpc>
                <a:spcPct val="90000"/>
              </a:lnSpc>
              <a:spcBef>
                <a:spcPts val="0"/>
              </a:spcBef>
              <a:spcAft>
                <a:spcPts val="0"/>
              </a:spcAft>
              <a:buClr>
                <a:schemeClr val="dk1"/>
              </a:buClr>
              <a:buSzPts val="1900"/>
              <a:buChar char="•"/>
            </a:pPr>
            <a:r>
              <a:rPr lang="en" sz="1900"/>
              <a:t>In color reproduction, including computer graphics and photography, the </a:t>
            </a:r>
            <a:r>
              <a:rPr b="1" lang="en" sz="1900"/>
              <a:t>gamut</a:t>
            </a:r>
            <a:r>
              <a:rPr lang="en" sz="1900"/>
              <a:t>, or </a:t>
            </a:r>
            <a:r>
              <a:rPr b="1" lang="en" sz="1900"/>
              <a:t>color gamut</a:t>
            </a:r>
            <a:r>
              <a:rPr lang="en" sz="1900"/>
              <a:t>, is a certain complete subset of colors.</a:t>
            </a:r>
            <a:endParaRPr sz="1900"/>
          </a:p>
          <a:p>
            <a:pPr indent="-158750" lvl="0" marL="177800" rtl="0" algn="l">
              <a:lnSpc>
                <a:spcPct val="90000"/>
              </a:lnSpc>
              <a:spcBef>
                <a:spcPts val="800"/>
              </a:spcBef>
              <a:spcAft>
                <a:spcPts val="0"/>
              </a:spcAft>
              <a:buClr>
                <a:schemeClr val="dk1"/>
              </a:buClr>
              <a:buSzPts val="1900"/>
              <a:buChar char="•"/>
            </a:pPr>
            <a:r>
              <a:rPr lang="en" sz="1900"/>
              <a:t>The most common usage refers to the subset of colors which can be accurately represented in a given circumstance, such as within a given color space or by a certain output device.</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1"/>
          <p:cNvSpPr txBox="1"/>
          <p:nvPr>
            <p:ph type="title"/>
          </p:nvPr>
        </p:nvSpPr>
        <p:spPr>
          <a:xfrm>
            <a:off x="131693" y="154575"/>
            <a:ext cx="7886700" cy="523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VGA – Video Graphics Array</a:t>
            </a:r>
            <a:endParaRPr/>
          </a:p>
        </p:txBody>
      </p:sp>
      <p:sp>
        <p:nvSpPr>
          <p:cNvPr id="448" name="Google Shape;448;p71"/>
          <p:cNvSpPr txBox="1"/>
          <p:nvPr>
            <p:ph idx="1" type="body"/>
          </p:nvPr>
        </p:nvSpPr>
        <p:spPr>
          <a:xfrm>
            <a:off x="315568" y="1268016"/>
            <a:ext cx="4440300" cy="32634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115000"/>
              </a:lnSpc>
              <a:spcBef>
                <a:spcPts val="0"/>
              </a:spcBef>
              <a:spcAft>
                <a:spcPts val="0"/>
              </a:spcAft>
              <a:buClr>
                <a:schemeClr val="dk1"/>
              </a:buClr>
              <a:buSzPts val="2100"/>
              <a:buNone/>
            </a:pPr>
            <a:r>
              <a:rPr b="1" lang="en" sz="1900"/>
              <a:t>Standard graphics modes</a:t>
            </a:r>
            <a:endParaRPr sz="1900"/>
          </a:p>
          <a:p>
            <a:pPr indent="-158750" lvl="0" marL="177800" rtl="0" algn="l">
              <a:lnSpc>
                <a:spcPct val="115000"/>
              </a:lnSpc>
              <a:spcBef>
                <a:spcPts val="1500"/>
              </a:spcBef>
              <a:spcAft>
                <a:spcPts val="0"/>
              </a:spcAft>
              <a:buClr>
                <a:schemeClr val="dk1"/>
              </a:buClr>
              <a:buSzPts val="1900"/>
              <a:buChar char="•"/>
            </a:pPr>
            <a:r>
              <a:rPr lang="en" sz="1900"/>
              <a:t>640×480 in 16 colors or monochrome</a:t>
            </a:r>
            <a:endParaRPr sz="1900"/>
          </a:p>
          <a:p>
            <a:pPr indent="-158750" lvl="0" marL="177800" rtl="0" algn="l">
              <a:lnSpc>
                <a:spcPct val="115000"/>
              </a:lnSpc>
              <a:spcBef>
                <a:spcPts val="1500"/>
              </a:spcBef>
              <a:spcAft>
                <a:spcPts val="0"/>
              </a:spcAft>
              <a:buClr>
                <a:schemeClr val="dk1"/>
              </a:buClr>
              <a:buSzPts val="1900"/>
              <a:buChar char="•"/>
            </a:pPr>
            <a:r>
              <a:rPr lang="en" sz="1900"/>
              <a:t>640×350 or 640×200 in 16 colors or monochrome (EGA compatibility)</a:t>
            </a:r>
            <a:endParaRPr sz="1900"/>
          </a:p>
          <a:p>
            <a:pPr indent="-158750" lvl="0" marL="177800" rtl="0" algn="l">
              <a:lnSpc>
                <a:spcPct val="115000"/>
              </a:lnSpc>
              <a:spcBef>
                <a:spcPts val="1500"/>
              </a:spcBef>
              <a:spcAft>
                <a:spcPts val="0"/>
              </a:spcAft>
              <a:buClr>
                <a:schemeClr val="dk1"/>
              </a:buClr>
              <a:buSzPts val="1900"/>
              <a:buChar char="•"/>
            </a:pPr>
            <a:r>
              <a:rPr lang="en" sz="1900"/>
              <a:t>320×200 in 256 colors (Mode 13h)</a:t>
            </a:r>
            <a:endParaRPr sz="1900"/>
          </a:p>
          <a:p>
            <a:pPr indent="-158750" lvl="0" marL="177800" rtl="0" algn="l">
              <a:lnSpc>
                <a:spcPct val="115000"/>
              </a:lnSpc>
              <a:spcBef>
                <a:spcPts val="1500"/>
              </a:spcBef>
              <a:spcAft>
                <a:spcPts val="0"/>
              </a:spcAft>
              <a:buClr>
                <a:schemeClr val="dk1"/>
              </a:buClr>
              <a:buSzPts val="1900"/>
              <a:buChar char="•"/>
            </a:pPr>
            <a:r>
              <a:rPr lang="en" sz="1900"/>
              <a:t>320×200 in 4 or 16 colors (CGA compatibility)</a:t>
            </a:r>
            <a:endParaRPr sz="1900"/>
          </a:p>
          <a:p>
            <a:pPr indent="0" lvl="0" marL="0" rtl="0" algn="l">
              <a:lnSpc>
                <a:spcPct val="80000"/>
              </a:lnSpc>
              <a:spcBef>
                <a:spcPts val="1500"/>
              </a:spcBef>
              <a:spcAft>
                <a:spcPts val="0"/>
              </a:spcAft>
              <a:buClr>
                <a:schemeClr val="dk1"/>
              </a:buClr>
              <a:buSzPts val="2100"/>
              <a:buNone/>
            </a:pPr>
            <a:r>
              <a:t/>
            </a:r>
            <a:endParaRPr/>
          </a:p>
        </p:txBody>
      </p:sp>
      <p:pic>
        <p:nvPicPr>
          <p:cNvPr descr="The Sierra Chest - King's Quest 1: Quest for the Crown (VGA ..." id="449" name="Google Shape;449;p71"/>
          <p:cNvPicPr preferRelativeResize="0"/>
          <p:nvPr/>
        </p:nvPicPr>
        <p:blipFill rotWithShape="1">
          <a:blip r:embed="rId3">
            <a:alphaModFix/>
          </a:blip>
          <a:srcRect b="0" l="0" r="0" t="0"/>
          <a:stretch/>
        </p:blipFill>
        <p:spPr>
          <a:xfrm>
            <a:off x="4983479" y="1520686"/>
            <a:ext cx="4037938" cy="25237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t>Modern Monitors color depth</a:t>
            </a:r>
            <a:endParaRPr/>
          </a:p>
        </p:txBody>
      </p:sp>
      <p:sp>
        <p:nvSpPr>
          <p:cNvPr id="455" name="Google Shape;455;p72"/>
          <p:cNvSpPr txBox="1"/>
          <p:nvPr>
            <p:ph idx="1" type="body"/>
          </p:nvPr>
        </p:nvSpPr>
        <p:spPr>
          <a:xfrm>
            <a:off x="628650" y="1369219"/>
            <a:ext cx="7886700" cy="3263400"/>
          </a:xfrm>
          <a:prstGeom prst="rect">
            <a:avLst/>
          </a:prstGeom>
          <a:blipFill rotWithShape="1">
            <a:blip r:embed="rId3">
              <a:alphaModFix/>
            </a:blip>
            <a:stretch>
              <a:fillRect b="0" l="-1089" r="0" t="-2329"/>
            </a:stretch>
          </a:blipFill>
          <a:ln>
            <a:noFill/>
          </a:ln>
        </p:spPr>
        <p:txBody>
          <a:bodyPr anchorCtr="0" anchor="t" bIns="34275" lIns="68575" spcFirstLastPara="1" rIns="68575" wrap="square" tIns="34275">
            <a:normAutofit/>
          </a:bodyPr>
          <a:lstStyle/>
          <a:p>
            <a:pPr indent="0" lvl="0" marL="177800" rtl="0" algn="l">
              <a:lnSpc>
                <a:spcPct val="90000"/>
              </a:lnSpc>
              <a:spcBef>
                <a:spcPts val="0"/>
              </a:spcBef>
              <a:spcAft>
                <a:spcPts val="0"/>
              </a:spcAft>
              <a:buNone/>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3"/>
          <p:cNvSpPr txBox="1"/>
          <p:nvPr>
            <p:ph type="title"/>
          </p:nvPr>
        </p:nvSpPr>
        <p:spPr>
          <a:xfrm>
            <a:off x="628650" y="2028669"/>
            <a:ext cx="7886700" cy="9942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Image Formats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Raster and Vector images</a:t>
            </a:r>
            <a:endParaRPr/>
          </a:p>
        </p:txBody>
      </p:sp>
      <p:sp>
        <p:nvSpPr>
          <p:cNvPr id="466" name="Google Shape;466;p74"/>
          <p:cNvSpPr txBox="1"/>
          <p:nvPr>
            <p:ph idx="1" type="body"/>
          </p:nvPr>
        </p:nvSpPr>
        <p:spPr>
          <a:xfrm>
            <a:off x="868431" y="1217647"/>
            <a:ext cx="7407300" cy="3263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2100"/>
              <a:buNone/>
            </a:pPr>
            <a:r>
              <a:rPr b="1" lang="en" sz="1500">
                <a:latin typeface="Arial"/>
                <a:ea typeface="Arial"/>
                <a:cs typeface="Arial"/>
                <a:sym typeface="Arial"/>
              </a:rPr>
              <a:t>Raster Images</a:t>
            </a:r>
            <a:endParaRPr sz="1500">
              <a:latin typeface="Arial"/>
              <a:ea typeface="Arial"/>
              <a:cs typeface="Arial"/>
              <a:sym typeface="Arial"/>
            </a:endParaRPr>
          </a:p>
          <a:p>
            <a:pPr indent="-171450" lvl="1" marL="520700" rtl="0" algn="l">
              <a:lnSpc>
                <a:spcPct val="115000"/>
              </a:lnSpc>
              <a:spcBef>
                <a:spcPts val="400"/>
              </a:spcBef>
              <a:spcAft>
                <a:spcPts val="0"/>
              </a:spcAft>
              <a:buClr>
                <a:schemeClr val="dk1"/>
              </a:buClr>
              <a:buSzPts val="1500"/>
              <a:buChar char="○"/>
            </a:pPr>
            <a:r>
              <a:rPr lang="en" sz="1500">
                <a:latin typeface="Arial"/>
                <a:ea typeface="Arial"/>
                <a:cs typeface="Arial"/>
                <a:sym typeface="Arial"/>
              </a:rPr>
              <a:t>Image made of pixels</a:t>
            </a:r>
            <a:endParaRPr sz="1500">
              <a:latin typeface="Arial"/>
              <a:ea typeface="Arial"/>
              <a:cs typeface="Arial"/>
              <a:sym typeface="Arial"/>
            </a:endParaRPr>
          </a:p>
          <a:p>
            <a:pPr indent="-171450" lvl="1" marL="520700" rtl="0" algn="l">
              <a:lnSpc>
                <a:spcPct val="115000"/>
              </a:lnSpc>
              <a:spcBef>
                <a:spcPts val="400"/>
              </a:spcBef>
              <a:spcAft>
                <a:spcPts val="0"/>
              </a:spcAft>
              <a:buClr>
                <a:schemeClr val="dk1"/>
              </a:buClr>
              <a:buSzPts val="1500"/>
              <a:buChar char="○"/>
            </a:pPr>
            <a:r>
              <a:rPr lang="en" sz="1500">
                <a:latin typeface="Arial"/>
                <a:ea typeface="Arial"/>
                <a:cs typeface="Arial"/>
                <a:sym typeface="Arial"/>
              </a:rPr>
              <a:t>Resolution dependent (cannot be scaled up or down without loss of quality)</a:t>
            </a:r>
            <a:endParaRPr sz="1500">
              <a:latin typeface="Arial"/>
              <a:ea typeface="Arial"/>
              <a:cs typeface="Arial"/>
              <a:sym typeface="Arial"/>
            </a:endParaRPr>
          </a:p>
          <a:p>
            <a:pPr indent="-171450" lvl="1" marL="520700" rtl="0" algn="l">
              <a:lnSpc>
                <a:spcPct val="115000"/>
              </a:lnSpc>
              <a:spcBef>
                <a:spcPts val="400"/>
              </a:spcBef>
              <a:spcAft>
                <a:spcPts val="0"/>
              </a:spcAft>
              <a:buSzPts val="1500"/>
              <a:buChar char="○"/>
            </a:pPr>
            <a:r>
              <a:rPr lang="en" sz="1500">
                <a:latin typeface="Arial"/>
                <a:ea typeface="Arial"/>
                <a:cs typeface="Arial"/>
                <a:sym typeface="Arial"/>
              </a:rPr>
              <a:t>Raster Formats: jpeg, jpg, pgf, png,, raw, rgba, tif, tiff</a:t>
            </a:r>
            <a:endParaRPr sz="15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br>
              <a:rPr b="1" lang="en" sz="1500">
                <a:latin typeface="Arial"/>
                <a:ea typeface="Arial"/>
                <a:cs typeface="Arial"/>
                <a:sym typeface="Arial"/>
              </a:rPr>
            </a:br>
            <a:r>
              <a:rPr b="1" lang="en" sz="1500">
                <a:latin typeface="Arial"/>
                <a:ea typeface="Arial"/>
                <a:cs typeface="Arial"/>
                <a:sym typeface="Arial"/>
              </a:rPr>
              <a:t>Vector Images</a:t>
            </a:r>
            <a:endParaRPr sz="1500">
              <a:latin typeface="Arial"/>
              <a:ea typeface="Arial"/>
              <a:cs typeface="Arial"/>
              <a:sym typeface="Arial"/>
            </a:endParaRPr>
          </a:p>
          <a:p>
            <a:pPr indent="-171450" lvl="1" marL="520700" rtl="0" algn="l">
              <a:lnSpc>
                <a:spcPct val="115000"/>
              </a:lnSpc>
              <a:spcBef>
                <a:spcPts val="400"/>
              </a:spcBef>
              <a:spcAft>
                <a:spcPts val="0"/>
              </a:spcAft>
              <a:buClr>
                <a:schemeClr val="dk1"/>
              </a:buClr>
              <a:buSzPts val="1500"/>
              <a:buChar char="○"/>
            </a:pPr>
            <a:r>
              <a:rPr lang="en" sz="1500">
                <a:latin typeface="Arial"/>
                <a:ea typeface="Arial"/>
                <a:cs typeface="Arial"/>
                <a:sym typeface="Arial"/>
              </a:rPr>
              <a:t>Made of lines and curves drawn with mathematical equations (Bezier curves for example, see </a:t>
            </a:r>
            <a:r>
              <a:rPr lang="en" sz="1500" u="sng">
                <a:solidFill>
                  <a:schemeClr val="hlink"/>
                </a:solidFill>
                <a:latin typeface="Arial"/>
                <a:ea typeface="Arial"/>
                <a:cs typeface="Arial"/>
                <a:sym typeface="Arial"/>
                <a:hlinkClick r:id="rId3"/>
              </a:rPr>
              <a:t>https://pomax.github.io/bezierinfo/</a:t>
            </a:r>
            <a:r>
              <a:rPr lang="en" sz="1500">
                <a:latin typeface="Arial"/>
                <a:ea typeface="Arial"/>
                <a:cs typeface="Arial"/>
                <a:sym typeface="Arial"/>
              </a:rPr>
              <a:t>) </a:t>
            </a:r>
            <a:endParaRPr sz="1500">
              <a:latin typeface="Arial"/>
              <a:ea typeface="Arial"/>
              <a:cs typeface="Arial"/>
              <a:sym typeface="Arial"/>
            </a:endParaRPr>
          </a:p>
          <a:p>
            <a:pPr indent="-171450" lvl="1" marL="520700" rtl="0" algn="l">
              <a:lnSpc>
                <a:spcPct val="115000"/>
              </a:lnSpc>
              <a:spcBef>
                <a:spcPts val="400"/>
              </a:spcBef>
              <a:spcAft>
                <a:spcPts val="0"/>
              </a:spcAft>
              <a:buClr>
                <a:schemeClr val="dk1"/>
              </a:buClr>
              <a:buSzPts val="1500"/>
              <a:buChar char="○"/>
            </a:pPr>
            <a:r>
              <a:rPr lang="en" sz="1500">
                <a:latin typeface="Arial"/>
                <a:ea typeface="Arial"/>
                <a:cs typeface="Arial"/>
                <a:sym typeface="Arial"/>
              </a:rPr>
              <a:t>Not resolution related</a:t>
            </a:r>
            <a:endParaRPr sz="1500">
              <a:latin typeface="Arial"/>
              <a:ea typeface="Arial"/>
              <a:cs typeface="Arial"/>
              <a:sym typeface="Arial"/>
            </a:endParaRPr>
          </a:p>
          <a:p>
            <a:pPr indent="-171450" lvl="1" marL="520700" rtl="0" algn="l">
              <a:lnSpc>
                <a:spcPct val="115000"/>
              </a:lnSpc>
              <a:spcBef>
                <a:spcPts val="400"/>
              </a:spcBef>
              <a:spcAft>
                <a:spcPts val="0"/>
              </a:spcAft>
              <a:buClr>
                <a:schemeClr val="dk1"/>
              </a:buClr>
              <a:buSzPts val="1500"/>
              <a:buChar char="○"/>
            </a:pPr>
            <a:r>
              <a:rPr lang="en" sz="1500">
                <a:latin typeface="Arial"/>
                <a:ea typeface="Arial"/>
                <a:cs typeface="Arial"/>
                <a:sym typeface="Arial"/>
              </a:rPr>
              <a:t>Can be resized without loss of quality</a:t>
            </a:r>
            <a:endParaRPr sz="1500">
              <a:latin typeface="Arial"/>
              <a:ea typeface="Arial"/>
              <a:cs typeface="Arial"/>
              <a:sym typeface="Arial"/>
            </a:endParaRPr>
          </a:p>
          <a:p>
            <a:pPr indent="-171450" lvl="1" marL="520700" rtl="0" algn="l">
              <a:lnSpc>
                <a:spcPct val="115000"/>
              </a:lnSpc>
              <a:spcBef>
                <a:spcPts val="400"/>
              </a:spcBef>
              <a:spcAft>
                <a:spcPts val="0"/>
              </a:spcAft>
              <a:buSzPts val="1500"/>
              <a:buChar char="○"/>
            </a:pPr>
            <a:r>
              <a:rPr lang="en" sz="1500">
                <a:latin typeface="Arial"/>
                <a:ea typeface="Arial"/>
                <a:cs typeface="Arial"/>
                <a:sym typeface="Arial"/>
              </a:rPr>
              <a:t>Vector Formats: svg, svgz, eps, pdf, ps</a:t>
            </a:r>
            <a:endParaRPr sz="14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1400">
                <a:latin typeface="Arial"/>
                <a:ea typeface="Arial"/>
                <a:cs typeface="Arial"/>
                <a:sym typeface="Arial"/>
              </a:rPr>
              <a:t>In Deep Learning we work with Raster images only.</a:t>
            </a:r>
            <a:endParaRPr sz="1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Raster image – an example</a:t>
            </a:r>
            <a:endParaRPr/>
          </a:p>
        </p:txBody>
      </p:sp>
      <p:pic>
        <p:nvPicPr>
          <p:cNvPr descr="A person with a black hat and a black hat&#10;&#10;Description automatically generated" id="472" name="Google Shape;472;p75"/>
          <p:cNvPicPr preferRelativeResize="0"/>
          <p:nvPr/>
        </p:nvPicPr>
        <p:blipFill rotWithShape="1">
          <a:blip r:embed="rId3">
            <a:alphaModFix/>
          </a:blip>
          <a:srcRect b="0" l="0" r="0" t="0"/>
          <a:stretch/>
        </p:blipFill>
        <p:spPr>
          <a:xfrm>
            <a:off x="685800" y="1276349"/>
            <a:ext cx="7829550" cy="3479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Vector images in Deep Learning Research</a:t>
            </a:r>
            <a:endParaRPr/>
          </a:p>
        </p:txBody>
      </p:sp>
      <p:sp>
        <p:nvSpPr>
          <p:cNvPr id="478" name="Google Shape;478;p76"/>
          <p:cNvSpPr txBox="1"/>
          <p:nvPr>
            <p:ph idx="1" type="body"/>
          </p:nvPr>
        </p:nvSpPr>
        <p:spPr>
          <a:xfrm>
            <a:off x="516075" y="1689281"/>
            <a:ext cx="8202000" cy="2776200"/>
          </a:xfrm>
          <a:prstGeom prst="rect">
            <a:avLst/>
          </a:prstGeom>
          <a:noFill/>
          <a:ln>
            <a:noFill/>
          </a:ln>
        </p:spPr>
        <p:txBody>
          <a:bodyPr anchorCtr="0" anchor="t" bIns="34275" lIns="68575" spcFirstLastPara="1" rIns="68575" wrap="square" tIns="34275">
            <a:noAutofit/>
          </a:bodyPr>
          <a:lstStyle/>
          <a:p>
            <a:pPr indent="-285750" lvl="0" marL="342900" rtl="0" algn="l">
              <a:lnSpc>
                <a:spcPct val="115000"/>
              </a:lnSpc>
              <a:spcBef>
                <a:spcPts val="0"/>
              </a:spcBef>
              <a:spcAft>
                <a:spcPts val="0"/>
              </a:spcAft>
              <a:buSzPts val="1900"/>
              <a:buFont typeface="Arial"/>
              <a:buChar char="•"/>
            </a:pPr>
            <a:r>
              <a:rPr lang="en" sz="1900">
                <a:latin typeface="Arial"/>
                <a:ea typeface="Arial"/>
                <a:cs typeface="Arial"/>
                <a:sym typeface="Arial"/>
              </a:rPr>
              <a:t>Vector images are </a:t>
            </a:r>
            <a:r>
              <a:rPr b="1" lang="en" sz="1900">
                <a:latin typeface="Arial"/>
                <a:ea typeface="Arial"/>
                <a:cs typeface="Arial"/>
                <a:sym typeface="Arial"/>
              </a:rPr>
              <a:t>not</a:t>
            </a:r>
            <a:r>
              <a:rPr lang="en" sz="1900">
                <a:latin typeface="Arial"/>
                <a:ea typeface="Arial"/>
                <a:cs typeface="Arial"/>
                <a:sym typeface="Arial"/>
              </a:rPr>
              <a:t> used to train deep learning models but…</a:t>
            </a:r>
            <a:endParaRPr sz="1900">
              <a:latin typeface="Arial"/>
              <a:ea typeface="Arial"/>
              <a:cs typeface="Arial"/>
              <a:sym typeface="Arial"/>
            </a:endParaRPr>
          </a:p>
          <a:p>
            <a:pPr indent="-285750" lvl="0" marL="342900" rtl="0" algn="l">
              <a:lnSpc>
                <a:spcPct val="115000"/>
              </a:lnSpc>
              <a:spcBef>
                <a:spcPts val="800"/>
              </a:spcBef>
              <a:spcAft>
                <a:spcPts val="0"/>
              </a:spcAft>
              <a:buSzPts val="1900"/>
              <a:buFont typeface="Arial"/>
              <a:buChar char="•"/>
            </a:pPr>
            <a:r>
              <a:rPr lang="en" sz="1900">
                <a:latin typeface="Arial"/>
                <a:ea typeface="Arial"/>
                <a:cs typeface="Arial"/>
                <a:sym typeface="Arial"/>
              </a:rPr>
              <a:t>They should be used in publications as they can be scaled and appear very sharp when published on </a:t>
            </a:r>
            <a:r>
              <a:rPr b="1" lang="en" sz="1900">
                <a:latin typeface="Arial"/>
                <a:ea typeface="Arial"/>
                <a:cs typeface="Arial"/>
                <a:sym typeface="Arial"/>
              </a:rPr>
              <a:t>papers</a:t>
            </a:r>
            <a:r>
              <a:rPr lang="en" sz="1900">
                <a:latin typeface="Arial"/>
                <a:ea typeface="Arial"/>
                <a:cs typeface="Arial"/>
                <a:sym typeface="Arial"/>
              </a:rPr>
              <a:t> or </a:t>
            </a:r>
            <a:r>
              <a:rPr b="1" lang="en" sz="1900">
                <a:latin typeface="Arial"/>
                <a:ea typeface="Arial"/>
                <a:cs typeface="Arial"/>
                <a:sym typeface="Arial"/>
              </a:rPr>
              <a:t>posters</a:t>
            </a:r>
            <a:r>
              <a:rPr lang="en" sz="1900">
                <a:latin typeface="Arial"/>
                <a:ea typeface="Arial"/>
                <a:cs typeface="Arial"/>
                <a:sym typeface="Arial"/>
              </a:rPr>
              <a:t> (typically in A0 format).</a:t>
            </a:r>
            <a:endParaRPr sz="1900">
              <a:latin typeface="Arial"/>
              <a:ea typeface="Arial"/>
              <a:cs typeface="Arial"/>
              <a:sym typeface="Arial"/>
            </a:endParaRPr>
          </a:p>
          <a:p>
            <a:pPr indent="-285750" lvl="0" marL="342900" rtl="0" algn="l">
              <a:lnSpc>
                <a:spcPct val="115000"/>
              </a:lnSpc>
              <a:spcBef>
                <a:spcPts val="800"/>
              </a:spcBef>
              <a:spcAft>
                <a:spcPts val="800"/>
              </a:spcAft>
              <a:buSzPts val="1900"/>
              <a:buFont typeface="Arial"/>
              <a:buChar char="•"/>
            </a:pPr>
            <a:r>
              <a:rPr lang="en" sz="1900" u="sng">
                <a:solidFill>
                  <a:schemeClr val="hlink"/>
                </a:solidFill>
                <a:latin typeface="Arial"/>
                <a:ea typeface="Arial"/>
                <a:cs typeface="Arial"/>
                <a:sym typeface="Arial"/>
                <a:hlinkClick r:id="rId3"/>
              </a:rPr>
              <a:t>Matplotlib</a:t>
            </a:r>
            <a:r>
              <a:rPr lang="en" sz="1900">
                <a:latin typeface="Arial"/>
                <a:ea typeface="Arial"/>
                <a:cs typeface="Arial"/>
                <a:sym typeface="Arial"/>
              </a:rPr>
              <a:t> can easily </a:t>
            </a:r>
            <a:r>
              <a:rPr b="1" lang="en" sz="1900">
                <a:latin typeface="Arial"/>
                <a:ea typeface="Arial"/>
                <a:cs typeface="Arial"/>
                <a:sym typeface="Arial"/>
              </a:rPr>
              <a:t>export</a:t>
            </a:r>
            <a:r>
              <a:rPr lang="en" sz="1900">
                <a:latin typeface="Arial"/>
                <a:ea typeface="Arial"/>
                <a:cs typeface="Arial"/>
                <a:sym typeface="Arial"/>
              </a:rPr>
              <a:t> in vector formats (EPS, PDF, etc.) any figure you generate</a:t>
            </a:r>
            <a:endParaRPr sz="19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features</a:t>
            </a:r>
            <a:endParaRPr/>
          </a:p>
        </p:txBody>
      </p:sp>
      <p:sp>
        <p:nvSpPr>
          <p:cNvPr id="484" name="Google Shape;484;p77"/>
          <p:cNvSpPr txBox="1"/>
          <p:nvPr>
            <p:ph idx="1" type="body"/>
          </p:nvPr>
        </p:nvSpPr>
        <p:spPr>
          <a:xfrm>
            <a:off x="628650" y="1369219"/>
            <a:ext cx="8145600" cy="3471600"/>
          </a:xfrm>
          <a:prstGeom prst="rect">
            <a:avLst/>
          </a:prstGeom>
          <a:noFill/>
          <a:ln>
            <a:noFill/>
          </a:ln>
        </p:spPr>
        <p:txBody>
          <a:bodyPr anchorCtr="0" anchor="t" bIns="34275" lIns="68575" spcFirstLastPara="1" rIns="68575" wrap="square" tIns="34275">
            <a:noAutofit/>
          </a:bodyPr>
          <a:lstStyle/>
          <a:p>
            <a:pPr indent="-158750" lvl="0" marL="177800" rtl="0" algn="l">
              <a:lnSpc>
                <a:spcPct val="115000"/>
              </a:lnSpc>
              <a:spcBef>
                <a:spcPts val="0"/>
              </a:spcBef>
              <a:spcAft>
                <a:spcPts val="0"/>
              </a:spcAft>
              <a:buClr>
                <a:schemeClr val="dk1"/>
              </a:buClr>
              <a:buSzPts val="1900"/>
              <a:buChar char="•"/>
            </a:pPr>
            <a:r>
              <a:rPr lang="en" sz="1900">
                <a:latin typeface="Arial"/>
                <a:ea typeface="Arial"/>
                <a:cs typeface="Arial"/>
                <a:sym typeface="Arial"/>
              </a:rPr>
              <a:t>Resolution (relevant for quality)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Dot per inch (DPI) (relevant for printing)</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Compression (relevant for storage and quality)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Transparency</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Anti-aliasing</a:t>
            </a:r>
            <a:endParaRPr sz="1900">
              <a:latin typeface="Arial"/>
              <a:ea typeface="Arial"/>
              <a:cs typeface="Arial"/>
              <a:sym typeface="Arial"/>
            </a:endParaRPr>
          </a:p>
          <a:p>
            <a:pPr indent="-158750" lvl="0" marL="177800" rtl="0" algn="l">
              <a:lnSpc>
                <a:spcPct val="115000"/>
              </a:lnSpc>
              <a:spcBef>
                <a:spcPts val="800"/>
              </a:spcBef>
              <a:spcAft>
                <a:spcPts val="0"/>
              </a:spcAft>
              <a:buClr>
                <a:schemeClr val="dk1"/>
              </a:buClr>
              <a:buSzPts val="1900"/>
              <a:buChar char="•"/>
            </a:pPr>
            <a:r>
              <a:rPr lang="en" sz="1900">
                <a:latin typeface="Arial"/>
                <a:ea typeface="Arial"/>
                <a:cs typeface="Arial"/>
                <a:sym typeface="Arial"/>
              </a:rPr>
              <a:t>And many more.</a:t>
            </a:r>
            <a:br>
              <a:rPr lang="en" sz="1900">
                <a:latin typeface="Arial"/>
                <a:ea typeface="Arial"/>
                <a:cs typeface="Arial"/>
                <a:sym typeface="Arial"/>
              </a:rPr>
            </a:br>
            <a:endParaRPr b="1" sz="19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1900">
                <a:latin typeface="Arial"/>
                <a:ea typeface="Arial"/>
                <a:cs typeface="Arial"/>
                <a:sym typeface="Arial"/>
              </a:rPr>
              <a:t>In deep learning normally those features (except </a:t>
            </a:r>
            <a:r>
              <a:rPr b="1" i="1" lang="en" sz="1900">
                <a:latin typeface="Arial"/>
                <a:ea typeface="Arial"/>
                <a:cs typeface="Arial"/>
                <a:sym typeface="Arial"/>
              </a:rPr>
              <a:t>resolution</a:t>
            </a:r>
            <a:r>
              <a:rPr b="1" lang="en" sz="1900">
                <a:latin typeface="Arial"/>
                <a:ea typeface="Arial"/>
                <a:cs typeface="Arial"/>
                <a:sym typeface="Arial"/>
              </a:rPr>
              <a:t>) are irrelevant.</a:t>
            </a:r>
            <a:endParaRPr b="1" sz="19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DPI: an explanation</a:t>
            </a:r>
            <a:endParaRPr/>
          </a:p>
        </p:txBody>
      </p:sp>
      <p:pic>
        <p:nvPicPr>
          <p:cNvPr descr="DPI comparison" id="490" name="Google Shape;490;p78"/>
          <p:cNvPicPr preferRelativeResize="0"/>
          <p:nvPr/>
        </p:nvPicPr>
        <p:blipFill rotWithShape="1">
          <a:blip r:embed="rId3">
            <a:alphaModFix/>
          </a:blip>
          <a:srcRect b="0" l="0" r="0" t="0"/>
          <a:stretch/>
        </p:blipFill>
        <p:spPr>
          <a:xfrm>
            <a:off x="1613807" y="1497894"/>
            <a:ext cx="5916387" cy="2681667"/>
          </a:xfrm>
          <a:prstGeom prst="rect">
            <a:avLst/>
          </a:prstGeom>
          <a:noFill/>
          <a:ln>
            <a:noFill/>
          </a:ln>
        </p:spPr>
      </p:pic>
      <p:sp>
        <p:nvSpPr>
          <p:cNvPr id="491" name="Google Shape;491;p78"/>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https://prinfab.com/blog/viewing-distance-and-dpi/</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DPI: an explanation</a:t>
            </a:r>
            <a:endParaRPr/>
          </a:p>
        </p:txBody>
      </p:sp>
      <p:sp>
        <p:nvSpPr>
          <p:cNvPr id="497" name="Google Shape;497;p79"/>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https://prinfab.com/blog/viewing-distance-and-dpi/</a:t>
            </a:r>
            <a:endParaRPr b="0" i="0" sz="1100" u="none" cap="none" strike="noStrike">
              <a:solidFill>
                <a:srgbClr val="000000"/>
              </a:solidFill>
              <a:latin typeface="Arial"/>
              <a:ea typeface="Arial"/>
              <a:cs typeface="Arial"/>
              <a:sym typeface="Arial"/>
            </a:endParaRPr>
          </a:p>
        </p:txBody>
      </p:sp>
      <p:pic>
        <p:nvPicPr>
          <p:cNvPr id="498" name="Google Shape;498;p79"/>
          <p:cNvPicPr preferRelativeResize="0"/>
          <p:nvPr/>
        </p:nvPicPr>
        <p:blipFill rotWithShape="1">
          <a:blip r:embed="rId3">
            <a:alphaModFix/>
          </a:blip>
          <a:srcRect b="0" l="0" r="0" t="0"/>
          <a:stretch/>
        </p:blipFill>
        <p:spPr>
          <a:xfrm>
            <a:off x="1173900" y="1743375"/>
            <a:ext cx="2866461" cy="1812619"/>
          </a:xfrm>
          <a:prstGeom prst="rect">
            <a:avLst/>
          </a:prstGeom>
          <a:noFill/>
          <a:ln>
            <a:noFill/>
          </a:ln>
        </p:spPr>
      </p:pic>
      <p:pic>
        <p:nvPicPr>
          <p:cNvPr id="499" name="Google Shape;499;p79"/>
          <p:cNvPicPr preferRelativeResize="0"/>
          <p:nvPr/>
        </p:nvPicPr>
        <p:blipFill rotWithShape="1">
          <a:blip r:embed="rId4">
            <a:alphaModFix/>
          </a:blip>
          <a:srcRect b="0" l="0" r="0" t="0"/>
          <a:stretch/>
        </p:blipFill>
        <p:spPr>
          <a:xfrm>
            <a:off x="5633156" y="1881122"/>
            <a:ext cx="1775888" cy="1381256"/>
          </a:xfrm>
          <a:prstGeom prst="rect">
            <a:avLst/>
          </a:prstGeom>
          <a:noFill/>
          <a:ln>
            <a:noFill/>
          </a:ln>
        </p:spPr>
      </p:pic>
      <p:sp>
        <p:nvSpPr>
          <p:cNvPr id="500" name="Google Shape;500;p79"/>
          <p:cNvSpPr txBox="1"/>
          <p:nvPr/>
        </p:nvSpPr>
        <p:spPr>
          <a:xfrm>
            <a:off x="1482131" y="3555994"/>
            <a:ext cx="2250000" cy="4617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8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 220 dpi</a:t>
            </a:r>
            <a:endParaRPr b="0" i="0" sz="1100" u="none" cap="none" strike="noStrike">
              <a:solidFill>
                <a:srgbClr val="000000"/>
              </a:solidFill>
              <a:latin typeface="Arial"/>
              <a:ea typeface="Arial"/>
              <a:cs typeface="Arial"/>
              <a:sym typeface="Arial"/>
            </a:endParaRPr>
          </a:p>
        </p:txBody>
      </p:sp>
      <p:sp>
        <p:nvSpPr>
          <p:cNvPr id="501" name="Google Shape;501;p79"/>
          <p:cNvSpPr txBox="1"/>
          <p:nvPr/>
        </p:nvSpPr>
        <p:spPr>
          <a:xfrm>
            <a:off x="5396100" y="3555994"/>
            <a:ext cx="2250000" cy="461700"/>
          </a:xfrm>
          <a:prstGeom prst="rect">
            <a:avLst/>
          </a:prstGeom>
          <a:noFill/>
          <a:ln>
            <a:noFill/>
          </a:ln>
        </p:spPr>
        <p:txBody>
          <a:bodyPr anchorCtr="0" anchor="t" bIns="68575" lIns="68575" spcFirstLastPara="1" rIns="68575" wrap="square" tIns="68575">
            <a:spAutoFit/>
          </a:bodyPr>
          <a:lstStyle/>
          <a:p>
            <a:pPr indent="0" lvl="0" marL="0" marR="0" rtl="0" algn="ctr">
              <a:lnSpc>
                <a:spcPct val="115000"/>
              </a:lnSpc>
              <a:spcBef>
                <a:spcPts val="8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 400 dpi</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0"/>
          <p:cNvSpPr txBox="1"/>
          <p:nvPr>
            <p:ph type="title"/>
          </p:nvPr>
        </p:nvSpPr>
        <p:spPr>
          <a:xfrm>
            <a:off x="96674" y="81563"/>
            <a:ext cx="7886700" cy="439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en">
                <a:latin typeface="Arial"/>
                <a:ea typeface="Arial"/>
                <a:cs typeface="Arial"/>
                <a:sym typeface="Arial"/>
              </a:rPr>
              <a:t>DPI: an explanation</a:t>
            </a:r>
            <a:endParaRPr/>
          </a:p>
        </p:txBody>
      </p:sp>
      <p:sp>
        <p:nvSpPr>
          <p:cNvPr id="507" name="Google Shape;507;p80"/>
          <p:cNvSpPr txBox="1"/>
          <p:nvPr/>
        </p:nvSpPr>
        <p:spPr>
          <a:xfrm>
            <a:off x="0" y="4947293"/>
            <a:ext cx="457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latin typeface="Arial"/>
                <a:ea typeface="Arial"/>
                <a:cs typeface="Arial"/>
                <a:sym typeface="Arial"/>
              </a:rPr>
              <a:t>https://prinfab.com/blog/viewing-distance-and-dpi/</a:t>
            </a:r>
            <a:endParaRPr sz="1100"/>
          </a:p>
        </p:txBody>
      </p:sp>
      <p:pic>
        <p:nvPicPr>
          <p:cNvPr id="508" name="Google Shape;508;p80"/>
          <p:cNvPicPr preferRelativeResize="0"/>
          <p:nvPr/>
        </p:nvPicPr>
        <p:blipFill rotWithShape="1">
          <a:blip r:embed="rId3">
            <a:alphaModFix/>
          </a:blip>
          <a:srcRect b="0" l="0" r="0" t="0"/>
          <a:stretch/>
        </p:blipFill>
        <p:spPr>
          <a:xfrm>
            <a:off x="495809" y="1268016"/>
            <a:ext cx="7849872" cy="3124370"/>
          </a:xfrm>
          <a:prstGeom prst="rect">
            <a:avLst/>
          </a:prstGeom>
          <a:noFill/>
          <a:ln>
            <a:noFill/>
          </a:ln>
        </p:spPr>
      </p:pic>
      <p:sp>
        <p:nvSpPr>
          <p:cNvPr id="509" name="Google Shape;509;p80"/>
          <p:cNvSpPr txBox="1"/>
          <p:nvPr/>
        </p:nvSpPr>
        <p:spPr>
          <a:xfrm>
            <a:off x="96674" y="522050"/>
            <a:ext cx="60342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Arial"/>
                <a:ea typeface="Arial"/>
                <a:cs typeface="Arial"/>
                <a:sym typeface="Arial"/>
              </a:rPr>
              <a:t>The closer you are to a printed image, the higher you should choose the DPI.</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Characteristics of images</a:t>
            </a:r>
            <a:endParaRPr>
              <a:latin typeface="Arial"/>
              <a:ea typeface="Arial"/>
              <a:cs typeface="Arial"/>
              <a:sym typeface="Arial"/>
            </a:endParaRPr>
          </a:p>
        </p:txBody>
      </p:sp>
      <p:sp>
        <p:nvSpPr>
          <p:cNvPr id="515" name="Google Shape;515;p81"/>
          <p:cNvSpPr txBox="1"/>
          <p:nvPr>
            <p:ph idx="1" type="body"/>
          </p:nvPr>
        </p:nvSpPr>
        <p:spPr>
          <a:xfrm>
            <a:off x="935513" y="1361756"/>
            <a:ext cx="7272900" cy="3098400"/>
          </a:xfrm>
          <a:prstGeom prst="rect">
            <a:avLst/>
          </a:prstGeom>
          <a:noFill/>
          <a:ln>
            <a:noFill/>
          </a:ln>
        </p:spPr>
        <p:txBody>
          <a:bodyPr anchorCtr="0" anchor="t" bIns="34275" lIns="68575" spcFirstLastPara="1" rIns="68575" wrap="square" tIns="34275">
            <a:normAutofit fontScale="92500" lnSpcReduction="10000"/>
          </a:bodyPr>
          <a:lstStyle/>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Image size </a:t>
            </a:r>
            <a:r>
              <a:rPr lang="en" sz="2000">
                <a:latin typeface="Arial"/>
                <a:ea typeface="Arial"/>
                <a:cs typeface="Arial"/>
                <a:sym typeface="Arial"/>
              </a:rPr>
              <a:t>(storage space).</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Image resolution.</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Number of channels </a:t>
            </a:r>
            <a:r>
              <a:rPr lang="en" sz="2000">
                <a:latin typeface="Arial"/>
                <a:ea typeface="Arial"/>
                <a:cs typeface="Arial"/>
                <a:sym typeface="Arial"/>
              </a:rPr>
              <a:t>(1 for </a:t>
            </a:r>
            <a:r>
              <a:rPr b="1" lang="en" sz="2000">
                <a:latin typeface="Arial"/>
                <a:ea typeface="Arial"/>
                <a:cs typeface="Arial"/>
                <a:sym typeface="Arial"/>
              </a:rPr>
              <a:t>B&amp;W</a:t>
            </a:r>
            <a:r>
              <a:rPr lang="en" sz="2000">
                <a:latin typeface="Arial"/>
                <a:ea typeface="Arial"/>
                <a:cs typeface="Arial"/>
                <a:sym typeface="Arial"/>
              </a:rPr>
              <a:t>, 3 for colors in </a:t>
            </a:r>
            <a:r>
              <a:rPr b="1" lang="en" sz="2000">
                <a:latin typeface="Arial"/>
                <a:ea typeface="Arial"/>
                <a:cs typeface="Arial"/>
                <a:sym typeface="Arial"/>
              </a:rPr>
              <a:t>RGB</a:t>
            </a:r>
            <a:r>
              <a:rPr lang="en" sz="2000">
                <a:latin typeface="Arial"/>
                <a:ea typeface="Arial"/>
                <a:cs typeface="Arial"/>
                <a:sym typeface="Arial"/>
              </a:rPr>
              <a:t> and 4 for </a:t>
            </a:r>
            <a:r>
              <a:rPr b="1" lang="en" sz="2000">
                <a:latin typeface="Arial"/>
                <a:ea typeface="Arial"/>
                <a:cs typeface="Arial"/>
                <a:sym typeface="Arial"/>
              </a:rPr>
              <a:t>CMYK</a:t>
            </a:r>
            <a:r>
              <a:rPr lang="en" sz="2000">
                <a:latin typeface="Arial"/>
                <a:ea typeface="Arial"/>
                <a:cs typeface="Arial"/>
                <a:sym typeface="Arial"/>
              </a:rPr>
              <a:t>, 4 with transparency).</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Color Depth </a:t>
            </a:r>
            <a:r>
              <a:rPr lang="en" sz="2000">
                <a:latin typeface="Arial"/>
                <a:ea typeface="Arial"/>
                <a:cs typeface="Arial"/>
                <a:sym typeface="Arial"/>
              </a:rPr>
              <a:t>(number of bits to describe the color).</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Compression</a:t>
            </a:r>
            <a:r>
              <a:rPr lang="en" sz="2000">
                <a:latin typeface="Arial"/>
                <a:ea typeface="Arial"/>
                <a:cs typeface="Arial"/>
                <a:sym typeface="Arial"/>
              </a:rPr>
              <a:t> (lossless or lossy).</a:t>
            </a:r>
            <a:endParaRPr sz="2000">
              <a:latin typeface="Arial"/>
              <a:ea typeface="Arial"/>
              <a:cs typeface="Arial"/>
              <a:sym typeface="Arial"/>
            </a:endParaRPr>
          </a:p>
          <a:p>
            <a:pPr indent="-295275" lvl="0" marL="342900" rtl="0" algn="l">
              <a:lnSpc>
                <a:spcPct val="115000"/>
              </a:lnSpc>
              <a:spcBef>
                <a:spcPts val="800"/>
              </a:spcBef>
              <a:spcAft>
                <a:spcPts val="0"/>
              </a:spcAft>
              <a:buSzPct val="100000"/>
              <a:buFont typeface="Arial"/>
              <a:buChar char="•"/>
            </a:pPr>
            <a:r>
              <a:rPr i="1" lang="en" sz="2000">
                <a:latin typeface="Arial"/>
                <a:ea typeface="Arial"/>
                <a:cs typeface="Arial"/>
                <a:sym typeface="Arial"/>
              </a:rPr>
              <a:t>Specific formats </a:t>
            </a:r>
            <a:r>
              <a:rPr lang="en" sz="2000">
                <a:latin typeface="Arial"/>
                <a:ea typeface="Arial"/>
                <a:cs typeface="Arial"/>
                <a:sym typeface="Arial"/>
              </a:rPr>
              <a:t>(way in which the information is stored digitally).</a:t>
            </a:r>
            <a:endParaRPr sz="2000">
              <a:latin typeface="Arial"/>
              <a:ea typeface="Arial"/>
              <a:cs typeface="Arial"/>
              <a:sym typeface="Arial"/>
            </a:endParaRPr>
          </a:p>
          <a:p>
            <a:pPr indent="-38100" lvl="0" marL="177800" rtl="0" algn="l">
              <a:lnSpc>
                <a:spcPct val="90000"/>
              </a:lnSpc>
              <a:spcBef>
                <a:spcPts val="8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2"/>
          <p:cNvSpPr txBox="1"/>
          <p:nvPr>
            <p:ph type="title"/>
          </p:nvPr>
        </p:nvSpPr>
        <p:spPr>
          <a:xfrm>
            <a:off x="628650" y="273844"/>
            <a:ext cx="65433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Colors and Resolution in Deep Learning: some notes</a:t>
            </a:r>
            <a:endParaRPr/>
          </a:p>
        </p:txBody>
      </p:sp>
      <p:sp>
        <p:nvSpPr>
          <p:cNvPr id="521" name="Google Shape;521;p82"/>
          <p:cNvSpPr txBox="1"/>
          <p:nvPr>
            <p:ph idx="1" type="body"/>
          </p:nvPr>
        </p:nvSpPr>
        <p:spPr>
          <a:xfrm>
            <a:off x="870863" y="1606144"/>
            <a:ext cx="7494900" cy="2771400"/>
          </a:xfrm>
          <a:prstGeom prst="rect">
            <a:avLst/>
          </a:prstGeom>
          <a:noFill/>
          <a:ln>
            <a:noFill/>
          </a:ln>
        </p:spPr>
        <p:txBody>
          <a:bodyPr anchorCtr="0" anchor="t" bIns="34275" lIns="68575" spcFirstLastPara="1" rIns="68575" wrap="square" tIns="34275">
            <a:normAutofit/>
          </a:bodyPr>
          <a:lstStyle/>
          <a:p>
            <a:pPr indent="-279400" lvl="0" marL="342900" rtl="0" algn="l">
              <a:lnSpc>
                <a:spcPct val="105000"/>
              </a:lnSpc>
              <a:spcBef>
                <a:spcPts val="800"/>
              </a:spcBef>
              <a:spcAft>
                <a:spcPts val="0"/>
              </a:spcAft>
              <a:buSzPts val="1800"/>
              <a:buFont typeface="Arial"/>
              <a:buChar char="•"/>
            </a:pPr>
            <a:r>
              <a:rPr b="1" lang="en" sz="1800">
                <a:latin typeface="Arial"/>
                <a:ea typeface="Arial"/>
                <a:cs typeface="Arial"/>
                <a:sym typeface="Arial"/>
              </a:rPr>
              <a:t>Colors</a:t>
            </a:r>
            <a:r>
              <a:rPr lang="en" sz="1800">
                <a:latin typeface="Arial"/>
                <a:ea typeface="Arial"/>
                <a:cs typeface="Arial"/>
                <a:sym typeface="Arial"/>
              </a:rPr>
              <a:t> may contain information and thus increase deep learning model performance.</a:t>
            </a:r>
            <a:endParaRPr sz="1800">
              <a:latin typeface="Arial"/>
              <a:ea typeface="Arial"/>
              <a:cs typeface="Arial"/>
              <a:sym typeface="Arial"/>
            </a:endParaRPr>
          </a:p>
          <a:p>
            <a:pPr indent="-279400" lvl="0" marL="342900" rtl="0" algn="l">
              <a:lnSpc>
                <a:spcPct val="105000"/>
              </a:lnSpc>
              <a:spcBef>
                <a:spcPts val="800"/>
              </a:spcBef>
              <a:spcAft>
                <a:spcPts val="0"/>
              </a:spcAft>
              <a:buSzPts val="1800"/>
              <a:buFont typeface="Arial"/>
              <a:buChar char="•"/>
            </a:pPr>
            <a:r>
              <a:rPr lang="en" sz="1800">
                <a:latin typeface="Arial"/>
                <a:ea typeface="Arial"/>
                <a:cs typeface="Arial"/>
                <a:sym typeface="Arial"/>
              </a:rPr>
              <a:t>This is not always obvious and needs to be </a:t>
            </a:r>
            <a:r>
              <a:rPr b="1" lang="en" sz="1800">
                <a:latin typeface="Arial"/>
                <a:ea typeface="Arial"/>
                <a:cs typeface="Arial"/>
                <a:sym typeface="Arial"/>
              </a:rPr>
              <a:t>tested</a:t>
            </a:r>
            <a:r>
              <a:rPr lang="en" sz="1800">
                <a:latin typeface="Arial"/>
                <a:ea typeface="Arial"/>
                <a:cs typeface="Arial"/>
                <a:sym typeface="Arial"/>
              </a:rPr>
              <a:t>. </a:t>
            </a:r>
            <a:endParaRPr sz="1800">
              <a:latin typeface="Arial"/>
              <a:ea typeface="Arial"/>
              <a:cs typeface="Arial"/>
              <a:sym typeface="Arial"/>
            </a:endParaRPr>
          </a:p>
          <a:p>
            <a:pPr indent="-279400" lvl="0" marL="342900" rtl="0" algn="l">
              <a:lnSpc>
                <a:spcPct val="105000"/>
              </a:lnSpc>
              <a:spcBef>
                <a:spcPts val="800"/>
              </a:spcBef>
              <a:spcAft>
                <a:spcPts val="0"/>
              </a:spcAft>
              <a:buSzPts val="1800"/>
              <a:buFont typeface="Arial"/>
              <a:buChar char="•"/>
            </a:pPr>
            <a:r>
              <a:rPr lang="en" sz="1800">
                <a:latin typeface="Arial"/>
                <a:ea typeface="Arial"/>
                <a:cs typeface="Arial"/>
                <a:sym typeface="Arial"/>
              </a:rPr>
              <a:t>The </a:t>
            </a:r>
            <a:r>
              <a:rPr b="1" lang="en" sz="1800">
                <a:latin typeface="Arial"/>
                <a:ea typeface="Arial"/>
                <a:cs typeface="Arial"/>
                <a:sym typeface="Arial"/>
              </a:rPr>
              <a:t>optimal resolution </a:t>
            </a:r>
            <a:r>
              <a:rPr lang="en" sz="1800">
                <a:latin typeface="Arial"/>
                <a:ea typeface="Arial"/>
                <a:cs typeface="Arial"/>
                <a:sym typeface="Arial"/>
              </a:rPr>
              <a:t>needs also to be tested. Large resolution will lead to very slow training. </a:t>
            </a:r>
            <a:endParaRPr sz="1800">
              <a:latin typeface="Arial"/>
              <a:ea typeface="Arial"/>
              <a:cs typeface="Arial"/>
              <a:sym typeface="Arial"/>
            </a:endParaRPr>
          </a:p>
          <a:p>
            <a:pPr indent="-279400" lvl="0" marL="342900" rtl="0" algn="l">
              <a:lnSpc>
                <a:spcPct val="105000"/>
              </a:lnSpc>
              <a:spcBef>
                <a:spcPts val="800"/>
              </a:spcBef>
              <a:spcAft>
                <a:spcPts val="800"/>
              </a:spcAft>
              <a:buSzPts val="1800"/>
              <a:buFont typeface="Arial"/>
              <a:buChar char="•"/>
            </a:pPr>
            <a:r>
              <a:rPr lang="en" sz="1800">
                <a:latin typeface="Arial"/>
                <a:ea typeface="Arial"/>
                <a:cs typeface="Arial"/>
                <a:sym typeface="Arial"/>
              </a:rPr>
              <a:t>Almost all </a:t>
            </a:r>
            <a:r>
              <a:rPr b="1" lang="en" sz="1800">
                <a:latin typeface="Arial"/>
                <a:ea typeface="Arial"/>
                <a:cs typeface="Arial"/>
                <a:sym typeface="Arial"/>
              </a:rPr>
              <a:t>pre-trained models expected specific resolution</a:t>
            </a:r>
            <a:r>
              <a:rPr lang="en" sz="1800">
                <a:latin typeface="Arial"/>
                <a:ea typeface="Arial"/>
                <a:cs typeface="Arial"/>
                <a:sym typeface="Arial"/>
              </a:rPr>
              <a:t>, so resizing is often needed.</a:t>
            </a:r>
            <a:endParaRPr sz="18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Python libraries for image processing</a:t>
            </a:r>
            <a:endParaRPr/>
          </a:p>
        </p:txBody>
      </p:sp>
      <p:sp>
        <p:nvSpPr>
          <p:cNvPr id="527" name="Google Shape;527;p83"/>
          <p:cNvSpPr txBox="1"/>
          <p:nvPr>
            <p:ph idx="1" type="body"/>
          </p:nvPr>
        </p:nvSpPr>
        <p:spPr>
          <a:xfrm>
            <a:off x="628650" y="1369219"/>
            <a:ext cx="8129400" cy="32634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115000"/>
              </a:lnSpc>
              <a:spcBef>
                <a:spcPts val="0"/>
              </a:spcBef>
              <a:spcAft>
                <a:spcPts val="0"/>
              </a:spcAft>
              <a:buClr>
                <a:schemeClr val="dk1"/>
              </a:buClr>
              <a:buSzPts val="2100"/>
              <a:buNone/>
            </a:pPr>
            <a:r>
              <a:rPr b="1" lang="en" sz="2000">
                <a:latin typeface="Arial"/>
                <a:ea typeface="Arial"/>
                <a:cs typeface="Arial"/>
                <a:sym typeface="Arial"/>
              </a:rPr>
              <a:t>Pillow/PIL </a:t>
            </a:r>
            <a:r>
              <a:rPr lang="en" sz="2000">
                <a:latin typeface="Arial"/>
                <a:ea typeface="Arial"/>
                <a:cs typeface="Arial"/>
                <a:sym typeface="Arial"/>
              </a:rPr>
              <a:t>- </a:t>
            </a:r>
            <a:r>
              <a:rPr lang="en" sz="2000" u="sng">
                <a:solidFill>
                  <a:schemeClr val="hlink"/>
                </a:solidFill>
                <a:latin typeface="Arial"/>
                <a:ea typeface="Arial"/>
                <a:cs typeface="Arial"/>
                <a:sym typeface="Arial"/>
                <a:hlinkClick r:id="rId3"/>
              </a:rPr>
              <a:t>https://pillow.readthedocs.io/en/stable/</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openCV</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4"/>
              </a:rPr>
              <a:t>https://opencv.org/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Scikit-Image</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5"/>
              </a:rPr>
              <a:t>https://scikit-image.org/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Scipy</a:t>
            </a:r>
            <a:r>
              <a:rPr lang="en" sz="2000">
                <a:latin typeface="Arial"/>
                <a:ea typeface="Arial"/>
                <a:cs typeface="Arial"/>
                <a:sym typeface="Arial"/>
              </a:rPr>
              <a:t> (it does offer some machine learning algorithms, as face detection) - </a:t>
            </a:r>
            <a:r>
              <a:rPr lang="en" sz="2000" u="sng">
                <a:solidFill>
                  <a:schemeClr val="hlink"/>
                </a:solidFill>
                <a:latin typeface="Arial"/>
                <a:ea typeface="Arial"/>
                <a:cs typeface="Arial"/>
                <a:sym typeface="Arial"/>
                <a:hlinkClick r:id="rId6"/>
              </a:rPr>
              <a:t>https://scipy.org/</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Mahotas</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7"/>
              </a:rPr>
              <a:t>https://mahotas.readthedocs.io/en/latest/</a:t>
            </a:r>
            <a:r>
              <a:rPr lang="en" sz="2000">
                <a:latin typeface="Arial"/>
                <a:ea typeface="Arial"/>
                <a:cs typeface="Arial"/>
                <a:sym typeface="Arial"/>
              </a:rPr>
              <a:t> </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TensorFlow</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8"/>
              </a:rPr>
              <a:t>https://www.tensorflow.org/api_docs/python/tf/image</a:t>
            </a:r>
            <a:endParaRPr sz="2000">
              <a:latin typeface="Arial"/>
              <a:ea typeface="Arial"/>
              <a:cs typeface="Arial"/>
              <a:sym typeface="Arial"/>
            </a:endParaRPr>
          </a:p>
          <a:p>
            <a:pPr indent="0" lvl="0" marL="0" rtl="0" algn="l">
              <a:lnSpc>
                <a:spcPct val="115000"/>
              </a:lnSpc>
              <a:spcBef>
                <a:spcPts val="800"/>
              </a:spcBef>
              <a:spcAft>
                <a:spcPts val="0"/>
              </a:spcAft>
              <a:buClr>
                <a:schemeClr val="dk1"/>
              </a:buClr>
              <a:buSzPts val="2100"/>
              <a:buNone/>
            </a:pPr>
            <a:r>
              <a:rPr b="1" lang="en" sz="2000">
                <a:latin typeface="Arial"/>
                <a:ea typeface="Arial"/>
                <a:cs typeface="Arial"/>
                <a:sym typeface="Arial"/>
              </a:rPr>
              <a:t>PyTorch</a:t>
            </a:r>
            <a:r>
              <a:rPr lang="en" sz="2000">
                <a:latin typeface="Arial"/>
                <a:ea typeface="Arial"/>
                <a:cs typeface="Arial"/>
                <a:sym typeface="Arial"/>
              </a:rPr>
              <a:t> - </a:t>
            </a:r>
            <a:r>
              <a:rPr lang="en" sz="2000" u="sng">
                <a:solidFill>
                  <a:schemeClr val="hlink"/>
                </a:solidFill>
                <a:latin typeface="Arial"/>
                <a:ea typeface="Arial"/>
                <a:cs typeface="Arial"/>
                <a:sym typeface="Arial"/>
                <a:hlinkClick r:id="rId9"/>
              </a:rPr>
              <a:t>https://docs.pytorch.org/docs/stable/index.html</a:t>
            </a:r>
            <a:r>
              <a:rPr lang="en" sz="2000">
                <a:latin typeface="Arial"/>
                <a:ea typeface="Arial"/>
                <a:cs typeface="Arial"/>
                <a:sym typeface="Arial"/>
              </a:rPr>
              <a:t> </a:t>
            </a:r>
            <a:endParaRPr sz="20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4"/>
          <p:cNvSpPr txBox="1"/>
          <p:nvPr>
            <p:ph type="title"/>
          </p:nvPr>
        </p:nvSpPr>
        <p:spPr>
          <a:xfrm>
            <a:off x="628650" y="164885"/>
            <a:ext cx="6684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Formats for PyTorch</a:t>
            </a:r>
            <a:endParaRPr>
              <a:latin typeface="Arial"/>
              <a:ea typeface="Arial"/>
              <a:cs typeface="Arial"/>
              <a:sym typeface="Arial"/>
            </a:endParaRPr>
          </a:p>
        </p:txBody>
      </p:sp>
      <p:sp>
        <p:nvSpPr>
          <p:cNvPr id="533" name="Google Shape;533;p84"/>
          <p:cNvSpPr txBox="1"/>
          <p:nvPr>
            <p:ph idx="1" type="body"/>
          </p:nvPr>
        </p:nvSpPr>
        <p:spPr>
          <a:xfrm>
            <a:off x="628650" y="1437084"/>
            <a:ext cx="7886700" cy="3263400"/>
          </a:xfrm>
          <a:prstGeom prst="rect">
            <a:avLst/>
          </a:prstGeom>
          <a:noFill/>
          <a:ln>
            <a:noFill/>
          </a:ln>
        </p:spPr>
        <p:txBody>
          <a:bodyPr anchorCtr="0" anchor="t" bIns="34275" lIns="68575" spcFirstLastPara="1" rIns="68575" wrap="square" tIns="34275">
            <a:noAutofit/>
          </a:bodyPr>
          <a:lstStyle/>
          <a:p>
            <a:pPr indent="-279400" lvl="0" marL="342900" rtl="0" algn="l">
              <a:lnSpc>
                <a:spcPct val="171428"/>
              </a:lnSpc>
              <a:spcBef>
                <a:spcPts val="600"/>
              </a:spcBef>
              <a:spcAft>
                <a:spcPts val="0"/>
              </a:spcAft>
              <a:buClr>
                <a:schemeClr val="dk1"/>
              </a:buClr>
              <a:buSzPts val="1800"/>
              <a:buFont typeface="Roboto"/>
              <a:buChar char="●"/>
            </a:pPr>
            <a:r>
              <a:rPr lang="en" sz="1800">
                <a:latin typeface="Arial"/>
                <a:ea typeface="Arial"/>
                <a:cs typeface="Arial"/>
                <a:sym typeface="Arial"/>
              </a:rPr>
              <a:t>PyTorch uses </a:t>
            </a:r>
            <a:r>
              <a:rPr b="1" lang="en" sz="1800">
                <a:latin typeface="Arial"/>
                <a:ea typeface="Arial"/>
                <a:cs typeface="Arial"/>
                <a:sym typeface="Arial"/>
              </a:rPr>
              <a:t>PIL</a:t>
            </a:r>
            <a:r>
              <a:rPr lang="en" sz="1800">
                <a:latin typeface="Arial"/>
                <a:ea typeface="Arial"/>
                <a:cs typeface="Arial"/>
                <a:sym typeface="Arial"/>
              </a:rPr>
              <a:t> (Python Imaging Library) or </a:t>
            </a:r>
            <a:r>
              <a:rPr b="1" lang="en" sz="1800">
                <a:latin typeface="Arial"/>
                <a:ea typeface="Arial"/>
                <a:cs typeface="Arial"/>
                <a:sym typeface="Arial"/>
              </a:rPr>
              <a:t>torchvision</a:t>
            </a:r>
            <a:r>
              <a:rPr lang="en" sz="1800">
                <a:latin typeface="Arial"/>
                <a:ea typeface="Arial"/>
                <a:cs typeface="Arial"/>
                <a:sym typeface="Arial"/>
              </a:rPr>
              <a:t> for image loading</a:t>
            </a:r>
            <a:endParaRPr sz="1800">
              <a:latin typeface="Arial"/>
              <a:ea typeface="Arial"/>
              <a:cs typeface="Arial"/>
              <a:sym typeface="Arial"/>
            </a:endParaRPr>
          </a:p>
          <a:p>
            <a:pPr indent="-279400" lvl="0" marL="342900" rtl="0" algn="l">
              <a:lnSpc>
                <a:spcPct val="171428"/>
              </a:lnSpc>
              <a:spcBef>
                <a:spcPts val="0"/>
              </a:spcBef>
              <a:spcAft>
                <a:spcPts val="0"/>
              </a:spcAft>
              <a:buClr>
                <a:schemeClr val="dk1"/>
              </a:buClr>
              <a:buSzPts val="1800"/>
              <a:buFont typeface="Arial"/>
              <a:buChar char="●"/>
            </a:pPr>
            <a:r>
              <a:rPr b="1" lang="en" sz="1800">
                <a:latin typeface="Arial"/>
                <a:ea typeface="Arial"/>
                <a:cs typeface="Arial"/>
                <a:sym typeface="Arial"/>
              </a:rPr>
              <a:t>Supported Formats:</a:t>
            </a:r>
            <a:endParaRPr b="1" sz="1800">
              <a:latin typeface="Arial"/>
              <a:ea typeface="Arial"/>
              <a:cs typeface="Arial"/>
              <a:sym typeface="Arial"/>
            </a:endParaRPr>
          </a:p>
          <a:p>
            <a:pPr indent="-279400" lvl="1" marL="685800" rtl="0" algn="l">
              <a:lnSpc>
                <a:spcPct val="171428"/>
              </a:lnSpc>
              <a:spcBef>
                <a:spcPts val="0"/>
              </a:spcBef>
              <a:spcAft>
                <a:spcPts val="0"/>
              </a:spcAft>
              <a:buClr>
                <a:schemeClr val="dk1"/>
              </a:buClr>
              <a:buSzPts val="1800"/>
              <a:buFont typeface="Arial"/>
              <a:buChar char="○"/>
            </a:pPr>
            <a:r>
              <a:rPr lang="en">
                <a:latin typeface="Arial"/>
                <a:ea typeface="Arial"/>
                <a:cs typeface="Arial"/>
                <a:sym typeface="Arial"/>
              </a:rPr>
              <a:t>JPEG, PNG, BMP, GIF, TIFF, WebP</a:t>
            </a:r>
            <a:endParaRPr>
              <a:latin typeface="Arial"/>
              <a:ea typeface="Arial"/>
              <a:cs typeface="Arial"/>
              <a:sym typeface="Arial"/>
            </a:endParaRPr>
          </a:p>
          <a:p>
            <a:pPr indent="-279400" lvl="0" marL="342900" rtl="0" algn="l">
              <a:lnSpc>
                <a:spcPct val="171428"/>
              </a:lnSpc>
              <a:spcBef>
                <a:spcPts val="0"/>
              </a:spcBef>
              <a:spcAft>
                <a:spcPts val="0"/>
              </a:spcAft>
              <a:buClr>
                <a:schemeClr val="dk1"/>
              </a:buClr>
              <a:buSzPts val="1800"/>
              <a:buFont typeface="Roboto"/>
              <a:buChar char="●"/>
            </a:pPr>
            <a:r>
              <a:rPr b="1" lang="en" sz="1800">
                <a:latin typeface="Arial"/>
                <a:ea typeface="Arial"/>
                <a:cs typeface="Arial"/>
                <a:sym typeface="Arial"/>
              </a:rPr>
              <a:t>Best Practice:</a:t>
            </a:r>
            <a:r>
              <a:rPr lang="en" sz="1800">
                <a:latin typeface="Arial"/>
                <a:ea typeface="Arial"/>
                <a:cs typeface="Arial"/>
                <a:sym typeface="Arial"/>
              </a:rPr>
              <a:t> Use JPEG or PNG for most tasks due to wide support and efficiency</a:t>
            </a:r>
            <a:endParaRPr sz="18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5"/>
          <p:cNvSpPr txBox="1"/>
          <p:nvPr>
            <p:ph type="title"/>
          </p:nvPr>
        </p:nvSpPr>
        <p:spPr>
          <a:xfrm>
            <a:off x="628650" y="164885"/>
            <a:ext cx="6684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Image Formats for TensorFlow</a:t>
            </a:r>
            <a:endParaRPr>
              <a:latin typeface="Arial"/>
              <a:ea typeface="Arial"/>
              <a:cs typeface="Arial"/>
              <a:sym typeface="Arial"/>
            </a:endParaRPr>
          </a:p>
        </p:txBody>
      </p:sp>
      <p:sp>
        <p:nvSpPr>
          <p:cNvPr id="539" name="Google Shape;539;p85"/>
          <p:cNvSpPr txBox="1"/>
          <p:nvPr>
            <p:ph idx="1" type="body"/>
          </p:nvPr>
        </p:nvSpPr>
        <p:spPr>
          <a:xfrm>
            <a:off x="628650" y="1159162"/>
            <a:ext cx="7886700" cy="3541200"/>
          </a:xfrm>
          <a:prstGeom prst="rect">
            <a:avLst/>
          </a:prstGeom>
          <a:noFill/>
          <a:ln>
            <a:noFill/>
          </a:ln>
        </p:spPr>
        <p:txBody>
          <a:bodyPr anchorCtr="0" anchor="t" bIns="34275" lIns="68575" spcFirstLastPara="1" rIns="68575" wrap="square" tIns="34275">
            <a:normAutofit/>
          </a:bodyPr>
          <a:lstStyle/>
          <a:p>
            <a:pPr indent="-279400" lvl="0" marL="342900" rtl="0" algn="l">
              <a:lnSpc>
                <a:spcPct val="171428"/>
              </a:lnSpc>
              <a:spcBef>
                <a:spcPts val="600"/>
              </a:spcBef>
              <a:spcAft>
                <a:spcPts val="0"/>
              </a:spcAft>
              <a:buSzPts val="1800"/>
              <a:buFont typeface="Arial"/>
              <a:buChar char="•"/>
            </a:pPr>
            <a:r>
              <a:rPr lang="en" sz="1800">
                <a:latin typeface="Arial"/>
                <a:ea typeface="Arial"/>
                <a:cs typeface="Arial"/>
                <a:sym typeface="Arial"/>
              </a:rPr>
              <a:t>TensorFlow uses </a:t>
            </a:r>
            <a:r>
              <a:rPr b="1" lang="en" sz="1800">
                <a:latin typeface="Arial"/>
                <a:ea typeface="Arial"/>
                <a:cs typeface="Arial"/>
                <a:sym typeface="Arial"/>
              </a:rPr>
              <a:t>tf.io</a:t>
            </a:r>
            <a:r>
              <a:rPr lang="en" sz="1800">
                <a:latin typeface="Arial"/>
                <a:ea typeface="Arial"/>
                <a:cs typeface="Arial"/>
                <a:sym typeface="Arial"/>
              </a:rPr>
              <a:t> and </a:t>
            </a:r>
            <a:r>
              <a:rPr b="1" lang="en" sz="1800">
                <a:latin typeface="Arial"/>
                <a:ea typeface="Arial"/>
                <a:cs typeface="Arial"/>
                <a:sym typeface="Arial"/>
              </a:rPr>
              <a:t>tf.image</a:t>
            </a:r>
            <a:r>
              <a:rPr lang="en" sz="1800">
                <a:latin typeface="Arial"/>
                <a:ea typeface="Arial"/>
                <a:cs typeface="Arial"/>
                <a:sym typeface="Arial"/>
              </a:rPr>
              <a:t> modules</a:t>
            </a:r>
            <a:endParaRPr sz="1800">
              <a:latin typeface="Arial"/>
              <a:ea typeface="Arial"/>
              <a:cs typeface="Arial"/>
              <a:sym typeface="Arial"/>
            </a:endParaRPr>
          </a:p>
          <a:p>
            <a:pPr indent="-279400" lvl="0" marL="342900" rtl="0" algn="l">
              <a:lnSpc>
                <a:spcPct val="171428"/>
              </a:lnSpc>
              <a:spcBef>
                <a:spcPts val="0"/>
              </a:spcBef>
              <a:spcAft>
                <a:spcPts val="0"/>
              </a:spcAft>
              <a:buSzPts val="1800"/>
              <a:buFont typeface="Arial"/>
              <a:buChar char="•"/>
            </a:pPr>
            <a:r>
              <a:rPr b="1" lang="en" sz="1800">
                <a:latin typeface="Arial"/>
                <a:ea typeface="Arial"/>
                <a:cs typeface="Arial"/>
                <a:sym typeface="Arial"/>
              </a:rPr>
              <a:t>Supported Formats:</a:t>
            </a:r>
            <a:endParaRPr b="1" sz="1800">
              <a:latin typeface="Arial"/>
              <a:ea typeface="Arial"/>
              <a:cs typeface="Arial"/>
              <a:sym typeface="Arial"/>
            </a:endParaRPr>
          </a:p>
          <a:p>
            <a:pPr indent="-279400" lvl="1" marL="685800" rtl="0" algn="l">
              <a:lnSpc>
                <a:spcPct val="171428"/>
              </a:lnSpc>
              <a:spcBef>
                <a:spcPts val="0"/>
              </a:spcBef>
              <a:spcAft>
                <a:spcPts val="0"/>
              </a:spcAft>
              <a:buSzPts val="1800"/>
              <a:buFont typeface="Arial"/>
              <a:buChar char="•"/>
            </a:pPr>
            <a:r>
              <a:rPr lang="en">
                <a:latin typeface="Arial"/>
                <a:ea typeface="Arial"/>
                <a:cs typeface="Arial"/>
                <a:sym typeface="Arial"/>
              </a:rPr>
              <a:t>JPEG, PNG, BMP, GIF</a:t>
            </a:r>
            <a:endParaRPr>
              <a:latin typeface="Arial"/>
              <a:ea typeface="Arial"/>
              <a:cs typeface="Arial"/>
              <a:sym typeface="Arial"/>
            </a:endParaRPr>
          </a:p>
          <a:p>
            <a:pPr indent="-279400" lvl="0" marL="342900" rtl="0" algn="l">
              <a:lnSpc>
                <a:spcPct val="171428"/>
              </a:lnSpc>
              <a:spcBef>
                <a:spcPts val="0"/>
              </a:spcBef>
              <a:spcAft>
                <a:spcPts val="0"/>
              </a:spcAft>
              <a:buSzPts val="1800"/>
              <a:buFont typeface="Arial"/>
              <a:buChar char="•"/>
            </a:pPr>
            <a:r>
              <a:rPr b="1" lang="en" sz="1800">
                <a:latin typeface="Arial"/>
                <a:ea typeface="Arial"/>
                <a:cs typeface="Arial"/>
                <a:sym typeface="Arial"/>
              </a:rPr>
              <a:t>TFRecord:</a:t>
            </a:r>
            <a:r>
              <a:rPr lang="en" sz="1800">
                <a:latin typeface="Arial"/>
                <a:ea typeface="Arial"/>
                <a:cs typeface="Arial"/>
                <a:sym typeface="Arial"/>
              </a:rPr>
              <a:t> TensorFlow’s own binary format for large datasets</a:t>
            </a:r>
            <a:br>
              <a:rPr lang="en" sz="1800">
                <a:latin typeface="Arial"/>
                <a:ea typeface="Arial"/>
                <a:cs typeface="Arial"/>
                <a:sym typeface="Arial"/>
              </a:rPr>
            </a:br>
            <a:endParaRPr sz="1800">
              <a:latin typeface="Arial"/>
              <a:ea typeface="Arial"/>
              <a:cs typeface="Arial"/>
              <a:sym typeface="Arial"/>
            </a:endParaRPr>
          </a:p>
          <a:p>
            <a:pPr indent="0" lvl="0" marL="0" rtl="0" algn="l">
              <a:lnSpc>
                <a:spcPct val="95000"/>
              </a:lnSpc>
              <a:spcBef>
                <a:spcPts val="800"/>
              </a:spcBef>
              <a:spcAft>
                <a:spcPts val="0"/>
              </a:spcAft>
              <a:buClr>
                <a:schemeClr val="dk1"/>
              </a:buClr>
              <a:buSzPts val="2100"/>
              <a:buNone/>
            </a:pPr>
            <a:r>
              <a:rPr b="1" lang="en" sz="1800">
                <a:latin typeface="Arial"/>
                <a:ea typeface="Arial"/>
                <a:cs typeface="Arial"/>
                <a:sym typeface="Arial"/>
              </a:rPr>
              <a:t>The datatypes are all Tensors, thus the code is optimized and no conversions are needed.</a:t>
            </a:r>
            <a:endParaRPr b="1" sz="18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86"/>
          <p:cNvSpPr txBox="1"/>
          <p:nvPr>
            <p:ph type="title"/>
          </p:nvPr>
        </p:nvSpPr>
        <p:spPr>
          <a:xfrm>
            <a:off x="479563" y="1980890"/>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Arial"/>
              <a:buNone/>
            </a:pPr>
            <a:r>
              <a:rPr lang="en">
                <a:latin typeface="Arial"/>
                <a:ea typeface="Arial"/>
                <a:cs typeface="Arial"/>
                <a:sym typeface="Arial"/>
              </a:rPr>
              <a:t>Code Discussion</a:t>
            </a:r>
            <a:endParaRPr/>
          </a:p>
        </p:txBody>
      </p:sp>
      <p:sp>
        <p:nvSpPr>
          <p:cNvPr id="545" name="Google Shape;545;p86"/>
          <p:cNvSpPr txBox="1"/>
          <p:nvPr/>
        </p:nvSpPr>
        <p:spPr>
          <a:xfrm>
            <a:off x="479563" y="2807456"/>
            <a:ext cx="3194400" cy="3693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Introduction to Image Processing</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