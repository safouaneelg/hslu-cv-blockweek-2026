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Ulj/KXK+wflwz/ORf/m2lNiUt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dda86c838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bdda86c838_0_4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dda86c838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bdda86c838_0_4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dda86c838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bdda86c838_0_4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dda86c838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bdda86c838_0_4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da86c838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bdda86c838_0_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dda86c838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bdda86c838_0_5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dda86c838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CH">
                <a:solidFill>
                  <a:schemeClr val="dk1"/>
                </a:solidFill>
              </a:rPr>
              <a:t>A standard network layer tries to learn a direct mapping, let's call it H(x), from an input x. A residual block, however, reformulates this. Instead of learning H(x) directly, it learns a </a:t>
            </a:r>
            <a:r>
              <a:rPr b="1" lang="en-CH">
                <a:solidFill>
                  <a:schemeClr val="dk1"/>
                </a:solidFill>
              </a:rPr>
              <a:t>residual function</a:t>
            </a:r>
            <a:r>
              <a:rPr lang="en-CH">
                <a:solidFill>
                  <a:schemeClr val="dk1"/>
                </a:solidFill>
              </a:rPr>
              <a:t>, F(x), which is the </a:t>
            </a:r>
            <a:r>
              <a:rPr i="1" lang="en-CH">
                <a:solidFill>
                  <a:schemeClr val="dk1"/>
                </a:solidFill>
              </a:rPr>
              <a:t>difference</a:t>
            </a:r>
            <a:r>
              <a:rPr lang="en-CH">
                <a:solidFill>
                  <a:schemeClr val="dk1"/>
                </a:solidFill>
              </a:rPr>
              <a:t> between the desired output and the input.</a:t>
            </a:r>
            <a:endParaRPr/>
          </a:p>
        </p:txBody>
      </p:sp>
      <p:sp>
        <p:nvSpPr>
          <p:cNvPr id="137" name="Google Shape;137;g3bdda86c838_0_5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da86c838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dda86c838_0_5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bdda86c838_0_53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bdda86c838_0_53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g3bdda86c838_0_53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bdda86c838_0_53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bdda86c838_0_5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bdda86c838_0_5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bdda86c838_0_5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3bdda86c838_0_5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bdda86c838_0_5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bdda86c838_0_5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dda86c838_0_55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bdda86c838_0_551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g3bdda86c838_0_5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bdda86c838_0_5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bdda86c838_0_5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dda86c838_0_5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bdda86c838_0_55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g3bdda86c838_0_55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bdda86c838_0_5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bdda86c838_0_5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3bdda86c838_0_5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dda86c838_0_564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bdda86c838_0_564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g3bdda86c838_0_564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g3bdda86c838_0_564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g3bdda86c838_0_564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g3bdda86c838_0_56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bdda86c838_0_56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bdda86c838_0_5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dda86c838_0_5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bdda86c838_0_57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bdda86c838_0_57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bdda86c838_0_5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dda86c838_0_57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bdda86c838_0_57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bdda86c838_0_57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dda86c838_0_58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bdda86c838_0_58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g3bdda86c838_0_58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g3bdda86c838_0_58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bdda86c838_0_58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bdda86c838_0_58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dda86c838_0_58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bdda86c838_0_589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g3bdda86c838_0_589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g3bdda86c838_0_58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bdda86c838_0_58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bdda86c838_0_58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dda86c838_0_59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bdda86c838_0_596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g3bdda86c838_0_59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bdda86c838_0_59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bdda86c838_0_59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dda86c838_0_60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bdda86c838_0_60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g3bdda86c838_0_60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bdda86c838_0_60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bdda86c838_0_60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dda86c838_0_5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bdda86c838_0_53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bdda86c838_0_5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bdda86c838_0_5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bdda86c838_0_5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H"/>
              <a:t>‹#›</a:t>
            </a:fld>
            <a:endParaRPr/>
          </a:p>
        </p:txBody>
      </p:sp>
      <p:pic>
        <p:nvPicPr>
          <p:cNvPr descr="Download HSLU Hochschule Luzern 2022 Logo PNG and Vector (PDF, SVG, Ai,  EPS) Free" id="11" name="Google Shape;11;g3bdda86c838_0_532"/>
          <p:cNvPicPr preferRelativeResize="0"/>
          <p:nvPr/>
        </p:nvPicPr>
        <p:blipFill rotWithShape="1">
          <a:blip r:embed="rId1">
            <a:alphaModFix/>
          </a:blip>
          <a:srcRect b="32798" l="0" r="0" t="32694"/>
          <a:stretch/>
        </p:blipFill>
        <p:spPr>
          <a:xfrm>
            <a:off x="9939130" y="0"/>
            <a:ext cx="2252870" cy="5800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arxiv.org/pdf/1409.1556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hyperlink" Target="https://arxiv.org/abs/1512.03385" TargetMode="External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da86c838_0_47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CH">
                <a:latin typeface="Arial"/>
                <a:ea typeface="Arial"/>
                <a:cs typeface="Arial"/>
                <a:sym typeface="Arial"/>
              </a:rPr>
              <a:t>Computer Vision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bdda86c838_0_473"/>
          <p:cNvSpPr txBox="1"/>
          <p:nvPr>
            <p:ph idx="1" type="subTitle"/>
          </p:nvPr>
        </p:nvSpPr>
        <p:spPr>
          <a:xfrm>
            <a:off x="1524000" y="3823980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CH">
                <a:latin typeface="Arial"/>
                <a:ea typeface="Arial"/>
                <a:cs typeface="Arial"/>
                <a:sym typeface="Arial"/>
              </a:rPr>
              <a:t>Transfer Learning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da86c838_0_478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CH" sz="3600">
                <a:latin typeface="Arial"/>
                <a:ea typeface="Arial"/>
                <a:cs typeface="Arial"/>
                <a:sym typeface="Arial"/>
              </a:rPr>
              <a:t>Biggest trick in computer vision and deep learning!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96" name="Google Shape;96;g3bdda86c838_0_48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6259" y="1126625"/>
            <a:ext cx="5244000" cy="484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bdda86c838_0_482"/>
          <p:cNvSpPr txBox="1"/>
          <p:nvPr>
            <p:ph type="title"/>
          </p:nvPr>
        </p:nvSpPr>
        <p:spPr>
          <a:xfrm>
            <a:off x="566259" y="154919"/>
            <a:ext cx="105156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CH">
                <a:latin typeface="Arial"/>
                <a:ea typeface="Arial"/>
                <a:cs typeface="Arial"/>
                <a:sym typeface="Arial"/>
              </a:rPr>
              <a:t>Transfer Learning</a:t>
            </a:r>
            <a:endParaRPr/>
          </a:p>
        </p:txBody>
      </p:sp>
      <p:sp>
        <p:nvSpPr>
          <p:cNvPr id="98" name="Google Shape;98;g3bdda86c838_0_482"/>
          <p:cNvSpPr txBox="1"/>
          <p:nvPr/>
        </p:nvSpPr>
        <p:spPr>
          <a:xfrm>
            <a:off x="378372" y="6395304"/>
            <a:ext cx="1106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H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Quelle: Michelucci, U. (2019). </a:t>
            </a:r>
            <a:r>
              <a:rPr b="0" i="1" lang="en-CH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applied deep learning: convolutional neural networks and object detection</a:t>
            </a:r>
            <a:r>
              <a:rPr b="0" i="0" lang="en-CH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Apress.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bdda86c838_0_482"/>
          <p:cNvSpPr/>
          <p:nvPr/>
        </p:nvSpPr>
        <p:spPr>
          <a:xfrm>
            <a:off x="3059188" y="1099915"/>
            <a:ext cx="5338500" cy="1159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bdda86c838_0_482"/>
          <p:cNvSpPr txBox="1"/>
          <p:nvPr/>
        </p:nvSpPr>
        <p:spPr>
          <a:xfrm>
            <a:off x="1849821" y="1495153"/>
            <a:ext cx="8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bdda86c838_0_482"/>
          <p:cNvSpPr/>
          <p:nvPr/>
        </p:nvSpPr>
        <p:spPr>
          <a:xfrm>
            <a:off x="3059188" y="2259723"/>
            <a:ext cx="5338500" cy="1050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bdda86c838_0_482"/>
          <p:cNvSpPr txBox="1"/>
          <p:nvPr/>
        </p:nvSpPr>
        <p:spPr>
          <a:xfrm>
            <a:off x="1849821" y="2600575"/>
            <a:ext cx="8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bdda86c838_0_482"/>
          <p:cNvSpPr/>
          <p:nvPr/>
        </p:nvSpPr>
        <p:spPr>
          <a:xfrm>
            <a:off x="3059188" y="3310758"/>
            <a:ext cx="5338500" cy="1250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bdda86c838_0_482"/>
          <p:cNvSpPr txBox="1"/>
          <p:nvPr/>
        </p:nvSpPr>
        <p:spPr>
          <a:xfrm>
            <a:off x="1849821" y="3751457"/>
            <a:ext cx="8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bdda86c838_0_482"/>
          <p:cNvSpPr/>
          <p:nvPr/>
        </p:nvSpPr>
        <p:spPr>
          <a:xfrm>
            <a:off x="3059188" y="4570416"/>
            <a:ext cx="5338500" cy="1398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bdda86c838_0_482"/>
          <p:cNvSpPr txBox="1"/>
          <p:nvPr/>
        </p:nvSpPr>
        <p:spPr>
          <a:xfrm>
            <a:off x="1849821" y="5084688"/>
            <a:ext cx="8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bdda86c838_0_482"/>
          <p:cNvSpPr txBox="1"/>
          <p:nvPr/>
        </p:nvSpPr>
        <p:spPr>
          <a:xfrm>
            <a:off x="8755618" y="4211948"/>
            <a:ext cx="3027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approach, the entire network has to be trained several times (to tune the hyperparameters). This can be slow.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dda86c838_0_497"/>
          <p:cNvSpPr txBox="1"/>
          <p:nvPr>
            <p:ph type="title"/>
          </p:nvPr>
        </p:nvSpPr>
        <p:spPr>
          <a:xfrm>
            <a:off x="566259" y="273120"/>
            <a:ext cx="8379000" cy="10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CH">
                <a:latin typeface="Arial"/>
                <a:ea typeface="Arial"/>
                <a:cs typeface="Arial"/>
                <a:sym typeface="Arial"/>
              </a:rPr>
              <a:t>We can make transfer learning more efficient.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bdda86c838_0_497"/>
          <p:cNvSpPr txBox="1"/>
          <p:nvPr/>
        </p:nvSpPr>
        <p:spPr>
          <a:xfrm>
            <a:off x="378372" y="6395304"/>
            <a:ext cx="1106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CH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Quelle: Michelucci, U. (2019). </a:t>
            </a:r>
            <a:r>
              <a:rPr b="0" i="1" lang="en-CH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applied deep learning: convolutional neural networks and object detection</a:t>
            </a:r>
            <a:r>
              <a:rPr b="0" i="0" lang="en-CH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Apress.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&#10;&#10;Description automatically generated" id="114" name="Google Shape;114;g3bdda86c838_0_4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200" y="1603177"/>
            <a:ext cx="11531600" cy="426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dda86c838_0_503"/>
          <p:cNvSpPr txBox="1"/>
          <p:nvPr>
            <p:ph type="title"/>
          </p:nvPr>
        </p:nvSpPr>
        <p:spPr>
          <a:xfrm>
            <a:off x="593124" y="205080"/>
            <a:ext cx="8223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CH">
                <a:latin typeface="Arial"/>
                <a:ea typeface="Arial"/>
                <a:cs typeface="Arial"/>
                <a:sym typeface="Arial"/>
              </a:rPr>
              <a:t>A few numbers (how to become more efficient)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120" name="Google Shape;120;g3bdda86c838_0_50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119" y="2355728"/>
            <a:ext cx="2674800" cy="24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bdda86c838_0_503"/>
          <p:cNvSpPr txBox="1"/>
          <p:nvPr/>
        </p:nvSpPr>
        <p:spPr>
          <a:xfrm>
            <a:off x="1357184" y="1663749"/>
            <a:ext cx="26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 1 (Naïve)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bdda86c838_0_503"/>
          <p:cNvSpPr txBox="1"/>
          <p:nvPr/>
        </p:nvSpPr>
        <p:spPr>
          <a:xfrm>
            <a:off x="1088874" y="5147567"/>
            <a:ext cx="30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EPOCH 🡪 4.5 minutes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bdda86c838_0_503"/>
          <p:cNvSpPr txBox="1"/>
          <p:nvPr/>
        </p:nvSpPr>
        <p:spPr>
          <a:xfrm>
            <a:off x="8069251" y="1663749"/>
            <a:ext cx="267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 2 (Smart)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bdda86c838_0_503"/>
          <p:cNvSpPr txBox="1"/>
          <p:nvPr/>
        </p:nvSpPr>
        <p:spPr>
          <a:xfrm>
            <a:off x="7482101" y="5147567"/>
            <a:ext cx="30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EPOCH 🡪 6 seconds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125" name="Google Shape;125;g3bdda86c838_0_5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9869" y="2510581"/>
            <a:ext cx="4713931" cy="174436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bdda86c838_0_503"/>
          <p:cNvSpPr txBox="1"/>
          <p:nvPr/>
        </p:nvSpPr>
        <p:spPr>
          <a:xfrm>
            <a:off x="838200" y="5516899"/>
            <a:ext cx="30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EPOCH 🡪 7.5 hours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bdda86c838_0_503"/>
          <p:cNvSpPr txBox="1"/>
          <p:nvPr/>
        </p:nvSpPr>
        <p:spPr>
          <a:xfrm>
            <a:off x="7234966" y="5516899"/>
            <a:ext cx="30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EPOCH 🡪 10 minutes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bdda86c838_0_503"/>
          <p:cNvSpPr txBox="1"/>
          <p:nvPr/>
        </p:nvSpPr>
        <p:spPr>
          <a:xfrm>
            <a:off x="593124" y="6149252"/>
            <a:ext cx="11504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CH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numbers come from a test with a "dog/cat" image dataset of about 800 MB. All information can be found in Michelucci, U. (2019). Advanced applied deep learning: convolutional neural networks and object detection. Apress.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bdda86c838_0_516"/>
          <p:cNvPicPr preferRelativeResize="0"/>
          <p:nvPr/>
        </p:nvPicPr>
        <p:blipFill rotWithShape="1">
          <a:blip r:embed="rId3">
            <a:alphaModFix/>
          </a:blip>
          <a:srcRect b="0" l="0" r="3464" t="0"/>
          <a:stretch/>
        </p:blipFill>
        <p:spPr>
          <a:xfrm>
            <a:off x="684775" y="167900"/>
            <a:ext cx="9212874" cy="57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bdda86c838_0_516"/>
          <p:cNvSpPr txBox="1"/>
          <p:nvPr/>
        </p:nvSpPr>
        <p:spPr>
          <a:xfrm>
            <a:off x="2636668" y="6178858"/>
            <a:ext cx="546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Paper: </a:t>
            </a:r>
            <a:r>
              <a:rPr b="0" i="0" lang="en-CH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https://arxiv.org/pdf/1409.1556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bdda86c838_0_5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97" y="508431"/>
            <a:ext cx="9477375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bdda86c838_0_521"/>
          <p:cNvSpPr txBox="1"/>
          <p:nvPr/>
        </p:nvSpPr>
        <p:spPr>
          <a:xfrm>
            <a:off x="3613212" y="5894773"/>
            <a:ext cx="520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Paper: </a:t>
            </a:r>
            <a:r>
              <a:rPr b="0" i="0" lang="en-CH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https://arxiv.org/abs/1512.03385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H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bdda86c838_0_5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8067" y="781235"/>
            <a:ext cx="3535446" cy="3277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da86c838_0_527"/>
          <p:cNvSpPr txBox="1"/>
          <p:nvPr>
            <p:ph type="title"/>
          </p:nvPr>
        </p:nvSpPr>
        <p:spPr>
          <a:xfrm>
            <a:off x="639417" y="26411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CH">
                <a:latin typeface="Arial"/>
                <a:ea typeface="Arial"/>
                <a:cs typeface="Arial"/>
                <a:sym typeface="Arial"/>
              </a:rPr>
              <a:t>Code Discussion</a:t>
            </a:r>
            <a:endParaRPr/>
          </a:p>
        </p:txBody>
      </p:sp>
      <p:sp>
        <p:nvSpPr>
          <p:cNvPr id="147" name="Google Shape;147;g3bdda86c838_0_527"/>
          <p:cNvSpPr txBox="1"/>
          <p:nvPr/>
        </p:nvSpPr>
        <p:spPr>
          <a:xfrm>
            <a:off x="639417" y="3743275"/>
            <a:ext cx="42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CH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Transfer Learning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2023-08-28T05:17:29Z</dcterms:created>
  <dc:creator>Michelucci Umberto HSLU 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2023-08-28T05:17:43Z</vt:lpwstr>
  </property>
  <property fmtid="{D5CDD505-2E9C-101B-9397-08002B2CF9AE}" pid="4" name="MSIP_Label_e8b0afbd-3cf7-4707-aee4-8dc9d855de29_Method">
    <vt:lpwstr>Standard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bffdf0f9-6f3f-42d9-a5b4-cb668bacc803</vt:lpwstr>
  </property>
  <property fmtid="{D5CDD505-2E9C-101B-9397-08002B2CF9AE}" pid="8" name="MSIP_Label_e8b0afbd-3cf7-4707-aee4-8dc9d855de29_ContentBits">
    <vt:lpwstr>0</vt:lpwstr>
  </property>
</Properties>
</file>