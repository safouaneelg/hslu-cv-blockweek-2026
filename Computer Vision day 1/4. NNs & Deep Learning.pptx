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  <p:sldMasterId id="214748368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Roboto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  <p:embeddedFont>
      <p:font typeface="Karla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OpenSans-bold.fntdata"/><Relationship Id="rId45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italic.fntdata"/><Relationship Id="rId49" Type="http://schemas.openxmlformats.org/officeDocument/2006/relationships/font" Target="fonts/Karl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Raleway-regular.fntdata"/><Relationship Id="rId36" Type="http://schemas.openxmlformats.org/officeDocument/2006/relationships/slide" Target="slides/slide29.xml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Karla-italic.fntdata"/><Relationship Id="rId50" Type="http://schemas.openxmlformats.org/officeDocument/2006/relationships/font" Target="fonts/Karla-bold.fntdata"/><Relationship Id="rId52" Type="http://schemas.openxmlformats.org/officeDocument/2006/relationships/font" Target="fonts/Karla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5775a6e83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45775a6e83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b3281ca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bb3281ca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bb3281c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bb3281c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dd6c88440_0_3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bdd6c88440_0_358:notes"/>
          <p:cNvSpPr/>
          <p:nvPr>
            <p:ph idx="2" type="sldImg"/>
          </p:nvPr>
        </p:nvSpPr>
        <p:spPr>
          <a:xfrm>
            <a:off x="38112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dd6c88440_0_3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3bdd6c88440_0_366:notes"/>
          <p:cNvSpPr/>
          <p:nvPr>
            <p:ph idx="2" type="sldImg"/>
          </p:nvPr>
        </p:nvSpPr>
        <p:spPr>
          <a:xfrm>
            <a:off x="38112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bb3281c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bb3281c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dd6c88440_0_3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bdd6c88440_0_374:notes"/>
          <p:cNvSpPr/>
          <p:nvPr>
            <p:ph idx="2" type="sldImg"/>
          </p:nvPr>
        </p:nvSpPr>
        <p:spPr>
          <a:xfrm>
            <a:off x="38112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dd6c88440_0_3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Multiple outputs mean multiclass classification. x as a vector means one observation</a:t>
            </a:r>
            <a:endParaRPr/>
          </a:p>
        </p:txBody>
      </p:sp>
      <p:sp>
        <p:nvSpPr>
          <p:cNvPr id="218" name="Google Shape;218;g3bdd6c88440_0_382:notes"/>
          <p:cNvSpPr/>
          <p:nvPr>
            <p:ph idx="2" type="sldImg"/>
          </p:nvPr>
        </p:nvSpPr>
        <p:spPr>
          <a:xfrm>
            <a:off x="38112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dd6c88440_0_3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X matrix contains many observations</a:t>
            </a:r>
            <a:endParaRPr/>
          </a:p>
        </p:txBody>
      </p:sp>
      <p:sp>
        <p:nvSpPr>
          <p:cNvPr id="227" name="Google Shape;227;g3bdd6c88440_0_390:notes"/>
          <p:cNvSpPr/>
          <p:nvPr>
            <p:ph idx="2" type="sldImg"/>
          </p:nvPr>
        </p:nvSpPr>
        <p:spPr>
          <a:xfrm>
            <a:off x="381128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dd6c88440_0_627:notes"/>
          <p:cNvSpPr/>
          <p:nvPr>
            <p:ph idx="2" type="sldImg"/>
          </p:nvPr>
        </p:nvSpPr>
        <p:spPr>
          <a:xfrm>
            <a:off x="1128720" y="685800"/>
            <a:ext cx="460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dd6c88440_0_6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dd6c88440_0_7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bdd6c88440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dd6c88440_0_7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bdd6c88440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Draw on the blackboard all the components of a neuron and the 3 components of a model and ask students which part is relevant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dd6c88440_0_7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bdd6c88440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bb3281c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bb3281c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bdd6c88440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bdd6c88440_0_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dd6c88440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bdd6c88440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dd6c88440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dd6c88440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dd6c88440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dd6c88440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dd6c88440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dd6c88440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dd6c88440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bdd6c88440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dd6c88440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bdd6c88440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dd6c88440_0_9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bdd6c88440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dd6c88440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dd6c88440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dd6c88440_0_1240:notes"/>
          <p:cNvSpPr/>
          <p:nvPr>
            <p:ph idx="2" type="sldImg"/>
          </p:nvPr>
        </p:nvSpPr>
        <p:spPr>
          <a:xfrm>
            <a:off x="1128720" y="685800"/>
            <a:ext cx="460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dd6c88440_0_12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dd6c88440_0_1250:notes"/>
          <p:cNvSpPr/>
          <p:nvPr>
            <p:ph idx="2" type="sldImg"/>
          </p:nvPr>
        </p:nvSpPr>
        <p:spPr>
          <a:xfrm>
            <a:off x="1128720" y="685800"/>
            <a:ext cx="460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dd6c88440_0_12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dd6c88440_0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bdd6c88440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dd6c88440_0_1388:notes"/>
          <p:cNvSpPr/>
          <p:nvPr>
            <p:ph idx="2" type="sldImg"/>
          </p:nvPr>
        </p:nvSpPr>
        <p:spPr>
          <a:xfrm>
            <a:off x="1128720" y="685800"/>
            <a:ext cx="460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dd6c88440_0_13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bdd6c88440_0_1397:notes"/>
          <p:cNvSpPr/>
          <p:nvPr>
            <p:ph idx="2" type="sldImg"/>
          </p:nvPr>
        </p:nvSpPr>
        <p:spPr>
          <a:xfrm>
            <a:off x="1128720" y="685800"/>
            <a:ext cx="460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bdd6c88440_0_13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dd6c88440_0_1406:notes"/>
          <p:cNvSpPr/>
          <p:nvPr>
            <p:ph idx="2" type="sldImg"/>
          </p:nvPr>
        </p:nvSpPr>
        <p:spPr>
          <a:xfrm>
            <a:off x="1128720" y="685800"/>
            <a:ext cx="4600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dd6c88440_0_14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292625"/>
            <a:ext cx="8023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1" sz="2100">
                <a:solidFill>
                  <a:srgbClr val="3366C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928100"/>
            <a:ext cx="85206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434363" y="4786313"/>
            <a:ext cx="548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90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3848" y="1450340"/>
            <a:ext cx="70704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Karla"/>
              <a:buNone/>
              <a:defRPr b="1" i="0" sz="1900" u="none" cap="none" strike="noStrike">
                <a:latin typeface="Karla"/>
                <a:ea typeface="Karla"/>
                <a:cs typeface="Karla"/>
                <a:sym typeface="Karl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1247697" y="2619970"/>
            <a:ext cx="5822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5080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5080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5080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5080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5080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5080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5080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5080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5080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0">
  <p:cSld name="Title and Content 0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Open Sans"/>
              <a:buNone/>
              <a:defRPr i="0" sz="1900" u="none" cap="none" strike="noStrike"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415899" y="1076059"/>
            <a:ext cx="74862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5080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5080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5080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5080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5080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5080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5080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5080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5080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415899" y="1076059"/>
            <a:ext cx="74862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300"/>
              <a:buFont typeface="Open Sans"/>
              <a:buNone/>
              <a:defRPr i="0" sz="13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5" name="Google Shape;145;p29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5080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5080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5080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5080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5080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5080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5080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5080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5080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i="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Open Sans"/>
              <a:buNone/>
              <a:defRPr i="0" sz="1900" u="none" cap="none" strike="noStrike">
                <a:solidFill>
                  <a:srgbClr val="F5606E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415899" y="1076059"/>
            <a:ext cx="36183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033"/>
              </a:buClr>
              <a:buSzPts val="1100"/>
              <a:buFont typeface="Open Sans"/>
              <a:buNone/>
              <a:defRPr i="0" sz="1100" u="none" cap="none" strike="noStrike">
                <a:solidFill>
                  <a:srgbClr val="2D303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49" name="Google Shape;149;p30"/>
          <p:cNvSpPr/>
          <p:nvPr/>
        </p:nvSpPr>
        <p:spPr>
          <a:xfrm>
            <a:off x="311724" y="4770841"/>
            <a:ext cx="33591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2016 Propulsion Academy AG Technoparkstrasse 1, 8005  Zurich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5080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5080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5080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5080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5080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5080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5080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5080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5080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  <a:defRPr b="1" i="0" sz="1000" u="none" cap="none" strike="noStrike">
                <a:solidFill>
                  <a:srgbClr val="3366CC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6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59" name="Google Shape;159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64" name="Google Shape;164;p3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65" name="Google Shape;165;p3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ownload HSLU Hochschule Luzern 2022 Logo PNG and Vector (PDF, SVG, Ai,  EPS) Free" id="56" name="Google Shape;56;p13"/>
          <p:cNvPicPr preferRelativeResize="0"/>
          <p:nvPr/>
        </p:nvPicPr>
        <p:blipFill rotWithShape="1">
          <a:blip r:embed="rId1">
            <a:alphaModFix/>
          </a:blip>
          <a:srcRect b="32795" l="0" r="0" t="32698"/>
          <a:stretch/>
        </p:blipFill>
        <p:spPr>
          <a:xfrm>
            <a:off x="7317873" y="158025"/>
            <a:ext cx="1689653" cy="4350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buSzPts val="1900"/>
              <a:buFont typeface="Open Sans"/>
              <a:buNone/>
              <a:defRPr b="1" i="0" sz="1900" u="none" cap="none" strike="noStrike">
                <a:solidFill>
                  <a:srgbClr val="3366C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  <a:defRPr b="1" i="0" sz="1900" u="none" cap="none" strike="noStrike">
                <a:solidFill>
                  <a:srgbClr val="F5606E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415899" y="1076059"/>
            <a:ext cx="7486200" cy="30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  <a:defRPr b="0" i="0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Download HSLU Hochschule Luzern 2022 Logo PNG and Vector (PDF, SVG, Ai,  EPS) Free" id="133" name="Google Shape;133;p26"/>
          <p:cNvPicPr preferRelativeResize="0"/>
          <p:nvPr/>
        </p:nvPicPr>
        <p:blipFill rotWithShape="1">
          <a:blip r:embed="rId1">
            <a:alphaModFix/>
          </a:blip>
          <a:srcRect b="32795" l="0" r="0" t="32698"/>
          <a:stretch/>
        </p:blipFill>
        <p:spPr>
          <a:xfrm>
            <a:off x="7317873" y="158025"/>
            <a:ext cx="1689653" cy="4350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9"/>
          <p:cNvSpPr txBox="1"/>
          <p:nvPr>
            <p:ph type="title"/>
          </p:nvPr>
        </p:nvSpPr>
        <p:spPr>
          <a:xfrm>
            <a:off x="662275" y="199451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" sz="3900">
                <a:latin typeface="Arial"/>
                <a:ea typeface="Arial"/>
                <a:cs typeface="Arial"/>
                <a:sym typeface="Arial"/>
              </a:rPr>
              <a:t>NNs &amp; Deep Learning</a:t>
            </a:r>
            <a:endParaRPr sz="3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178" name="Google Shape;178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Neural Network Basics</a:t>
            </a:r>
            <a:endParaRPr sz="1500"/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Perceptron</a:t>
            </a:r>
            <a:endParaRPr sz="1500"/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Activation Function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Neural Network</a:t>
            </a:r>
            <a:endParaRPr sz="1500"/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Basic Structure</a:t>
            </a:r>
            <a:endParaRPr sz="1500"/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Vector Notation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The Softmax function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Backpropagation Algorithm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SzPts val="1500"/>
              <a:buChar char="•"/>
            </a:pPr>
            <a:r>
              <a:rPr lang="en" sz="1500"/>
              <a:t>Deep Learning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 txBox="1"/>
          <p:nvPr>
            <p:ph type="title"/>
          </p:nvPr>
        </p:nvSpPr>
        <p:spPr>
          <a:xfrm>
            <a:off x="628650" y="20286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Basics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</a:pPr>
            <a:r>
              <a:rPr lang="en"/>
              <a:t>Perceptron </a:t>
            </a:r>
            <a:endParaRPr b="1" i="0" sz="1900" u="none" cap="none" strike="noStrike">
              <a:solidFill>
                <a:srgbClr val="F5606E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9" name="Google Shape;189;p42"/>
          <p:cNvSpPr txBox="1"/>
          <p:nvPr/>
        </p:nvSpPr>
        <p:spPr>
          <a:xfrm>
            <a:off x="482327" y="642938"/>
            <a:ext cx="31947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50" lIns="20750" spcFirstLastPara="1" rIns="20750" wrap="square" tIns="20750">
            <a:noAutofit/>
          </a:bodyPr>
          <a:lstStyle/>
          <a:p>
            <a:pPr indent="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Perceptron Components :	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: x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… x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Weights : ω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… ω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endParaRPr baseline="-25000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Bias : b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Activation Function : φ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Operation :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 = φ (x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+x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+...+x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+b)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42"/>
          <p:cNvSpPr txBox="1"/>
          <p:nvPr/>
        </p:nvSpPr>
        <p:spPr>
          <a:xfrm>
            <a:off x="241311" y="4594445"/>
            <a:ext cx="6750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Image credit : https://medium.com/@jayeshbahire/the-artificial-neural-networks-handbook-part-4-d2087d1f583e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718" y="991117"/>
            <a:ext cx="5295398" cy="251354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2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</a:pPr>
            <a:r>
              <a:rPr lang="en"/>
              <a:t>Activation Function </a:t>
            </a:r>
            <a:endParaRPr b="1" i="0" sz="1900" u="none" cap="none" strike="noStrike">
              <a:solidFill>
                <a:srgbClr val="F5606E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8" name="Google Shape;198;p43"/>
          <p:cNvSpPr txBox="1"/>
          <p:nvPr/>
        </p:nvSpPr>
        <p:spPr>
          <a:xfrm>
            <a:off x="482327" y="642938"/>
            <a:ext cx="34914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50" lIns="20750" spcFirstLastPara="1" rIns="20750" wrap="square" tIns="20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Otherwise called a transfer function 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Applies a transformation defined by that function to sum of inputs and weights (and bias)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Examples of activation functions: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Linear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ReLU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Sigmoid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TanH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43"/>
          <p:cNvSpPr txBox="1"/>
          <p:nvPr/>
        </p:nvSpPr>
        <p:spPr>
          <a:xfrm>
            <a:off x="241311" y="4594445"/>
            <a:ext cx="6750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Image credit : https://docs.paperspace.com/machine-learning/wiki/activation-function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079" y="1068820"/>
            <a:ext cx="4269642" cy="28626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3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628650" y="20286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5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</a:pPr>
            <a:r>
              <a:rPr lang="en"/>
              <a:t>Neural Network or Multilayer Perceptron </a:t>
            </a:r>
            <a:endParaRPr b="1" i="0" sz="1900" u="none" cap="none" strike="noStrike">
              <a:solidFill>
                <a:srgbClr val="F5606E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2" name="Google Shape;212;p45"/>
          <p:cNvSpPr txBox="1"/>
          <p:nvPr/>
        </p:nvSpPr>
        <p:spPr>
          <a:xfrm>
            <a:off x="482327" y="642938"/>
            <a:ext cx="31947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50" lIns="20750" spcFirstLastPara="1" rIns="20750" wrap="square" tIns="20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layer :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Passes raw inputs to first hidden units (h</a:t>
            </a:r>
            <a:r>
              <a:rPr baseline="-25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layer :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Applies transformation to the outputs.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Hidden layers :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1" marL="4191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Densely connected perceptrons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45"/>
          <p:cNvSpPr txBox="1"/>
          <p:nvPr/>
        </p:nvSpPr>
        <p:spPr>
          <a:xfrm>
            <a:off x="241311" y="4594445"/>
            <a:ext cx="6750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Image credit : https://medium.com/@jayeshbahire/the-artificial-neural-networks-handbook-part-4-d2087d1f583e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051" y="1111027"/>
            <a:ext cx="4200541" cy="246101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5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</a:pPr>
            <a:r>
              <a:rPr lang="en"/>
              <a:t>Vector Notation </a:t>
            </a:r>
            <a:endParaRPr b="1" i="0" sz="1900" u="none" cap="none" strike="noStrike">
              <a:solidFill>
                <a:srgbClr val="F5606E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1" name="Google Shape;221;p46"/>
          <p:cNvSpPr txBox="1"/>
          <p:nvPr/>
        </p:nvSpPr>
        <p:spPr>
          <a:xfrm>
            <a:off x="482327" y="642938"/>
            <a:ext cx="29670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50" lIns="20750" spcFirstLastPara="1" rIns="20750" wrap="square" tIns="20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 represent weights of a layer as a matrix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 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 represent the input, bias and output as a vectors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x, b, y</a:t>
            </a:r>
            <a:endParaRPr b="1"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Activation function φ applies on each linear combination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968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Operation of this simple network is : 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 </a:t>
            </a:r>
            <a:r>
              <a:rPr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φ(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="1" baseline="30000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1" lang="en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) 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46"/>
          <p:cNvSpPr txBox="1"/>
          <p:nvPr/>
        </p:nvSpPr>
        <p:spPr>
          <a:xfrm>
            <a:off x="241311" y="4594445"/>
            <a:ext cx="6750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Image credit : https://www.jeremyjordan.me/intro-to-neural-networks/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852" y="1037886"/>
            <a:ext cx="5647771" cy="292453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6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7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900"/>
              <a:buFont typeface="Karla"/>
              <a:buNone/>
            </a:pPr>
            <a:r>
              <a:rPr lang="en"/>
              <a:t>Vector Notation </a:t>
            </a:r>
            <a:endParaRPr b="1" i="0" sz="1900" u="none" cap="none" strike="noStrike">
              <a:solidFill>
                <a:srgbClr val="F5606E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0" name="Google Shape;230;p47"/>
          <p:cNvSpPr txBox="1"/>
          <p:nvPr/>
        </p:nvSpPr>
        <p:spPr>
          <a:xfrm>
            <a:off x="482327" y="642938"/>
            <a:ext cx="28836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750" lIns="20750" spcFirstLastPara="1" rIns="20750" wrap="square" tIns="20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can add inputs in a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batch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compute multiple inputs at the same time </a:t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vector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becomes matrix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 </a:t>
            </a:r>
            <a:endParaRPr b="1"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8415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vector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 </a:t>
            </a:r>
            <a:r>
              <a:rPr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becomes matrix </a:t>
            </a: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endParaRPr b="1"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03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47"/>
          <p:cNvSpPr txBox="1"/>
          <p:nvPr/>
        </p:nvSpPr>
        <p:spPr>
          <a:xfrm>
            <a:off x="241311" y="4594445"/>
            <a:ext cx="67506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Image credit : https://www.jeremyjordan.me/intro-to-neural-networks/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417" y="977489"/>
            <a:ext cx="5604570" cy="30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7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8"/>
          <p:cNvSpPr txBox="1"/>
          <p:nvPr>
            <p:ph type="title"/>
          </p:nvPr>
        </p:nvSpPr>
        <p:spPr>
          <a:xfrm>
            <a:off x="170675" y="248247"/>
            <a:ext cx="5356200" cy="4578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Non-Linear Activation</a:t>
            </a:r>
            <a:endParaRPr/>
          </a:p>
        </p:txBody>
      </p:sp>
      <p:sp>
        <p:nvSpPr>
          <p:cNvPr id="239" name="Google Shape;239;p48"/>
          <p:cNvSpPr txBox="1"/>
          <p:nvPr>
            <p:ph idx="1" type="body"/>
          </p:nvPr>
        </p:nvSpPr>
        <p:spPr>
          <a:xfrm>
            <a:off x="189174" y="1248400"/>
            <a:ext cx="7334400" cy="13959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-196850" lvl="0" marL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Non-Linear Activation helps network learn complex mappings </a:t>
            </a:r>
            <a:endParaRPr sz="1500"/>
          </a:p>
          <a:p>
            <a:pPr indent="-196850" lvl="1" marL="419100" rtl="0" algn="l">
              <a:spcBef>
                <a:spcPts val="5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eg. sigmoid, ReLU </a:t>
            </a:r>
            <a:endParaRPr sz="15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96850" lvl="0" marL="203200" rtl="0" algn="l">
              <a:spcBef>
                <a:spcPts val="5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activations in all layers are linear network decays to a single linear layer </a:t>
            </a:r>
            <a:endParaRPr sz="1500"/>
          </a:p>
          <a:p>
            <a:pPr indent="0" lvl="0" marL="203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96850" lvl="0" marL="203200" rtl="0" algn="l">
              <a:spcBef>
                <a:spcPts val="5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y = h</a:t>
            </a:r>
            <a:r>
              <a:rPr baseline="-25000" lang="en" sz="1500"/>
              <a:t>2</a:t>
            </a:r>
            <a:r>
              <a:rPr lang="en" sz="1500"/>
              <a:t>W</a:t>
            </a:r>
            <a:r>
              <a:rPr baseline="-25000" lang="en" sz="1500"/>
              <a:t>3</a:t>
            </a:r>
            <a:r>
              <a:rPr lang="en" sz="1500"/>
              <a:t>+ b</a:t>
            </a:r>
            <a:r>
              <a:rPr baseline="-25000" lang="en" sz="1500"/>
              <a:t>3</a:t>
            </a:r>
            <a:r>
              <a:rPr lang="en" sz="1500"/>
              <a:t> </a:t>
            </a:r>
            <a:endParaRPr sz="1500"/>
          </a:p>
          <a:p>
            <a:pPr indent="0" lvl="0" marL="203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/>
              <a:t>   = h</a:t>
            </a:r>
            <a:r>
              <a:rPr baseline="-25000" lang="en" sz="1500"/>
              <a:t>1</a:t>
            </a:r>
            <a:r>
              <a:rPr lang="en" sz="1500"/>
              <a:t>W</a:t>
            </a:r>
            <a:r>
              <a:rPr baseline="-25000" lang="en" sz="1500"/>
              <a:t>2</a:t>
            </a:r>
            <a:r>
              <a:rPr lang="en" sz="1500">
                <a:solidFill>
                  <a:schemeClr val="dk1"/>
                </a:solidFill>
              </a:rPr>
              <a:t>W</a:t>
            </a:r>
            <a:r>
              <a:rPr baseline="-25000" lang="en" sz="1500">
                <a:solidFill>
                  <a:schemeClr val="dk1"/>
                </a:solidFill>
              </a:rPr>
              <a:t>3</a:t>
            </a:r>
            <a:r>
              <a:rPr lang="en" sz="1500"/>
              <a:t>+b</a:t>
            </a:r>
            <a:r>
              <a:rPr baseline="-25000" lang="en" sz="1500"/>
              <a:t>2</a:t>
            </a:r>
            <a:r>
              <a:rPr lang="en" sz="1500"/>
              <a:t>W</a:t>
            </a:r>
            <a:r>
              <a:rPr baseline="-25000" lang="en" sz="1500"/>
              <a:t>3</a:t>
            </a:r>
            <a:r>
              <a:rPr lang="en" sz="1500"/>
              <a:t> + b</a:t>
            </a:r>
            <a:r>
              <a:rPr baseline="-25000" lang="en" sz="1500"/>
              <a:t>3</a:t>
            </a:r>
            <a:endParaRPr sz="1500"/>
          </a:p>
          <a:p>
            <a:pPr indent="0" lvl="0" marL="203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/>
              <a:t>   = </a:t>
            </a:r>
            <a:r>
              <a:rPr lang="en" sz="1500">
                <a:solidFill>
                  <a:schemeClr val="dk1"/>
                </a:solidFill>
              </a:rPr>
              <a:t>xW</a:t>
            </a:r>
            <a:r>
              <a:rPr baseline="-25000" lang="en" sz="1500">
                <a:solidFill>
                  <a:schemeClr val="dk1"/>
                </a:solidFill>
              </a:rPr>
              <a:t>1</a:t>
            </a:r>
            <a:r>
              <a:rPr lang="en" sz="1500">
                <a:solidFill>
                  <a:schemeClr val="dk1"/>
                </a:solidFill>
              </a:rPr>
              <a:t>W</a:t>
            </a:r>
            <a:r>
              <a:rPr baseline="-25000" lang="en" sz="1500">
                <a:solidFill>
                  <a:schemeClr val="dk1"/>
                </a:solidFill>
              </a:rPr>
              <a:t>2</a:t>
            </a:r>
            <a:r>
              <a:rPr lang="en" sz="1500">
                <a:solidFill>
                  <a:schemeClr val="dk1"/>
                </a:solidFill>
              </a:rPr>
              <a:t>W</a:t>
            </a:r>
            <a:r>
              <a:rPr baseline="-25000" lang="en" sz="1500">
                <a:solidFill>
                  <a:schemeClr val="dk1"/>
                </a:solidFill>
              </a:rPr>
              <a:t>3</a:t>
            </a:r>
            <a:r>
              <a:rPr lang="en" sz="1500">
                <a:solidFill>
                  <a:schemeClr val="dk1"/>
                </a:solidFill>
              </a:rPr>
              <a:t>+b</a:t>
            </a:r>
            <a:r>
              <a:rPr baseline="-25000" lang="en" sz="1500">
                <a:solidFill>
                  <a:schemeClr val="dk1"/>
                </a:solidFill>
              </a:rPr>
              <a:t>1</a:t>
            </a:r>
            <a:r>
              <a:rPr lang="en" sz="1500">
                <a:solidFill>
                  <a:schemeClr val="dk1"/>
                </a:solidFill>
              </a:rPr>
              <a:t>W</a:t>
            </a:r>
            <a:r>
              <a:rPr baseline="-25000" lang="en" sz="1500">
                <a:solidFill>
                  <a:schemeClr val="dk1"/>
                </a:solidFill>
              </a:rPr>
              <a:t>2</a:t>
            </a:r>
            <a:r>
              <a:rPr lang="en" sz="1500">
                <a:solidFill>
                  <a:schemeClr val="dk1"/>
                </a:solidFill>
              </a:rPr>
              <a:t>W</a:t>
            </a:r>
            <a:r>
              <a:rPr baseline="-25000" lang="en" sz="1500">
                <a:solidFill>
                  <a:schemeClr val="dk1"/>
                </a:solidFill>
              </a:rPr>
              <a:t>3</a:t>
            </a:r>
            <a:r>
              <a:rPr lang="en" sz="1500">
                <a:solidFill>
                  <a:schemeClr val="dk1"/>
                </a:solidFill>
              </a:rPr>
              <a:t>+b</a:t>
            </a:r>
            <a:r>
              <a:rPr baseline="-25000" lang="en" sz="1500">
                <a:solidFill>
                  <a:schemeClr val="dk1"/>
                </a:solidFill>
              </a:rPr>
              <a:t>2</a:t>
            </a:r>
            <a:r>
              <a:rPr lang="en" sz="1500">
                <a:solidFill>
                  <a:schemeClr val="dk1"/>
                </a:solidFill>
              </a:rPr>
              <a:t>W</a:t>
            </a:r>
            <a:r>
              <a:rPr baseline="-25000" lang="en" sz="1500">
                <a:solidFill>
                  <a:schemeClr val="dk1"/>
                </a:solidFill>
              </a:rPr>
              <a:t>3</a:t>
            </a:r>
            <a:r>
              <a:rPr lang="en" sz="1500">
                <a:solidFill>
                  <a:schemeClr val="dk1"/>
                </a:solidFill>
              </a:rPr>
              <a:t> + b</a:t>
            </a:r>
            <a:r>
              <a:rPr baseline="-25000" lang="en" sz="1500">
                <a:solidFill>
                  <a:schemeClr val="dk1"/>
                </a:solidFill>
              </a:rPr>
              <a:t>3</a:t>
            </a:r>
            <a:endParaRPr sz="1500"/>
          </a:p>
          <a:p>
            <a:pPr indent="0" lvl="0" marL="20320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500"/>
              <a:t>   = xW’ + b’</a:t>
            </a:r>
            <a:endParaRPr sz="1500"/>
          </a:p>
        </p:txBody>
      </p:sp>
      <p:sp>
        <p:nvSpPr>
          <p:cNvPr id="240" name="Google Shape;240;p48"/>
          <p:cNvSpPr txBox="1"/>
          <p:nvPr>
            <p:ph idx="12" type="sldNum"/>
          </p:nvPr>
        </p:nvSpPr>
        <p:spPr>
          <a:xfrm>
            <a:off x="3950872" y="2954202"/>
            <a:ext cx="159300" cy="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3303" y="3575371"/>
            <a:ext cx="5126520" cy="841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/>
              <a:t>Learning for a neuron includes 3 components</a:t>
            </a:r>
            <a:endParaRPr/>
          </a:p>
        </p:txBody>
      </p:sp>
      <p:sp>
        <p:nvSpPr>
          <p:cNvPr id="247" name="Google Shape;247;p49"/>
          <p:cNvSpPr txBox="1"/>
          <p:nvPr/>
        </p:nvSpPr>
        <p:spPr>
          <a:xfrm>
            <a:off x="826950" y="1566096"/>
            <a:ext cx="7688400" cy="21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 neural network (defined by its architecture, in other words the computational steps to evaluate the network output)</a:t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 loss function (a function to measure how good or bad the network is predicting the outputs)</a:t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</a:pP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 algorithm to minimize the loss function (also called </a:t>
            </a: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optimizer: Gradient </a:t>
            </a: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Descent</a:t>
            </a:r>
            <a:r>
              <a:rPr b="1"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Adam..</a:t>
            </a:r>
            <a:r>
              <a:rPr lang="en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" name="Google Shape;248;p49"/>
          <p:cNvSpPr txBox="1"/>
          <p:nvPr/>
        </p:nvSpPr>
        <p:spPr>
          <a:xfrm>
            <a:off x="4813300" y="4701334"/>
            <a:ext cx="3873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Source:Umberto Michelucci, Applied Deep Learning - A Case-Based Approach to Understanding Deep Neural Networks, APRESS 2018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/>
              <a:t>Quiz: What can a neuron do?</a:t>
            </a:r>
            <a:endParaRPr/>
          </a:p>
        </p:txBody>
      </p:sp>
      <p:sp>
        <p:nvSpPr>
          <p:cNvPr id="254" name="Google Shape;254;p50"/>
          <p:cNvSpPr txBox="1"/>
          <p:nvPr>
            <p:ph idx="1" type="body"/>
          </p:nvPr>
        </p:nvSpPr>
        <p:spPr>
          <a:xfrm>
            <a:off x="628650" y="1477670"/>
            <a:ext cx="78867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 sz="1700"/>
              <a:t>We have discussed how a neuron looks like. But how can a neuron solve any type of problem? </a:t>
            </a:r>
            <a:endParaRPr sz="1700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en" sz="1700"/>
              <a:t>Can a neuron solve a classification and a regression problem? How can we do that?</a:t>
            </a:r>
            <a:endParaRPr sz="1700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" sz="2800">
                <a:solidFill>
                  <a:srgbClr val="FF0000"/>
                </a:solidFill>
              </a:rPr>
              <a:t>Question: which component of a neuron is responsible for the type of problem we want to solve?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>
            <p:ph type="title"/>
          </p:nvPr>
        </p:nvSpPr>
        <p:spPr>
          <a:xfrm>
            <a:off x="628650" y="273850"/>
            <a:ext cx="67134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en"/>
              <a:t>Which portion of a </a:t>
            </a:r>
            <a:r>
              <a:rPr i="1" lang="en"/>
              <a:t>neural network model</a:t>
            </a:r>
            <a:r>
              <a:rPr lang="en"/>
              <a:t> is responsible for the type of problem that can be solved?</a:t>
            </a:r>
            <a:endParaRPr/>
          </a:p>
        </p:txBody>
      </p:sp>
      <p:sp>
        <p:nvSpPr>
          <p:cNvPr id="260" name="Google Shape;260;p51"/>
          <p:cNvSpPr txBox="1"/>
          <p:nvPr>
            <p:ph idx="1" type="body"/>
          </p:nvPr>
        </p:nvSpPr>
        <p:spPr>
          <a:xfrm>
            <a:off x="628650" y="1709529"/>
            <a:ext cx="7886700" cy="29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900"/>
              <a:t>Two main components are responsible for the type of problem that can be solved: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output activation function</a:t>
            </a:r>
            <a:endParaRPr sz="1900"/>
          </a:p>
          <a:p>
            <a:pPr indent="-3492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loss function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900"/>
              <a:t>The optimiser is not related in any way to the type of problem solved.</a:t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 txBox="1"/>
          <p:nvPr>
            <p:ph type="title"/>
          </p:nvPr>
        </p:nvSpPr>
        <p:spPr>
          <a:xfrm>
            <a:off x="628650" y="20286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output activation function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Softmax function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 sz="2670"/>
          </a:p>
        </p:txBody>
      </p:sp>
      <p:pic>
        <p:nvPicPr>
          <p:cNvPr id="271" name="Google Shape;27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15" y="2737402"/>
            <a:ext cx="407129" cy="30783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3"/>
          <p:cNvSpPr/>
          <p:nvPr/>
        </p:nvSpPr>
        <p:spPr>
          <a:xfrm>
            <a:off x="2067339" y="2265068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273" name="Google Shape;273;p53"/>
          <p:cNvCxnSpPr>
            <a:endCxn id="272" idx="1"/>
          </p:cNvCxnSpPr>
          <p:nvPr/>
        </p:nvCxnSpPr>
        <p:spPr>
          <a:xfrm>
            <a:off x="1298739" y="2891318"/>
            <a:ext cx="768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" name="Google Shape;274;p53"/>
          <p:cNvSpPr txBox="1"/>
          <p:nvPr/>
        </p:nvSpPr>
        <p:spPr>
          <a:xfrm>
            <a:off x="569638" y="3045232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pic>
        <p:nvPicPr>
          <p:cNvPr id="275" name="Google Shape;27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341" y="2205922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8341" y="2760291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8341" y="3300106"/>
            <a:ext cx="426277" cy="3349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53"/>
          <p:cNvCxnSpPr>
            <a:stCxn id="272" idx="3"/>
          </p:cNvCxnSpPr>
          <p:nvPr/>
        </p:nvCxnSpPr>
        <p:spPr>
          <a:xfrm flipH="1" rot="10800000">
            <a:off x="3465339" y="2438318"/>
            <a:ext cx="649500" cy="45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9" name="Google Shape;279;p53"/>
          <p:cNvCxnSpPr>
            <a:stCxn id="272" idx="3"/>
          </p:cNvCxnSpPr>
          <p:nvPr/>
        </p:nvCxnSpPr>
        <p:spPr>
          <a:xfrm>
            <a:off x="3465339" y="2891318"/>
            <a:ext cx="66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0" name="Google Shape;280;p53"/>
          <p:cNvCxnSpPr>
            <a:stCxn id="272" idx="3"/>
          </p:cNvCxnSpPr>
          <p:nvPr/>
        </p:nvCxnSpPr>
        <p:spPr>
          <a:xfrm>
            <a:off x="3465339" y="2891318"/>
            <a:ext cx="649500" cy="52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1" name="Google Shape;281;p53"/>
          <p:cNvSpPr txBox="1"/>
          <p:nvPr/>
        </p:nvSpPr>
        <p:spPr>
          <a:xfrm>
            <a:off x="5367130" y="1875654"/>
            <a:ext cx="3021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should we interpret those numbers?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would like to interpret them as the probability of the input observation to be in class 1, 2 or 3.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/>
          </a:p>
        </p:txBody>
      </p:sp>
      <p:pic>
        <p:nvPicPr>
          <p:cNvPr id="287" name="Google Shape;28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15" y="2737402"/>
            <a:ext cx="407129" cy="30783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4"/>
          <p:cNvSpPr/>
          <p:nvPr/>
        </p:nvSpPr>
        <p:spPr>
          <a:xfrm>
            <a:off x="2067339" y="2265068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289" name="Google Shape;289;p54"/>
          <p:cNvCxnSpPr>
            <a:endCxn id="288" idx="1"/>
          </p:cNvCxnSpPr>
          <p:nvPr/>
        </p:nvCxnSpPr>
        <p:spPr>
          <a:xfrm>
            <a:off x="1298739" y="2891318"/>
            <a:ext cx="768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0" name="Google Shape;290;p54"/>
          <p:cNvSpPr txBox="1"/>
          <p:nvPr/>
        </p:nvSpPr>
        <p:spPr>
          <a:xfrm>
            <a:off x="569638" y="3045232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pic>
        <p:nvPicPr>
          <p:cNvPr id="291" name="Google Shape;29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341" y="2205922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8341" y="2760291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8341" y="3300106"/>
            <a:ext cx="426277" cy="3349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54"/>
          <p:cNvCxnSpPr>
            <a:stCxn id="288" idx="3"/>
          </p:cNvCxnSpPr>
          <p:nvPr/>
        </p:nvCxnSpPr>
        <p:spPr>
          <a:xfrm flipH="1" rot="10800000">
            <a:off x="3465339" y="2438318"/>
            <a:ext cx="649500" cy="45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5" name="Google Shape;295;p54"/>
          <p:cNvCxnSpPr>
            <a:stCxn id="288" idx="3"/>
          </p:cNvCxnSpPr>
          <p:nvPr/>
        </p:nvCxnSpPr>
        <p:spPr>
          <a:xfrm>
            <a:off x="3465339" y="2891318"/>
            <a:ext cx="66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6" name="Google Shape;296;p54"/>
          <p:cNvCxnSpPr>
            <a:stCxn id="288" idx="3"/>
          </p:cNvCxnSpPr>
          <p:nvPr/>
        </p:nvCxnSpPr>
        <p:spPr>
          <a:xfrm>
            <a:off x="3465339" y="2891318"/>
            <a:ext cx="649500" cy="52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7" name="Google Shape;297;p54"/>
          <p:cNvSpPr txBox="1"/>
          <p:nvPr/>
        </p:nvSpPr>
        <p:spPr>
          <a:xfrm>
            <a:off x="5049080" y="994384"/>
            <a:ext cx="3021600" cy="39702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599" l="-1669" r="-3349" t="-6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/>
          </a:p>
        </p:txBody>
      </p:sp>
      <p:pic>
        <p:nvPicPr>
          <p:cNvPr id="303" name="Google Shape;30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15" y="2737402"/>
            <a:ext cx="407129" cy="30783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5"/>
          <p:cNvSpPr/>
          <p:nvPr/>
        </p:nvSpPr>
        <p:spPr>
          <a:xfrm>
            <a:off x="2067339" y="2265068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305" name="Google Shape;305;p55"/>
          <p:cNvCxnSpPr>
            <a:endCxn id="304" idx="1"/>
          </p:cNvCxnSpPr>
          <p:nvPr/>
        </p:nvCxnSpPr>
        <p:spPr>
          <a:xfrm>
            <a:off x="1298739" y="2891318"/>
            <a:ext cx="768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6" name="Google Shape;306;p55"/>
          <p:cNvSpPr txBox="1"/>
          <p:nvPr/>
        </p:nvSpPr>
        <p:spPr>
          <a:xfrm>
            <a:off x="569638" y="3045232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pic>
        <p:nvPicPr>
          <p:cNvPr id="307" name="Google Shape;30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341" y="2205922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8341" y="2760291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8341" y="3300106"/>
            <a:ext cx="426277" cy="3349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55"/>
          <p:cNvCxnSpPr>
            <a:stCxn id="304" idx="3"/>
          </p:cNvCxnSpPr>
          <p:nvPr/>
        </p:nvCxnSpPr>
        <p:spPr>
          <a:xfrm flipH="1" rot="10800000">
            <a:off x="3465339" y="2438318"/>
            <a:ext cx="649500" cy="45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1" name="Google Shape;311;p55"/>
          <p:cNvCxnSpPr>
            <a:stCxn id="304" idx="3"/>
          </p:cNvCxnSpPr>
          <p:nvPr/>
        </p:nvCxnSpPr>
        <p:spPr>
          <a:xfrm>
            <a:off x="3465339" y="2891318"/>
            <a:ext cx="66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2" name="Google Shape;312;p55"/>
          <p:cNvCxnSpPr>
            <a:stCxn id="304" idx="3"/>
          </p:cNvCxnSpPr>
          <p:nvPr/>
        </p:nvCxnSpPr>
        <p:spPr>
          <a:xfrm>
            <a:off x="3465339" y="2891318"/>
            <a:ext cx="649500" cy="52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3" name="Google Shape;313;p55"/>
          <p:cNvSpPr txBox="1"/>
          <p:nvPr/>
        </p:nvSpPr>
        <p:spPr>
          <a:xfrm>
            <a:off x="5208106" y="1329130"/>
            <a:ext cx="3214500" cy="2862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/>
          </a:p>
        </p:txBody>
      </p:sp>
      <p:pic>
        <p:nvPicPr>
          <p:cNvPr id="319" name="Google Shape;3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15" y="2737402"/>
            <a:ext cx="407129" cy="30783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6"/>
          <p:cNvSpPr/>
          <p:nvPr/>
        </p:nvSpPr>
        <p:spPr>
          <a:xfrm>
            <a:off x="2067339" y="2265068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321" name="Google Shape;321;p56"/>
          <p:cNvCxnSpPr>
            <a:endCxn id="320" idx="1"/>
          </p:cNvCxnSpPr>
          <p:nvPr/>
        </p:nvCxnSpPr>
        <p:spPr>
          <a:xfrm>
            <a:off x="1298739" y="2891318"/>
            <a:ext cx="768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2" name="Google Shape;322;p56"/>
          <p:cNvSpPr txBox="1"/>
          <p:nvPr/>
        </p:nvSpPr>
        <p:spPr>
          <a:xfrm>
            <a:off x="569638" y="3045232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pic>
        <p:nvPicPr>
          <p:cNvPr id="323" name="Google Shape;32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341" y="2205922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8341" y="2760291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8341" y="3300106"/>
            <a:ext cx="426277" cy="3349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p56"/>
          <p:cNvCxnSpPr>
            <a:stCxn id="320" idx="3"/>
          </p:cNvCxnSpPr>
          <p:nvPr/>
        </p:nvCxnSpPr>
        <p:spPr>
          <a:xfrm flipH="1" rot="10800000">
            <a:off x="3465339" y="2438318"/>
            <a:ext cx="649500" cy="453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7" name="Google Shape;327;p56"/>
          <p:cNvCxnSpPr>
            <a:stCxn id="320" idx="3"/>
          </p:cNvCxnSpPr>
          <p:nvPr/>
        </p:nvCxnSpPr>
        <p:spPr>
          <a:xfrm>
            <a:off x="3465339" y="2891318"/>
            <a:ext cx="662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8" name="Google Shape;328;p56"/>
          <p:cNvCxnSpPr>
            <a:stCxn id="320" idx="3"/>
          </p:cNvCxnSpPr>
          <p:nvPr/>
        </p:nvCxnSpPr>
        <p:spPr>
          <a:xfrm>
            <a:off x="3465339" y="2891318"/>
            <a:ext cx="649500" cy="523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29" name="Google Shape;329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2732" y="2180202"/>
            <a:ext cx="424249" cy="33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87287" y="2734572"/>
            <a:ext cx="446578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02732" y="3288942"/>
            <a:ext cx="446577" cy="34609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56"/>
          <p:cNvSpPr/>
          <p:nvPr/>
        </p:nvSpPr>
        <p:spPr>
          <a:xfrm>
            <a:off x="5239575" y="2275789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cxnSp>
        <p:nvCxnSpPr>
          <p:cNvPr id="333" name="Google Shape;333;p56"/>
          <p:cNvCxnSpPr>
            <a:stCxn id="323" idx="3"/>
            <a:endCxn id="332" idx="1"/>
          </p:cNvCxnSpPr>
          <p:nvPr/>
        </p:nvCxnSpPr>
        <p:spPr>
          <a:xfrm>
            <a:off x="4684321" y="2373388"/>
            <a:ext cx="555300" cy="52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4" name="Google Shape;334;p56"/>
          <p:cNvCxnSpPr>
            <a:stCxn id="324" idx="3"/>
            <a:endCxn id="332" idx="1"/>
          </p:cNvCxnSpPr>
          <p:nvPr/>
        </p:nvCxnSpPr>
        <p:spPr>
          <a:xfrm flipH="1" rot="10800000">
            <a:off x="4694470" y="2901958"/>
            <a:ext cx="545100" cy="2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5" name="Google Shape;335;p56"/>
          <p:cNvCxnSpPr>
            <a:stCxn id="325" idx="3"/>
            <a:endCxn id="332" idx="1"/>
          </p:cNvCxnSpPr>
          <p:nvPr/>
        </p:nvCxnSpPr>
        <p:spPr>
          <a:xfrm flipH="1" rot="10800000">
            <a:off x="4704618" y="2902072"/>
            <a:ext cx="534900" cy="56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6" name="Google Shape;336;p56"/>
          <p:cNvCxnSpPr>
            <a:stCxn id="332" idx="3"/>
            <a:endCxn id="329" idx="1"/>
          </p:cNvCxnSpPr>
          <p:nvPr/>
        </p:nvCxnSpPr>
        <p:spPr>
          <a:xfrm flipH="1" rot="10800000">
            <a:off x="6637575" y="2347639"/>
            <a:ext cx="565200" cy="55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7" name="Google Shape;337;p56"/>
          <p:cNvCxnSpPr>
            <a:stCxn id="332" idx="3"/>
            <a:endCxn id="330" idx="1"/>
          </p:cNvCxnSpPr>
          <p:nvPr/>
        </p:nvCxnSpPr>
        <p:spPr>
          <a:xfrm>
            <a:off x="6637575" y="2902039"/>
            <a:ext cx="549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8" name="Google Shape;338;p56"/>
          <p:cNvCxnSpPr>
            <a:stCxn id="332" idx="3"/>
            <a:endCxn id="331" idx="1"/>
          </p:cNvCxnSpPr>
          <p:nvPr/>
        </p:nvCxnSpPr>
        <p:spPr>
          <a:xfrm>
            <a:off x="6637575" y="2902039"/>
            <a:ext cx="565200" cy="56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39" name="Google Shape;339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72704" y="4177521"/>
            <a:ext cx="3129946" cy="382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280" y="4203353"/>
            <a:ext cx="3452517" cy="379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/>
          </a:p>
        </p:txBody>
      </p:sp>
      <p:sp>
        <p:nvSpPr>
          <p:cNvPr id="346" name="Google Shape;346;p57"/>
          <p:cNvSpPr txBox="1"/>
          <p:nvPr/>
        </p:nvSpPr>
        <p:spPr>
          <a:xfrm>
            <a:off x="5707320" y="1072537"/>
            <a:ext cx="3214500" cy="371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47" name="Google Shape;34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4520" y="2132770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4520" y="2687139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4520" y="3226954"/>
            <a:ext cx="426277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8911" y="2107050"/>
            <a:ext cx="424249" cy="33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3466" y="2661420"/>
            <a:ext cx="446578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8911" y="3215790"/>
            <a:ext cx="446577" cy="34609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7"/>
          <p:cNvSpPr/>
          <p:nvPr/>
        </p:nvSpPr>
        <p:spPr>
          <a:xfrm>
            <a:off x="3015754" y="2202637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cxnSp>
        <p:nvCxnSpPr>
          <p:cNvPr id="354" name="Google Shape;354;p57"/>
          <p:cNvCxnSpPr>
            <a:stCxn id="347" idx="3"/>
            <a:endCxn id="353" idx="1"/>
          </p:cNvCxnSpPr>
          <p:nvPr/>
        </p:nvCxnSpPr>
        <p:spPr>
          <a:xfrm>
            <a:off x="2460500" y="2300236"/>
            <a:ext cx="555300" cy="52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5" name="Google Shape;355;p57"/>
          <p:cNvCxnSpPr>
            <a:stCxn id="348" idx="3"/>
            <a:endCxn id="353" idx="1"/>
          </p:cNvCxnSpPr>
          <p:nvPr/>
        </p:nvCxnSpPr>
        <p:spPr>
          <a:xfrm flipH="1" rot="10800000">
            <a:off x="2470649" y="2828806"/>
            <a:ext cx="545100" cy="2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6" name="Google Shape;356;p57"/>
          <p:cNvCxnSpPr>
            <a:stCxn id="349" idx="3"/>
            <a:endCxn id="353" idx="1"/>
          </p:cNvCxnSpPr>
          <p:nvPr/>
        </p:nvCxnSpPr>
        <p:spPr>
          <a:xfrm flipH="1" rot="10800000">
            <a:off x="2480797" y="2828920"/>
            <a:ext cx="534900" cy="56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" name="Google Shape;357;p57"/>
          <p:cNvCxnSpPr>
            <a:stCxn id="353" idx="3"/>
            <a:endCxn id="350" idx="1"/>
          </p:cNvCxnSpPr>
          <p:nvPr/>
        </p:nvCxnSpPr>
        <p:spPr>
          <a:xfrm flipH="1" rot="10800000">
            <a:off x="4413754" y="2274487"/>
            <a:ext cx="565200" cy="55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8" name="Google Shape;358;p57"/>
          <p:cNvCxnSpPr>
            <a:stCxn id="353" idx="3"/>
            <a:endCxn id="351" idx="1"/>
          </p:cNvCxnSpPr>
          <p:nvPr/>
        </p:nvCxnSpPr>
        <p:spPr>
          <a:xfrm>
            <a:off x="4413754" y="2828887"/>
            <a:ext cx="549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9" name="Google Shape;359;p57"/>
          <p:cNvCxnSpPr>
            <a:stCxn id="353" idx="3"/>
            <a:endCxn id="352" idx="1"/>
          </p:cNvCxnSpPr>
          <p:nvPr/>
        </p:nvCxnSpPr>
        <p:spPr>
          <a:xfrm>
            <a:off x="4413754" y="2828887"/>
            <a:ext cx="565200" cy="56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/>
          </a:p>
        </p:txBody>
      </p:sp>
      <p:sp>
        <p:nvSpPr>
          <p:cNvPr id="365" name="Google Shape;365;p58"/>
          <p:cNvSpPr txBox="1"/>
          <p:nvPr/>
        </p:nvSpPr>
        <p:spPr>
          <a:xfrm>
            <a:off x="5811962" y="1072537"/>
            <a:ext cx="2610600" cy="371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66" name="Google Shape;36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4520" y="2132770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4520" y="2687139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4520" y="3226954"/>
            <a:ext cx="426277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8911" y="2107050"/>
            <a:ext cx="424249" cy="33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3466" y="2661420"/>
            <a:ext cx="446578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8911" y="3215790"/>
            <a:ext cx="446577" cy="346096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8"/>
          <p:cNvSpPr/>
          <p:nvPr/>
        </p:nvSpPr>
        <p:spPr>
          <a:xfrm>
            <a:off x="3015754" y="2202637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cxnSp>
        <p:nvCxnSpPr>
          <p:cNvPr id="373" name="Google Shape;373;p58"/>
          <p:cNvCxnSpPr>
            <a:stCxn id="366" idx="3"/>
            <a:endCxn id="372" idx="1"/>
          </p:cNvCxnSpPr>
          <p:nvPr/>
        </p:nvCxnSpPr>
        <p:spPr>
          <a:xfrm>
            <a:off x="2460500" y="2300236"/>
            <a:ext cx="555300" cy="52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4" name="Google Shape;374;p58"/>
          <p:cNvCxnSpPr>
            <a:stCxn id="367" idx="3"/>
            <a:endCxn id="372" idx="1"/>
          </p:cNvCxnSpPr>
          <p:nvPr/>
        </p:nvCxnSpPr>
        <p:spPr>
          <a:xfrm flipH="1" rot="10800000">
            <a:off x="2470649" y="2828806"/>
            <a:ext cx="545100" cy="2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5" name="Google Shape;375;p58"/>
          <p:cNvCxnSpPr>
            <a:stCxn id="368" idx="3"/>
            <a:endCxn id="372" idx="1"/>
          </p:cNvCxnSpPr>
          <p:nvPr/>
        </p:nvCxnSpPr>
        <p:spPr>
          <a:xfrm flipH="1" rot="10800000">
            <a:off x="2480797" y="2828920"/>
            <a:ext cx="534900" cy="56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6" name="Google Shape;376;p58"/>
          <p:cNvCxnSpPr>
            <a:stCxn id="372" idx="3"/>
            <a:endCxn id="369" idx="1"/>
          </p:cNvCxnSpPr>
          <p:nvPr/>
        </p:nvCxnSpPr>
        <p:spPr>
          <a:xfrm flipH="1" rot="10800000">
            <a:off x="4413754" y="2274487"/>
            <a:ext cx="565200" cy="55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7" name="Google Shape;377;p58"/>
          <p:cNvCxnSpPr>
            <a:stCxn id="372" idx="3"/>
            <a:endCxn id="370" idx="1"/>
          </p:cNvCxnSpPr>
          <p:nvPr/>
        </p:nvCxnSpPr>
        <p:spPr>
          <a:xfrm>
            <a:off x="4413754" y="2828887"/>
            <a:ext cx="549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8" name="Google Shape;378;p58"/>
          <p:cNvCxnSpPr>
            <a:stCxn id="372" idx="3"/>
            <a:endCxn id="371" idx="1"/>
          </p:cNvCxnSpPr>
          <p:nvPr/>
        </p:nvCxnSpPr>
        <p:spPr>
          <a:xfrm>
            <a:off x="4413754" y="2828887"/>
            <a:ext cx="565200" cy="56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Arial"/>
              <a:buNone/>
            </a:pPr>
            <a:r>
              <a:rPr lang="en" sz="2670"/>
              <a:t>Neural Network Architecture (example with 3 classes)</a:t>
            </a:r>
            <a:endParaRPr/>
          </a:p>
        </p:txBody>
      </p:sp>
      <p:sp>
        <p:nvSpPr>
          <p:cNvPr id="384" name="Google Shape;384;p59"/>
          <p:cNvSpPr txBox="1"/>
          <p:nvPr/>
        </p:nvSpPr>
        <p:spPr>
          <a:xfrm>
            <a:off x="5811962" y="1072537"/>
            <a:ext cx="2610600" cy="2862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385" name="Google Shape;38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4520" y="2132770"/>
            <a:ext cx="405980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4520" y="2687139"/>
            <a:ext cx="416129" cy="33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4520" y="3226954"/>
            <a:ext cx="426277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8911" y="2107050"/>
            <a:ext cx="424249" cy="334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3466" y="2661420"/>
            <a:ext cx="446578" cy="33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78911" y="3215790"/>
            <a:ext cx="446577" cy="34609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9"/>
          <p:cNvSpPr/>
          <p:nvPr/>
        </p:nvSpPr>
        <p:spPr>
          <a:xfrm>
            <a:off x="3015754" y="2202637"/>
            <a:ext cx="1398000" cy="12525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cxnSp>
        <p:nvCxnSpPr>
          <p:cNvPr id="392" name="Google Shape;392;p59"/>
          <p:cNvCxnSpPr>
            <a:stCxn id="385" idx="3"/>
            <a:endCxn id="391" idx="1"/>
          </p:cNvCxnSpPr>
          <p:nvPr/>
        </p:nvCxnSpPr>
        <p:spPr>
          <a:xfrm>
            <a:off x="2460500" y="2300236"/>
            <a:ext cx="555300" cy="52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59"/>
          <p:cNvCxnSpPr>
            <a:stCxn id="386" idx="3"/>
            <a:endCxn id="391" idx="1"/>
          </p:cNvCxnSpPr>
          <p:nvPr/>
        </p:nvCxnSpPr>
        <p:spPr>
          <a:xfrm flipH="1" rot="10800000">
            <a:off x="2470649" y="2828806"/>
            <a:ext cx="545100" cy="25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4" name="Google Shape;394;p59"/>
          <p:cNvCxnSpPr>
            <a:stCxn id="387" idx="3"/>
            <a:endCxn id="391" idx="1"/>
          </p:cNvCxnSpPr>
          <p:nvPr/>
        </p:nvCxnSpPr>
        <p:spPr>
          <a:xfrm flipH="1" rot="10800000">
            <a:off x="2480797" y="2828920"/>
            <a:ext cx="534900" cy="565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5" name="Google Shape;395;p59"/>
          <p:cNvCxnSpPr>
            <a:stCxn id="391" idx="3"/>
            <a:endCxn id="388" idx="1"/>
          </p:cNvCxnSpPr>
          <p:nvPr/>
        </p:nvCxnSpPr>
        <p:spPr>
          <a:xfrm flipH="1" rot="10800000">
            <a:off x="4413754" y="2274487"/>
            <a:ext cx="565200" cy="55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59"/>
          <p:cNvCxnSpPr>
            <a:stCxn id="391" idx="3"/>
            <a:endCxn id="389" idx="1"/>
          </p:cNvCxnSpPr>
          <p:nvPr/>
        </p:nvCxnSpPr>
        <p:spPr>
          <a:xfrm>
            <a:off x="4413754" y="2828887"/>
            <a:ext cx="5496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7" name="Google Shape;397;p59"/>
          <p:cNvCxnSpPr>
            <a:stCxn id="391" idx="3"/>
            <a:endCxn id="390" idx="1"/>
          </p:cNvCxnSpPr>
          <p:nvPr/>
        </p:nvCxnSpPr>
        <p:spPr>
          <a:xfrm>
            <a:off x="4413754" y="2828887"/>
            <a:ext cx="565200" cy="56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0"/>
          <p:cNvSpPr txBox="1"/>
          <p:nvPr>
            <p:ph type="title"/>
          </p:nvPr>
        </p:nvSpPr>
        <p:spPr>
          <a:xfrm>
            <a:off x="414626" y="3106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None/>
            </a:pPr>
            <a:r>
              <a:rPr lang="en"/>
              <a:t>Softmax output layer for classification</a:t>
            </a:r>
            <a:endParaRPr/>
          </a:p>
        </p:txBody>
      </p:sp>
      <p:pic>
        <p:nvPicPr>
          <p:cNvPr id="403" name="Google Shape;40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926" y="1101438"/>
            <a:ext cx="2295100" cy="12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75" y="2266675"/>
            <a:ext cx="4559500" cy="16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0"/>
          <p:cNvSpPr txBox="1"/>
          <p:nvPr/>
        </p:nvSpPr>
        <p:spPr>
          <a:xfrm>
            <a:off x="3127325" y="1214705"/>
            <a:ext cx="56271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</a:pPr>
            <a:r>
              <a:rPr lang="en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Output of ith neuron of the output layer</a:t>
            </a:r>
            <a:endParaRPr sz="2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06" name="Google Shape;406;p60"/>
          <p:cNvSpPr txBox="1"/>
          <p:nvPr/>
        </p:nvSpPr>
        <p:spPr>
          <a:xfrm>
            <a:off x="4525543" y="2393953"/>
            <a:ext cx="39702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</a:pPr>
            <a:r>
              <a:rPr lang="en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Note that they can be interpreted as probability since the sum is equal to 1</a:t>
            </a:r>
            <a:endParaRPr sz="2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07" name="Google Shape;407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3750" y="3797731"/>
            <a:ext cx="6324201" cy="12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60"/>
          <p:cNvSpPr txBox="1"/>
          <p:nvPr/>
        </p:nvSpPr>
        <p:spPr>
          <a:xfrm rot="-5400000">
            <a:off x="6965825" y="2423859"/>
            <a:ext cx="38730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Source:Umberto Michelucci, Applied Deep Learning - A Case-Based Approach to Understanding Deep Neural Networks, APRESS 2018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"/>
          <p:cNvSpPr txBox="1"/>
          <p:nvPr>
            <p:ph type="title"/>
          </p:nvPr>
        </p:nvSpPr>
        <p:spPr>
          <a:xfrm>
            <a:off x="628650" y="20286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Algorithm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2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</a:t>
            </a:r>
            <a:endParaRPr/>
          </a:p>
        </p:txBody>
      </p:sp>
      <p:sp>
        <p:nvSpPr>
          <p:cNvPr id="419" name="Google Shape;419;p62"/>
          <p:cNvSpPr txBox="1"/>
          <p:nvPr>
            <p:ph idx="1" type="body"/>
          </p:nvPr>
        </p:nvSpPr>
        <p:spPr>
          <a:xfrm>
            <a:off x="415899" y="1076064"/>
            <a:ext cx="4467000" cy="30879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-196850" lvl="0" marL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Used to compute local gradients efficiently using the chain rule</a:t>
            </a:r>
            <a:endParaRPr sz="1500"/>
          </a:p>
          <a:p>
            <a:pPr indent="-196850" lvl="1" marL="419100" rtl="0" algn="l">
              <a:spcBef>
                <a:spcPts val="5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Need to compute  </a:t>
            </a:r>
            <a:endParaRPr sz="1500"/>
          </a:p>
          <a:p>
            <a:pPr indent="0" lvl="0" marL="4191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/>
              <a:t>for every w in the network </a:t>
            </a:r>
            <a:endParaRPr sz="15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/>
              <a:t>Steps: </a:t>
            </a:r>
            <a:endParaRPr sz="1500"/>
          </a:p>
          <a:p>
            <a:pPr indent="-196850" lvl="0" marL="203200" rtl="0" algn="l">
              <a:spcBef>
                <a:spcPts val="5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Forward pass : calculate </a:t>
            </a:r>
            <a:r>
              <a:rPr b="1" lang="en" sz="1500"/>
              <a:t>y’</a:t>
            </a:r>
            <a:r>
              <a:rPr lang="en" sz="1500"/>
              <a:t> from </a:t>
            </a:r>
            <a:r>
              <a:rPr b="1" lang="en" sz="1500"/>
              <a:t>x1 … xn</a:t>
            </a:r>
            <a:endParaRPr b="1" sz="15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/>
              <a:t>2. Backward step to compute derivatives :</a:t>
            </a:r>
            <a:endParaRPr sz="1500"/>
          </a:p>
          <a:p>
            <a:pPr indent="-196850" lvl="0" marL="622300" rtl="0" algn="l">
              <a:spcBef>
                <a:spcPts val="5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 chain rule </a:t>
            </a:r>
            <a:endParaRPr sz="15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500"/>
              <a:t>3. Weight update using :</a:t>
            </a:r>
            <a:endParaRPr sz="1500"/>
          </a:p>
          <a:p>
            <a:pPr indent="0" lvl="0" marL="6223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6223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622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20" name="Google Shape;420;p62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1" name="Google Shape;421;p62"/>
          <p:cNvSpPr txBox="1"/>
          <p:nvPr/>
        </p:nvSpPr>
        <p:spPr>
          <a:xfrm>
            <a:off x="228622" y="4595383"/>
            <a:ext cx="578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https://blog.paperspace.com/intro-to-optimization-in-deep-learning-gradient-descent/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2992" y="990377"/>
            <a:ext cx="3659577" cy="325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5812" y="1588748"/>
            <a:ext cx="227191" cy="388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7194" y="3362319"/>
            <a:ext cx="982565" cy="362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3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 - NN as a Computational Graph </a:t>
            </a:r>
            <a:endParaRPr/>
          </a:p>
        </p:txBody>
      </p:sp>
      <p:sp>
        <p:nvSpPr>
          <p:cNvPr id="430" name="Google Shape;430;p63"/>
          <p:cNvSpPr txBox="1"/>
          <p:nvPr>
            <p:ph idx="1" type="body"/>
          </p:nvPr>
        </p:nvSpPr>
        <p:spPr>
          <a:xfrm>
            <a:off x="415899" y="1076064"/>
            <a:ext cx="3904800" cy="30879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-196850" lvl="0" marL="203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Neural network can be viewed as a computational graph. </a:t>
            </a:r>
            <a:endParaRPr sz="1500"/>
          </a:p>
          <a:p>
            <a:pPr indent="-196850" lvl="1" marL="419100" rtl="0" algn="l">
              <a:spcBef>
                <a:spcPts val="5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Nodes are the operations. </a:t>
            </a:r>
            <a:endParaRPr sz="1500"/>
          </a:p>
          <a:p>
            <a:pPr indent="-196850" lvl="1" marL="419100" rtl="0" algn="l">
              <a:spcBef>
                <a:spcPts val="5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Edges are the flow of data. </a:t>
            </a:r>
            <a:endParaRPr sz="1500"/>
          </a:p>
          <a:p>
            <a:pPr indent="-196850" lvl="0" marL="203200" rtl="0" algn="l">
              <a:spcBef>
                <a:spcPts val="5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Backpropagation propagates gradients through graph. </a:t>
            </a:r>
            <a:endParaRPr sz="1500"/>
          </a:p>
          <a:p>
            <a:pPr indent="0" lvl="0" marL="4191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825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31" name="Google Shape;431;p63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63"/>
          <p:cNvSpPr txBox="1"/>
          <p:nvPr/>
        </p:nvSpPr>
        <p:spPr>
          <a:xfrm>
            <a:off x="228622" y="4595383"/>
            <a:ext cx="5785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Image credit : https://towardsdatascience.com/back-propagation-simplified-218430e21ad0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328" y="1407364"/>
            <a:ext cx="4036846" cy="222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4"/>
          <p:cNvSpPr txBox="1"/>
          <p:nvPr>
            <p:ph type="title"/>
          </p:nvPr>
        </p:nvSpPr>
        <p:spPr>
          <a:xfrm>
            <a:off x="628650" y="2028669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with NNs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5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it "Deep"?</a:t>
            </a:r>
            <a:endParaRPr/>
          </a:p>
        </p:txBody>
      </p:sp>
      <p:sp>
        <p:nvSpPr>
          <p:cNvPr id="444" name="Google Shape;444;p65"/>
          <p:cNvSpPr txBox="1"/>
          <p:nvPr>
            <p:ph idx="1" type="body"/>
          </p:nvPr>
        </p:nvSpPr>
        <p:spPr>
          <a:xfrm>
            <a:off x="415900" y="1076075"/>
            <a:ext cx="4727700" cy="30879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is simply a specific class of Machine Learning based on Artificial Neural Networks with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 learning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20320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Difference: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"Deep" refers strictly to the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hidden layers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network.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i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Shallow Network: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or 2 hidden layers.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i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Network: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Dozens, hundreds, or even thousands of layers (e.g., ResNet, GPT).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Capacity: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Adding depth allows the network to model complex, non-linear relationships that simpler models cannot capture.</a:t>
            </a:r>
            <a:endParaRPr sz="1800"/>
          </a:p>
          <a:p>
            <a:pPr indent="0" lvl="0" marL="419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825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45" name="Google Shape;445;p65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6" name="Google Shape;44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600" y="1668364"/>
            <a:ext cx="3802199" cy="207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6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Hierarchical Feature Extraction</a:t>
            </a:r>
            <a:endParaRPr/>
          </a:p>
        </p:txBody>
      </p:sp>
      <p:sp>
        <p:nvSpPr>
          <p:cNvPr id="452" name="Google Shape;452;p66"/>
          <p:cNvSpPr txBox="1"/>
          <p:nvPr>
            <p:ph idx="1" type="body"/>
          </p:nvPr>
        </p:nvSpPr>
        <p:spPr>
          <a:xfrm>
            <a:off x="362550" y="840750"/>
            <a:ext cx="4727100" cy="41421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Old Way: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Traditional ML required humans to manually define features (e.g., "look for circular shapes" to find a car).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Deep Learning Way: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network learns features automatically, building them up hierarchically: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Layers: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Detect simple patterns (Edges, lines, color gradients).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Middle Layers: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Combine simple patterns into complex shapes (Eyes, ears, tires, windows).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Layers: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Combine shapes into whole objects (Faces, cars, dogs).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Learning: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Raw data goes in -&gt; Class/Prediction comes out. No manual feature engineering required.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91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825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53" name="Google Shape;453;p66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4" name="Google Shape;45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6475" y="1504950"/>
            <a:ext cx="3590226" cy="195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7"/>
          <p:cNvSpPr txBox="1"/>
          <p:nvPr>
            <p:ph type="title"/>
          </p:nvPr>
        </p:nvSpPr>
        <p:spPr>
          <a:xfrm>
            <a:off x="375223" y="266614"/>
            <a:ext cx="7567500" cy="2958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Deep Learning is Dominant Now</a:t>
            </a:r>
            <a:endParaRPr/>
          </a:p>
        </p:txBody>
      </p:sp>
      <p:sp>
        <p:nvSpPr>
          <p:cNvPr id="460" name="Google Shape;460;p67"/>
          <p:cNvSpPr txBox="1"/>
          <p:nvPr>
            <p:ph idx="1" type="body"/>
          </p:nvPr>
        </p:nvSpPr>
        <p:spPr>
          <a:xfrm>
            <a:off x="415900" y="1076075"/>
            <a:ext cx="4532700" cy="3980100"/>
          </a:xfrm>
          <a:prstGeom prst="rect">
            <a:avLst/>
          </a:prstGeom>
        </p:spPr>
        <p:txBody>
          <a:bodyPr anchorCtr="0" anchor="t" bIns="41500" lIns="41500" spcFirstLastPara="1" rIns="41500" wrap="square" tIns="415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 vs. Data Scale: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algorithms (SVM, Logistic Regression) tend to plateau; adding more data stops improving accuracy after a certain point.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performance continues to improve as you feed it more data.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"Unstructured" King: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Deep Learning is unrivaled for unstructured data: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Images, Video, Audio, and Text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Trade-offs: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State-of-the-art accuracy, automation of feature extraction.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Requires massive data, expensive hardware (GPUs), and acts as a "Black Box" (harder to interpret).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191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8255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1" name="Google Shape;461;p67"/>
          <p:cNvSpPr txBox="1"/>
          <p:nvPr>
            <p:ph idx="12" type="sldNum"/>
          </p:nvPr>
        </p:nvSpPr>
        <p:spPr>
          <a:xfrm>
            <a:off x="8686431" y="4849909"/>
            <a:ext cx="350100" cy="13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50800" lvl="0" marL="0" rtl="0" algn="l">
              <a:spcBef>
                <a:spcPts val="0"/>
              </a:spcBef>
              <a:spcAft>
                <a:spcPts val="0"/>
              </a:spcAft>
              <a:buClr>
                <a:srgbClr val="F5606E"/>
              </a:buClr>
              <a:buSzPts val="1000"/>
              <a:buFont typeface="Karla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2" name="Google Shape;46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700" y="1662839"/>
            <a:ext cx="4139300" cy="2259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