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3" r:id="rId4"/>
    <p:sldMasterId id="2147483684" r:id="rId5"/>
    <p:sldMasterId id="2147483685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embeddedFontLst>
    <p:embeddedFont>
      <p:font typeface="Raleway"/>
      <p:regular r:id="rId37"/>
      <p:bold r:id="rId38"/>
      <p:italic r:id="rId39"/>
      <p:boldItalic r:id="rId40"/>
    </p:embeddedFont>
    <p:embeddedFont>
      <p:font typeface="Roboto"/>
      <p:regular r:id="rId41"/>
      <p:bold r:id="rId42"/>
      <p:italic r:id="rId43"/>
      <p:boldItalic r:id="rId44"/>
    </p:embeddedFont>
    <p:embeddedFont>
      <p:font typeface="Open Sans"/>
      <p:regular r:id="rId45"/>
      <p:bold r:id="rId46"/>
      <p:italic r:id="rId47"/>
      <p:boldItalic r:id="rId48"/>
    </p:embeddedFont>
    <p:embeddedFont>
      <p:font typeface="Karla"/>
      <p:regular r:id="rId49"/>
      <p:bold r:id="rId50"/>
      <p:italic r:id="rId51"/>
      <p:boldItalic r:id="rId5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Raleway-boldItalic.fntdata"/><Relationship Id="rId42" Type="http://schemas.openxmlformats.org/officeDocument/2006/relationships/font" Target="fonts/Roboto-bold.fntdata"/><Relationship Id="rId41" Type="http://schemas.openxmlformats.org/officeDocument/2006/relationships/font" Target="fonts/Roboto-regular.fntdata"/><Relationship Id="rId44" Type="http://schemas.openxmlformats.org/officeDocument/2006/relationships/font" Target="fonts/Roboto-boldItalic.fntdata"/><Relationship Id="rId43" Type="http://schemas.openxmlformats.org/officeDocument/2006/relationships/font" Target="fonts/Roboto-italic.fntdata"/><Relationship Id="rId46" Type="http://schemas.openxmlformats.org/officeDocument/2006/relationships/font" Target="fonts/OpenSans-bold.fntdata"/><Relationship Id="rId45" Type="http://schemas.openxmlformats.org/officeDocument/2006/relationships/font" Target="fonts/OpenSans-regular.fntdata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48" Type="http://schemas.openxmlformats.org/officeDocument/2006/relationships/font" Target="fonts/OpenSans-boldItalic.fntdata"/><Relationship Id="rId47" Type="http://schemas.openxmlformats.org/officeDocument/2006/relationships/font" Target="fonts/OpenSans-italic.fntdata"/><Relationship Id="rId49" Type="http://schemas.openxmlformats.org/officeDocument/2006/relationships/font" Target="fonts/Karla-regular.fntdata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33" Type="http://schemas.openxmlformats.org/officeDocument/2006/relationships/slide" Target="slides/slide26.xml"/><Relationship Id="rId32" Type="http://schemas.openxmlformats.org/officeDocument/2006/relationships/slide" Target="slides/slide25.xml"/><Relationship Id="rId35" Type="http://schemas.openxmlformats.org/officeDocument/2006/relationships/slide" Target="slides/slide28.xml"/><Relationship Id="rId34" Type="http://schemas.openxmlformats.org/officeDocument/2006/relationships/slide" Target="slides/slide27.xml"/><Relationship Id="rId37" Type="http://schemas.openxmlformats.org/officeDocument/2006/relationships/font" Target="fonts/Raleway-regular.fntdata"/><Relationship Id="rId36" Type="http://schemas.openxmlformats.org/officeDocument/2006/relationships/slide" Target="slides/slide29.xml"/><Relationship Id="rId39" Type="http://schemas.openxmlformats.org/officeDocument/2006/relationships/font" Target="fonts/Raleway-italic.fntdata"/><Relationship Id="rId38" Type="http://schemas.openxmlformats.org/officeDocument/2006/relationships/font" Target="fonts/Raleway-bold.fntdata"/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29" Type="http://schemas.openxmlformats.org/officeDocument/2006/relationships/slide" Target="slides/slide22.xml"/><Relationship Id="rId51" Type="http://schemas.openxmlformats.org/officeDocument/2006/relationships/font" Target="fonts/Karla-italic.fntdata"/><Relationship Id="rId50" Type="http://schemas.openxmlformats.org/officeDocument/2006/relationships/font" Target="fonts/Karla-bold.fntdata"/><Relationship Id="rId52" Type="http://schemas.openxmlformats.org/officeDocument/2006/relationships/font" Target="fonts/Karla-boldItalic.fntdata"/><Relationship Id="rId11" Type="http://schemas.openxmlformats.org/officeDocument/2006/relationships/slide" Target="slides/slide4.xml"/><Relationship Id="rId10" Type="http://schemas.openxmlformats.org/officeDocument/2006/relationships/slide" Target="slides/slide3.xml"/><Relationship Id="rId13" Type="http://schemas.openxmlformats.org/officeDocument/2006/relationships/slide" Target="slides/slide6.xml"/><Relationship Id="rId12" Type="http://schemas.openxmlformats.org/officeDocument/2006/relationships/slide" Target="slides/slide5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45775a6e83_0_1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g345775a6e83_0_17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bbb3281ca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bbb3281ca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bbb3281ca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3bbb3281ca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bdd6c88440_0_35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6" name="Google Shape;186;g3bdd6c88440_0_358:notes"/>
          <p:cNvSpPr/>
          <p:nvPr>
            <p:ph idx="2" type="sldImg"/>
          </p:nvPr>
        </p:nvSpPr>
        <p:spPr>
          <a:xfrm>
            <a:off x="381128" y="685800"/>
            <a:ext cx="6095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bdd6c88440_0_3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5" name="Google Shape;195;g3bdd6c88440_0_366:notes"/>
          <p:cNvSpPr/>
          <p:nvPr>
            <p:ph idx="2" type="sldImg"/>
          </p:nvPr>
        </p:nvSpPr>
        <p:spPr>
          <a:xfrm>
            <a:off x="381128" y="685800"/>
            <a:ext cx="6095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bbb3281ca4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3bbb3281ca4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3bdd6c88440_0_37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09" name="Google Shape;209;g3bdd6c88440_0_374:notes"/>
          <p:cNvSpPr/>
          <p:nvPr>
            <p:ph idx="2" type="sldImg"/>
          </p:nvPr>
        </p:nvSpPr>
        <p:spPr>
          <a:xfrm>
            <a:off x="381128" y="685800"/>
            <a:ext cx="6095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bdd6c88440_0_38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Multiple outputs mean multiclass classification. x as a vector means one observation</a:t>
            </a:r>
            <a:endParaRPr/>
          </a:p>
        </p:txBody>
      </p:sp>
      <p:sp>
        <p:nvSpPr>
          <p:cNvPr id="218" name="Google Shape;218;g3bdd6c88440_0_382:notes"/>
          <p:cNvSpPr/>
          <p:nvPr>
            <p:ph idx="2" type="sldImg"/>
          </p:nvPr>
        </p:nvSpPr>
        <p:spPr>
          <a:xfrm>
            <a:off x="381128" y="685800"/>
            <a:ext cx="6095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bdd6c88440_0_3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X matrix contains many observations</a:t>
            </a:r>
            <a:endParaRPr/>
          </a:p>
        </p:txBody>
      </p:sp>
      <p:sp>
        <p:nvSpPr>
          <p:cNvPr id="227" name="Google Shape;227;g3bdd6c88440_0_390:notes"/>
          <p:cNvSpPr/>
          <p:nvPr>
            <p:ph idx="2" type="sldImg"/>
          </p:nvPr>
        </p:nvSpPr>
        <p:spPr>
          <a:xfrm>
            <a:off x="381128" y="685800"/>
            <a:ext cx="6095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3bdd6c88440_0_627:notes"/>
          <p:cNvSpPr/>
          <p:nvPr>
            <p:ph idx="2" type="sldImg"/>
          </p:nvPr>
        </p:nvSpPr>
        <p:spPr>
          <a:xfrm>
            <a:off x="1128720" y="685800"/>
            <a:ext cx="4600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" name="Google Shape;236;g3bdd6c88440_0_62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bdd6c88440_0_74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4" name="Google Shape;244;g3bdd6c88440_0_7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bdd6c88440_0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1" name="Google Shape;251;g3bdd6c88440_0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Draw on the blackboard all the components of a neuron and the 3 components of a model and ask students which part is relevant</a:t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bdd6c88440_0_75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7" name="Google Shape;257;g3bdd6c88440_0_7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bbb3281ca4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bbb3281ca4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3bdd6c88440_0_8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8" name="Google Shape;268;g3bdd6c88440_0_8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3bdd6c88440_0_8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4" name="Google Shape;284;g3bdd6c88440_0_87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3bdd6c88440_0_8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0" name="Google Shape;300;g3bdd6c88440_0_8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3bdd6c88440_0_9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6" name="Google Shape;316;g3bdd6c88440_0_9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3bdd6c88440_0_9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3" name="Google Shape;343;g3bdd6c88440_0_9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g3bdd6c88440_0_9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2" name="Google Shape;362;g3bdd6c88440_0_9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g3bdd6c88440_0_9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1" name="Google Shape;381;g3bdd6c88440_0_9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g3bdd6c88440_0_98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0" name="Google Shape;400;g3bdd6c88440_0_9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g3bdd6c88440_0_10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1" name="Google Shape;411;g3bdd6c88440_0_10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4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g3bdd6c88440_0_1240:notes"/>
          <p:cNvSpPr/>
          <p:nvPr>
            <p:ph idx="2" type="sldImg"/>
          </p:nvPr>
        </p:nvSpPr>
        <p:spPr>
          <a:xfrm>
            <a:off x="1128720" y="685800"/>
            <a:ext cx="4600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6" name="Google Shape;416;g3bdd6c88440_0_124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5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g3bdd6c88440_0_1250:notes"/>
          <p:cNvSpPr/>
          <p:nvPr>
            <p:ph idx="2" type="sldImg"/>
          </p:nvPr>
        </p:nvSpPr>
        <p:spPr>
          <a:xfrm>
            <a:off x="1128720" y="685800"/>
            <a:ext cx="4600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7" name="Google Shape;427;g3bdd6c88440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4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g3bdd6c88440_0_13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6" name="Google Shape;436;g3bdd6c88440_0_13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9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g3bdd6c88440_0_1388:notes"/>
          <p:cNvSpPr/>
          <p:nvPr>
            <p:ph idx="2" type="sldImg"/>
          </p:nvPr>
        </p:nvSpPr>
        <p:spPr>
          <a:xfrm>
            <a:off x="1128720" y="685800"/>
            <a:ext cx="4600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1" name="Google Shape;441;g3bdd6c88440_0_138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g3bdd6c88440_0_1397:notes"/>
          <p:cNvSpPr/>
          <p:nvPr>
            <p:ph idx="2" type="sldImg"/>
          </p:nvPr>
        </p:nvSpPr>
        <p:spPr>
          <a:xfrm>
            <a:off x="1128720" y="685800"/>
            <a:ext cx="4600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9" name="Google Shape;449;g3bdd6c88440_0_139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g3bdd6c88440_0_1406:notes"/>
          <p:cNvSpPr/>
          <p:nvPr>
            <p:ph idx="2" type="sldImg"/>
          </p:nvPr>
        </p:nvSpPr>
        <p:spPr>
          <a:xfrm>
            <a:off x="1128720" y="685800"/>
            <a:ext cx="4600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7" name="Google Shape;457;g3bdd6c88440_0_140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4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Google Shape;59;p14"/>
          <p:cNvSpPr txBox="1"/>
          <p:nvPr>
            <p:ph idx="1" type="subTitle"/>
          </p:nvPr>
        </p:nvSpPr>
        <p:spPr>
          <a:xfrm>
            <a:off x="1143000" y="2701529"/>
            <a:ext cx="6858000" cy="1241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60" name="Google Shape;60;p14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1" name="Google Shape;61;p14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2" name="Google Shape;62;p14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5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6" name="Google Shape;66;p15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Google Shape;67;p15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8" name="Google Shape;68;p15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6"/>
          <p:cNvSpPr txBox="1"/>
          <p:nvPr>
            <p:ph type="title"/>
          </p:nvPr>
        </p:nvSpPr>
        <p:spPr>
          <a:xfrm>
            <a:off x="623888" y="1282303"/>
            <a:ext cx="7886700" cy="21396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1" name="Google Shape;71;p16"/>
          <p:cNvSpPr txBox="1"/>
          <p:nvPr>
            <p:ph idx="1" type="body"/>
          </p:nvPr>
        </p:nvSpPr>
        <p:spPr>
          <a:xfrm>
            <a:off x="623888" y="3442097"/>
            <a:ext cx="7886700" cy="1125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72" name="Google Shape;72;p16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Google Shape;73;p16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idx="1" type="body"/>
          </p:nvPr>
        </p:nvSpPr>
        <p:spPr>
          <a:xfrm>
            <a:off x="628650" y="1369219"/>
            <a:ext cx="3886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8" name="Google Shape;78;p17"/>
          <p:cNvSpPr txBox="1"/>
          <p:nvPr>
            <p:ph idx="2" type="body"/>
          </p:nvPr>
        </p:nvSpPr>
        <p:spPr>
          <a:xfrm>
            <a:off x="4629150" y="1369219"/>
            <a:ext cx="3886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1" name="Google Shape;81;p17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8"/>
          <p:cNvSpPr txBox="1"/>
          <p:nvPr>
            <p:ph type="title"/>
          </p:nvPr>
        </p:nvSpPr>
        <p:spPr>
          <a:xfrm>
            <a:off x="629841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4" name="Google Shape;84;p18"/>
          <p:cNvSpPr txBox="1"/>
          <p:nvPr>
            <p:ph idx="1" type="body"/>
          </p:nvPr>
        </p:nvSpPr>
        <p:spPr>
          <a:xfrm>
            <a:off x="629841" y="1260872"/>
            <a:ext cx="3868500" cy="6180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5" name="Google Shape;85;p18"/>
          <p:cNvSpPr txBox="1"/>
          <p:nvPr>
            <p:ph idx="2" type="body"/>
          </p:nvPr>
        </p:nvSpPr>
        <p:spPr>
          <a:xfrm>
            <a:off x="629841" y="1878806"/>
            <a:ext cx="3868500" cy="2763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86" name="Google Shape;86;p18"/>
          <p:cNvSpPr txBox="1"/>
          <p:nvPr>
            <p:ph idx="3" type="body"/>
          </p:nvPr>
        </p:nvSpPr>
        <p:spPr>
          <a:xfrm>
            <a:off x="4629150" y="1260872"/>
            <a:ext cx="3887400" cy="6180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7" name="Google Shape;87;p18"/>
          <p:cNvSpPr txBox="1"/>
          <p:nvPr>
            <p:ph idx="4" type="body"/>
          </p:nvPr>
        </p:nvSpPr>
        <p:spPr>
          <a:xfrm>
            <a:off x="4629150" y="1878806"/>
            <a:ext cx="3887400" cy="2763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88" name="Google Shape;88;p18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9" name="Google Shape;89;p18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0" name="Google Shape;90;p18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9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3" name="Google Shape;93;p19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4" name="Google Shape;94;p19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5" name="Google Shape;95;p19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0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8" name="Google Shape;98;p20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9" name="Google Shape;99;p20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1"/>
          <p:cNvSpPr txBox="1"/>
          <p:nvPr>
            <p:ph type="title"/>
          </p:nvPr>
        </p:nvSpPr>
        <p:spPr>
          <a:xfrm>
            <a:off x="629841" y="342900"/>
            <a:ext cx="2949000" cy="1200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2" name="Google Shape;102;p21"/>
          <p:cNvSpPr txBox="1"/>
          <p:nvPr>
            <p:ph idx="1" type="body"/>
          </p:nvPr>
        </p:nvSpPr>
        <p:spPr>
          <a:xfrm>
            <a:off x="3887391" y="740569"/>
            <a:ext cx="4629300" cy="36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103" name="Google Shape;103;p21"/>
          <p:cNvSpPr txBox="1"/>
          <p:nvPr>
            <p:ph idx="2" type="body"/>
          </p:nvPr>
        </p:nvSpPr>
        <p:spPr>
          <a:xfrm>
            <a:off x="629841" y="1543050"/>
            <a:ext cx="2949000" cy="2858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104" name="Google Shape;104;p21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5" name="Google Shape;105;p21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6" name="Google Shape;106;p21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2"/>
          <p:cNvSpPr txBox="1"/>
          <p:nvPr>
            <p:ph type="title"/>
          </p:nvPr>
        </p:nvSpPr>
        <p:spPr>
          <a:xfrm>
            <a:off x="629841" y="342900"/>
            <a:ext cx="2949000" cy="1200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22"/>
          <p:cNvSpPr/>
          <p:nvPr>
            <p:ph idx="2" type="pic"/>
          </p:nvPr>
        </p:nvSpPr>
        <p:spPr>
          <a:xfrm>
            <a:off x="3887391" y="740569"/>
            <a:ext cx="4629300" cy="3655200"/>
          </a:xfrm>
          <a:prstGeom prst="rect">
            <a:avLst/>
          </a:prstGeom>
          <a:noFill/>
          <a:ln>
            <a:noFill/>
          </a:ln>
        </p:spPr>
      </p:sp>
      <p:sp>
        <p:nvSpPr>
          <p:cNvPr id="110" name="Google Shape;110;p22"/>
          <p:cNvSpPr txBox="1"/>
          <p:nvPr>
            <p:ph idx="1" type="body"/>
          </p:nvPr>
        </p:nvSpPr>
        <p:spPr>
          <a:xfrm>
            <a:off x="629841" y="1543050"/>
            <a:ext cx="2949000" cy="2858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111" name="Google Shape;111;p22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2" name="Google Shape;112;p22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3" name="Google Shape;113;p22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3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6" name="Google Shape;116;p23"/>
          <p:cNvSpPr txBox="1"/>
          <p:nvPr>
            <p:ph idx="1" type="body"/>
          </p:nvPr>
        </p:nvSpPr>
        <p:spPr>
          <a:xfrm rot="5400000">
            <a:off x="2940300" y="-942431"/>
            <a:ext cx="3263400" cy="788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7" name="Google Shape;117;p23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8" name="Google Shape;118;p23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9" name="Google Shape;119;p23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4"/>
          <p:cNvSpPr txBox="1"/>
          <p:nvPr>
            <p:ph type="title"/>
          </p:nvPr>
        </p:nvSpPr>
        <p:spPr>
          <a:xfrm rot="5400000">
            <a:off x="5350050" y="1467544"/>
            <a:ext cx="4359000" cy="19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2" name="Google Shape;122;p24"/>
          <p:cNvSpPr txBox="1"/>
          <p:nvPr>
            <p:ph idx="1" type="body"/>
          </p:nvPr>
        </p:nvSpPr>
        <p:spPr>
          <a:xfrm rot="5400000">
            <a:off x="1349475" y="-447056"/>
            <a:ext cx="4359000" cy="58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3" name="Google Shape;123;p24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4" name="Google Shape;124;p24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5" name="Google Shape;125;p24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5"/>
          <p:cNvSpPr txBox="1"/>
          <p:nvPr>
            <p:ph type="title"/>
          </p:nvPr>
        </p:nvSpPr>
        <p:spPr>
          <a:xfrm>
            <a:off x="311700" y="292625"/>
            <a:ext cx="8023500" cy="55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defRPr b="1" sz="2100">
                <a:solidFill>
                  <a:srgbClr val="3366C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28" name="Google Shape;128;p25"/>
          <p:cNvSpPr txBox="1"/>
          <p:nvPr>
            <p:ph idx="1" type="body"/>
          </p:nvPr>
        </p:nvSpPr>
        <p:spPr>
          <a:xfrm>
            <a:off x="311700" y="928100"/>
            <a:ext cx="8520600" cy="377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29" name="Google Shape;129;p25"/>
          <p:cNvSpPr txBox="1"/>
          <p:nvPr>
            <p:ph idx="12" type="sldNum"/>
          </p:nvPr>
        </p:nvSpPr>
        <p:spPr>
          <a:xfrm>
            <a:off x="8434363" y="4786313"/>
            <a:ext cx="548700" cy="21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3366CC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3366CC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3366CC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3366CC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3366CC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3366CC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3366CC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3366CC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3366CC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sz="900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7"/>
          <p:cNvSpPr txBox="1"/>
          <p:nvPr>
            <p:ph type="title"/>
          </p:nvPr>
        </p:nvSpPr>
        <p:spPr>
          <a:xfrm>
            <a:off x="623848" y="1450340"/>
            <a:ext cx="7070400" cy="98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00" lIns="41500" spcFirstLastPara="1" rIns="41500" wrap="square" tIns="415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Karla"/>
              <a:buNone/>
              <a:defRPr b="1" i="0" sz="1900" u="none" cap="none" strike="noStrike">
                <a:latin typeface="Karla"/>
                <a:ea typeface="Karla"/>
                <a:cs typeface="Karla"/>
                <a:sym typeface="Karla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66CC"/>
              </a:buClr>
              <a:buSzPts val="1900"/>
              <a:buFont typeface="Karla"/>
              <a:buNone/>
              <a:defRPr b="1" i="0" sz="19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66CC"/>
              </a:buClr>
              <a:buSzPts val="1900"/>
              <a:buFont typeface="Karla"/>
              <a:buNone/>
              <a:defRPr b="1" i="0" sz="19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66CC"/>
              </a:buClr>
              <a:buSzPts val="1900"/>
              <a:buFont typeface="Karla"/>
              <a:buNone/>
              <a:defRPr b="1" i="0" sz="19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66CC"/>
              </a:buClr>
              <a:buSzPts val="1900"/>
              <a:buFont typeface="Karla"/>
              <a:buNone/>
              <a:defRPr b="1" i="0" sz="19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66CC"/>
              </a:buClr>
              <a:buSzPts val="1900"/>
              <a:buFont typeface="Karla"/>
              <a:buNone/>
              <a:defRPr b="1" i="0" sz="19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66CC"/>
              </a:buClr>
              <a:buSzPts val="1900"/>
              <a:buFont typeface="Karla"/>
              <a:buNone/>
              <a:defRPr b="1" i="0" sz="19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66CC"/>
              </a:buClr>
              <a:buSzPts val="1900"/>
              <a:buFont typeface="Karla"/>
              <a:buNone/>
              <a:defRPr b="1" i="0" sz="19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66CC"/>
              </a:buClr>
              <a:buSzPts val="1900"/>
              <a:buFont typeface="Karla"/>
              <a:buNone/>
              <a:defRPr b="1" i="0" sz="19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/>
        </p:txBody>
      </p:sp>
      <p:sp>
        <p:nvSpPr>
          <p:cNvPr id="136" name="Google Shape;136;p27"/>
          <p:cNvSpPr txBox="1"/>
          <p:nvPr>
            <p:ph idx="1" type="body"/>
          </p:nvPr>
        </p:nvSpPr>
        <p:spPr>
          <a:xfrm>
            <a:off x="1247697" y="2619970"/>
            <a:ext cx="5822700" cy="11697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00" lIns="41500" spcFirstLastPara="1" rIns="41500" wrap="square" tIns="41500">
            <a:no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Calibri"/>
              <a:buNone/>
              <a:defRPr b="0" i="0" sz="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Calibri"/>
              <a:buNone/>
              <a:defRPr b="0" i="0" sz="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Calibri"/>
              <a:buNone/>
              <a:defRPr b="0" i="0" sz="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Calibri"/>
              <a:buNone/>
              <a:defRPr b="0" i="0" sz="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Calibri"/>
              <a:buNone/>
              <a:defRPr b="0" i="0" sz="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Calibri"/>
              <a:buNone/>
              <a:defRPr b="0" i="0" sz="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Calibri"/>
              <a:buNone/>
              <a:defRPr b="0" i="0" sz="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Calibri"/>
              <a:buNone/>
              <a:defRPr b="0" i="0" sz="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Calibri"/>
              <a:buNone/>
              <a:defRPr b="0" i="0" sz="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7" name="Google Shape;137;p27"/>
          <p:cNvSpPr txBox="1"/>
          <p:nvPr>
            <p:ph idx="12" type="sldNum"/>
          </p:nvPr>
        </p:nvSpPr>
        <p:spPr>
          <a:xfrm>
            <a:off x="8686431" y="4849909"/>
            <a:ext cx="350100" cy="1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5080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1pPr>
            <a:lvl2pPr indent="5080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2pPr>
            <a:lvl3pPr indent="5080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3pPr>
            <a:lvl4pPr indent="5080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4pPr>
            <a:lvl5pPr indent="5080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5pPr>
            <a:lvl6pPr indent="5080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6pPr>
            <a:lvl7pPr indent="5080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7pPr>
            <a:lvl8pPr indent="5080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8pPr>
            <a:lvl9pPr indent="5080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indent="5080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0">
  <p:cSld name="Title and Content 0"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8"/>
          <p:cNvSpPr txBox="1"/>
          <p:nvPr>
            <p:ph type="title"/>
          </p:nvPr>
        </p:nvSpPr>
        <p:spPr>
          <a:xfrm>
            <a:off x="375223" y="266614"/>
            <a:ext cx="7567500" cy="2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00" lIns="41500" spcFirstLastPara="1" rIns="41500" wrap="square" tIns="415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Open Sans"/>
              <a:buNone/>
              <a:defRPr i="0" sz="1900" u="none" cap="none" strike="noStrike">
                <a:latin typeface="Open Sans"/>
                <a:ea typeface="Open Sans"/>
                <a:cs typeface="Open Sans"/>
                <a:sym typeface="Open Sans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Karla"/>
              <a:buNone/>
              <a:defRPr b="1" i="0" sz="1900" u="none" cap="none" strike="noStrike">
                <a:solidFill>
                  <a:srgbClr val="F5606E"/>
                </a:solidFill>
                <a:latin typeface="Karla"/>
                <a:ea typeface="Karla"/>
                <a:cs typeface="Karla"/>
                <a:sym typeface="Karla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Karla"/>
              <a:buNone/>
              <a:defRPr b="1" i="0" sz="1900" u="none" cap="none" strike="noStrike">
                <a:solidFill>
                  <a:srgbClr val="F5606E"/>
                </a:solidFill>
                <a:latin typeface="Karla"/>
                <a:ea typeface="Karla"/>
                <a:cs typeface="Karla"/>
                <a:sym typeface="Karla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Karla"/>
              <a:buNone/>
              <a:defRPr b="1" i="0" sz="1900" u="none" cap="none" strike="noStrike">
                <a:solidFill>
                  <a:srgbClr val="F5606E"/>
                </a:solidFill>
                <a:latin typeface="Karla"/>
                <a:ea typeface="Karla"/>
                <a:cs typeface="Karla"/>
                <a:sym typeface="Karla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Karla"/>
              <a:buNone/>
              <a:defRPr b="1" i="0" sz="1900" u="none" cap="none" strike="noStrike">
                <a:solidFill>
                  <a:srgbClr val="F5606E"/>
                </a:solidFill>
                <a:latin typeface="Karla"/>
                <a:ea typeface="Karla"/>
                <a:cs typeface="Karla"/>
                <a:sym typeface="Karla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Karla"/>
              <a:buNone/>
              <a:defRPr b="1" i="0" sz="1900" u="none" cap="none" strike="noStrike">
                <a:solidFill>
                  <a:srgbClr val="F5606E"/>
                </a:solidFill>
                <a:latin typeface="Karla"/>
                <a:ea typeface="Karla"/>
                <a:cs typeface="Karla"/>
                <a:sym typeface="Karla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Karla"/>
              <a:buNone/>
              <a:defRPr b="1" i="0" sz="1900" u="none" cap="none" strike="noStrike">
                <a:solidFill>
                  <a:srgbClr val="F5606E"/>
                </a:solidFill>
                <a:latin typeface="Karla"/>
                <a:ea typeface="Karla"/>
                <a:cs typeface="Karla"/>
                <a:sym typeface="Karla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Karla"/>
              <a:buNone/>
              <a:defRPr b="1" i="0" sz="1900" u="none" cap="none" strike="noStrike">
                <a:solidFill>
                  <a:srgbClr val="F5606E"/>
                </a:solidFill>
                <a:latin typeface="Karla"/>
                <a:ea typeface="Karla"/>
                <a:cs typeface="Karla"/>
                <a:sym typeface="Karla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Karla"/>
              <a:buNone/>
              <a:defRPr b="1" i="0" sz="1900" u="none" cap="none" strike="noStrike">
                <a:solidFill>
                  <a:srgbClr val="F5606E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/>
        </p:txBody>
      </p:sp>
      <p:sp>
        <p:nvSpPr>
          <p:cNvPr id="140" name="Google Shape;140;p28"/>
          <p:cNvSpPr txBox="1"/>
          <p:nvPr>
            <p:ph idx="1" type="body"/>
          </p:nvPr>
        </p:nvSpPr>
        <p:spPr>
          <a:xfrm>
            <a:off x="415899" y="1076059"/>
            <a:ext cx="7486200" cy="308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00" lIns="41500" spcFirstLastPara="1" rIns="41500" wrap="square" tIns="41500">
            <a:no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Open Sans"/>
              <a:buNone/>
              <a:defRPr i="0" sz="13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228600" lvl="1" marL="914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Open Sans"/>
              <a:buNone/>
              <a:defRPr i="0" sz="13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28600" lvl="2" marL="1371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Open Sans"/>
              <a:buNone/>
              <a:defRPr i="0" sz="13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28600" lvl="3" marL="1828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Open Sans"/>
              <a:buNone/>
              <a:defRPr i="0" sz="13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28600" lvl="4" marL="22860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Open Sans"/>
              <a:buNone/>
              <a:defRPr i="0" sz="13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228600" lvl="5" marL="2743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Open Sans"/>
              <a:buNone/>
              <a:defRPr i="0" sz="13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228600" lvl="6" marL="3200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Open Sans"/>
              <a:buNone/>
              <a:defRPr i="0" sz="13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228600" lvl="7" marL="3657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Open Sans"/>
              <a:buNone/>
              <a:defRPr i="0" sz="13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228600" lvl="8" marL="4114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Open Sans"/>
              <a:buNone/>
              <a:defRPr i="0" sz="13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141" name="Google Shape;141;p28"/>
          <p:cNvSpPr txBox="1"/>
          <p:nvPr>
            <p:ph idx="12" type="sldNum"/>
          </p:nvPr>
        </p:nvSpPr>
        <p:spPr>
          <a:xfrm>
            <a:off x="8686431" y="4849909"/>
            <a:ext cx="350100" cy="1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5080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1pPr>
            <a:lvl2pPr indent="5080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2pPr>
            <a:lvl3pPr indent="5080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3pPr>
            <a:lvl4pPr indent="5080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4pPr>
            <a:lvl5pPr indent="5080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5pPr>
            <a:lvl6pPr indent="5080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6pPr>
            <a:lvl7pPr indent="5080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7pPr>
            <a:lvl8pPr indent="5080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8pPr>
            <a:lvl9pPr indent="5080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indent="5080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9"/>
          <p:cNvSpPr txBox="1"/>
          <p:nvPr>
            <p:ph type="title"/>
          </p:nvPr>
        </p:nvSpPr>
        <p:spPr>
          <a:xfrm>
            <a:off x="375223" y="266614"/>
            <a:ext cx="7567500" cy="2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00" lIns="41500" spcFirstLastPara="1" rIns="41500" wrap="square" tIns="415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 i="0" u="none" cap="none" strike="noStrike"/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Karla"/>
              <a:buNone/>
              <a:defRPr b="1" i="0" sz="1900" u="none" cap="none" strike="noStrike">
                <a:solidFill>
                  <a:srgbClr val="F5606E"/>
                </a:solidFill>
                <a:latin typeface="Karla"/>
                <a:ea typeface="Karla"/>
                <a:cs typeface="Karla"/>
                <a:sym typeface="Karla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Karla"/>
              <a:buNone/>
              <a:defRPr b="1" i="0" sz="1900" u="none" cap="none" strike="noStrike">
                <a:solidFill>
                  <a:srgbClr val="F5606E"/>
                </a:solidFill>
                <a:latin typeface="Karla"/>
                <a:ea typeface="Karla"/>
                <a:cs typeface="Karla"/>
                <a:sym typeface="Karla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Karla"/>
              <a:buNone/>
              <a:defRPr b="1" i="0" sz="1900" u="none" cap="none" strike="noStrike">
                <a:solidFill>
                  <a:srgbClr val="F5606E"/>
                </a:solidFill>
                <a:latin typeface="Karla"/>
                <a:ea typeface="Karla"/>
                <a:cs typeface="Karla"/>
                <a:sym typeface="Karla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Karla"/>
              <a:buNone/>
              <a:defRPr b="1" i="0" sz="1900" u="none" cap="none" strike="noStrike">
                <a:solidFill>
                  <a:srgbClr val="F5606E"/>
                </a:solidFill>
                <a:latin typeface="Karla"/>
                <a:ea typeface="Karla"/>
                <a:cs typeface="Karla"/>
                <a:sym typeface="Karla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Karla"/>
              <a:buNone/>
              <a:defRPr b="1" i="0" sz="1900" u="none" cap="none" strike="noStrike">
                <a:solidFill>
                  <a:srgbClr val="F5606E"/>
                </a:solidFill>
                <a:latin typeface="Karla"/>
                <a:ea typeface="Karla"/>
                <a:cs typeface="Karla"/>
                <a:sym typeface="Karla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Karla"/>
              <a:buNone/>
              <a:defRPr b="1" i="0" sz="1900" u="none" cap="none" strike="noStrike">
                <a:solidFill>
                  <a:srgbClr val="F5606E"/>
                </a:solidFill>
                <a:latin typeface="Karla"/>
                <a:ea typeface="Karla"/>
                <a:cs typeface="Karla"/>
                <a:sym typeface="Karla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Karla"/>
              <a:buNone/>
              <a:defRPr b="1" i="0" sz="1900" u="none" cap="none" strike="noStrike">
                <a:solidFill>
                  <a:srgbClr val="F5606E"/>
                </a:solidFill>
                <a:latin typeface="Karla"/>
                <a:ea typeface="Karla"/>
                <a:cs typeface="Karla"/>
                <a:sym typeface="Karla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Karla"/>
              <a:buNone/>
              <a:defRPr b="1" i="0" sz="1900" u="none" cap="none" strike="noStrike">
                <a:solidFill>
                  <a:srgbClr val="F5606E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/>
        </p:txBody>
      </p:sp>
      <p:sp>
        <p:nvSpPr>
          <p:cNvPr id="144" name="Google Shape;144;p29"/>
          <p:cNvSpPr txBox="1"/>
          <p:nvPr>
            <p:ph idx="1" type="body"/>
          </p:nvPr>
        </p:nvSpPr>
        <p:spPr>
          <a:xfrm>
            <a:off x="415899" y="1076059"/>
            <a:ext cx="7486200" cy="308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00" lIns="41500" spcFirstLastPara="1" rIns="41500" wrap="square" tIns="41500">
            <a:no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3033"/>
              </a:buClr>
              <a:buSzPts val="1300"/>
              <a:buFont typeface="Open Sans"/>
              <a:buNone/>
              <a:defRPr i="0" sz="1300" u="none" cap="none" strike="noStrike">
                <a:solidFill>
                  <a:srgbClr val="2D3033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228600" lvl="1" marL="914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3033"/>
              </a:buClr>
              <a:buSzPts val="1300"/>
              <a:buFont typeface="Open Sans"/>
              <a:buNone/>
              <a:defRPr i="0" sz="1300" u="none" cap="none" strike="noStrike">
                <a:solidFill>
                  <a:srgbClr val="2D3033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28600" lvl="2" marL="1371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3033"/>
              </a:buClr>
              <a:buSzPts val="1300"/>
              <a:buFont typeface="Open Sans"/>
              <a:buNone/>
              <a:defRPr i="0" sz="1300" u="none" cap="none" strike="noStrike">
                <a:solidFill>
                  <a:srgbClr val="2D3033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28600" lvl="3" marL="1828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3033"/>
              </a:buClr>
              <a:buSzPts val="1300"/>
              <a:buFont typeface="Open Sans"/>
              <a:buNone/>
              <a:defRPr i="0" sz="1300" u="none" cap="none" strike="noStrike">
                <a:solidFill>
                  <a:srgbClr val="2D3033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28600" lvl="4" marL="22860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3033"/>
              </a:buClr>
              <a:buSzPts val="1300"/>
              <a:buFont typeface="Open Sans"/>
              <a:buNone/>
              <a:defRPr i="0" sz="1300" u="none" cap="none" strike="noStrike">
                <a:solidFill>
                  <a:srgbClr val="2D3033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228600" lvl="5" marL="2743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3033"/>
              </a:buClr>
              <a:buSzPts val="1300"/>
              <a:buFont typeface="Open Sans"/>
              <a:buNone/>
              <a:defRPr i="0" sz="1300" u="none" cap="none" strike="noStrike">
                <a:solidFill>
                  <a:srgbClr val="2D3033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228600" lvl="6" marL="3200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3033"/>
              </a:buClr>
              <a:buSzPts val="1300"/>
              <a:buFont typeface="Open Sans"/>
              <a:buNone/>
              <a:defRPr i="0" sz="1300" u="none" cap="none" strike="noStrike">
                <a:solidFill>
                  <a:srgbClr val="2D3033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228600" lvl="7" marL="3657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3033"/>
              </a:buClr>
              <a:buSzPts val="1300"/>
              <a:buFont typeface="Open Sans"/>
              <a:buNone/>
              <a:defRPr i="0" sz="1300" u="none" cap="none" strike="noStrike">
                <a:solidFill>
                  <a:srgbClr val="2D3033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228600" lvl="8" marL="4114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3033"/>
              </a:buClr>
              <a:buSzPts val="1300"/>
              <a:buFont typeface="Open Sans"/>
              <a:buNone/>
              <a:defRPr i="0" sz="1300" u="none" cap="none" strike="noStrike">
                <a:solidFill>
                  <a:srgbClr val="2D3033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145" name="Google Shape;145;p29"/>
          <p:cNvSpPr txBox="1"/>
          <p:nvPr>
            <p:ph idx="12" type="sldNum"/>
          </p:nvPr>
        </p:nvSpPr>
        <p:spPr>
          <a:xfrm>
            <a:off x="8686431" y="4849909"/>
            <a:ext cx="350100" cy="1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5080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1pPr>
            <a:lvl2pPr indent="5080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2pPr>
            <a:lvl3pPr indent="5080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3pPr>
            <a:lvl4pPr indent="5080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4pPr>
            <a:lvl5pPr indent="5080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5pPr>
            <a:lvl6pPr indent="5080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6pPr>
            <a:lvl7pPr indent="5080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7pPr>
            <a:lvl8pPr indent="5080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8pPr>
            <a:lvl9pPr indent="5080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indent="5080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>
  <p:cSld name="Two Content"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30"/>
          <p:cNvSpPr txBox="1"/>
          <p:nvPr>
            <p:ph type="title"/>
          </p:nvPr>
        </p:nvSpPr>
        <p:spPr>
          <a:xfrm>
            <a:off x="375223" y="266614"/>
            <a:ext cx="7567500" cy="2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00" lIns="41500" spcFirstLastPara="1" rIns="41500" wrap="square" tIns="415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 i="0" u="none" cap="none" strike="noStrike"/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Open Sans"/>
              <a:buNone/>
              <a:defRPr i="0" sz="1900" u="none" cap="none" strike="noStrike">
                <a:solidFill>
                  <a:srgbClr val="F5606E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Open Sans"/>
              <a:buNone/>
              <a:defRPr i="0" sz="1900" u="none" cap="none" strike="noStrike">
                <a:solidFill>
                  <a:srgbClr val="F5606E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Open Sans"/>
              <a:buNone/>
              <a:defRPr i="0" sz="1900" u="none" cap="none" strike="noStrike">
                <a:solidFill>
                  <a:srgbClr val="F5606E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Open Sans"/>
              <a:buNone/>
              <a:defRPr i="0" sz="1900" u="none" cap="none" strike="noStrike">
                <a:solidFill>
                  <a:srgbClr val="F5606E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Open Sans"/>
              <a:buNone/>
              <a:defRPr i="0" sz="1900" u="none" cap="none" strike="noStrike">
                <a:solidFill>
                  <a:srgbClr val="F5606E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Open Sans"/>
              <a:buNone/>
              <a:defRPr i="0" sz="1900" u="none" cap="none" strike="noStrike">
                <a:solidFill>
                  <a:srgbClr val="F5606E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Open Sans"/>
              <a:buNone/>
              <a:defRPr i="0" sz="1900" u="none" cap="none" strike="noStrike">
                <a:solidFill>
                  <a:srgbClr val="F5606E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Open Sans"/>
              <a:buNone/>
              <a:defRPr i="0" sz="1900" u="none" cap="none" strike="noStrike">
                <a:solidFill>
                  <a:srgbClr val="F5606E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148" name="Google Shape;148;p30"/>
          <p:cNvSpPr txBox="1"/>
          <p:nvPr>
            <p:ph idx="1" type="body"/>
          </p:nvPr>
        </p:nvSpPr>
        <p:spPr>
          <a:xfrm>
            <a:off x="415899" y="1076059"/>
            <a:ext cx="3618300" cy="308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00" lIns="41500" spcFirstLastPara="1" rIns="41500" wrap="square" tIns="41500">
            <a:no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3033"/>
              </a:buClr>
              <a:buSzPts val="1100"/>
              <a:buFont typeface="Open Sans"/>
              <a:buNone/>
              <a:defRPr i="0" sz="1100" u="none" cap="none" strike="noStrike">
                <a:solidFill>
                  <a:srgbClr val="2D3033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228600" lvl="1" marL="914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3033"/>
              </a:buClr>
              <a:buSzPts val="1100"/>
              <a:buFont typeface="Open Sans"/>
              <a:buNone/>
              <a:defRPr i="0" sz="1100" u="none" cap="none" strike="noStrike">
                <a:solidFill>
                  <a:srgbClr val="2D3033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28600" lvl="2" marL="1371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3033"/>
              </a:buClr>
              <a:buSzPts val="1100"/>
              <a:buFont typeface="Open Sans"/>
              <a:buNone/>
              <a:defRPr i="0" sz="1100" u="none" cap="none" strike="noStrike">
                <a:solidFill>
                  <a:srgbClr val="2D3033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28600" lvl="3" marL="1828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3033"/>
              </a:buClr>
              <a:buSzPts val="1100"/>
              <a:buFont typeface="Open Sans"/>
              <a:buNone/>
              <a:defRPr i="0" sz="1100" u="none" cap="none" strike="noStrike">
                <a:solidFill>
                  <a:srgbClr val="2D3033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28600" lvl="4" marL="22860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3033"/>
              </a:buClr>
              <a:buSzPts val="1100"/>
              <a:buFont typeface="Open Sans"/>
              <a:buNone/>
              <a:defRPr i="0" sz="1100" u="none" cap="none" strike="noStrike">
                <a:solidFill>
                  <a:srgbClr val="2D3033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228600" lvl="5" marL="2743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3033"/>
              </a:buClr>
              <a:buSzPts val="1100"/>
              <a:buFont typeface="Open Sans"/>
              <a:buNone/>
              <a:defRPr i="0" sz="1100" u="none" cap="none" strike="noStrike">
                <a:solidFill>
                  <a:srgbClr val="2D3033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228600" lvl="6" marL="3200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3033"/>
              </a:buClr>
              <a:buSzPts val="1100"/>
              <a:buFont typeface="Open Sans"/>
              <a:buNone/>
              <a:defRPr i="0" sz="1100" u="none" cap="none" strike="noStrike">
                <a:solidFill>
                  <a:srgbClr val="2D3033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228600" lvl="7" marL="3657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3033"/>
              </a:buClr>
              <a:buSzPts val="1100"/>
              <a:buFont typeface="Open Sans"/>
              <a:buNone/>
              <a:defRPr i="0" sz="1100" u="none" cap="none" strike="noStrike">
                <a:solidFill>
                  <a:srgbClr val="2D3033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228600" lvl="8" marL="4114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3033"/>
              </a:buClr>
              <a:buSzPts val="1100"/>
              <a:buFont typeface="Open Sans"/>
              <a:buNone/>
              <a:defRPr i="0" sz="1100" u="none" cap="none" strike="noStrike">
                <a:solidFill>
                  <a:srgbClr val="2D3033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149" name="Google Shape;149;p30"/>
          <p:cNvSpPr/>
          <p:nvPr/>
        </p:nvSpPr>
        <p:spPr>
          <a:xfrm>
            <a:off x="311724" y="4770841"/>
            <a:ext cx="3359100" cy="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6666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Roboto"/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© 2016 Propulsion Academy AG Technoparkstrasse 1, 8005  Zurich</a:t>
            </a:r>
            <a:endParaRPr b="0" i="0" sz="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p30"/>
          <p:cNvSpPr txBox="1"/>
          <p:nvPr>
            <p:ph idx="12" type="sldNum"/>
          </p:nvPr>
        </p:nvSpPr>
        <p:spPr>
          <a:xfrm>
            <a:off x="8686431" y="4849909"/>
            <a:ext cx="350100" cy="1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5080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1pPr>
            <a:lvl2pPr indent="5080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2pPr>
            <a:lvl3pPr indent="5080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3pPr>
            <a:lvl4pPr indent="5080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4pPr>
            <a:lvl5pPr indent="5080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5pPr>
            <a:lvl6pPr indent="5080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6pPr>
            <a:lvl7pPr indent="5080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7pPr>
            <a:lvl8pPr indent="5080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8pPr>
            <a:lvl9pPr indent="5080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indent="5080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1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2"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">
  <p:cSld name="TITLE_3"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3">
  <p:cSld name="TITLE_4"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4">
  <p:cSld name="TITLE_5"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5">
  <p:cSld name="TITLE_6"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37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9pPr>
          </a:lstStyle>
          <a:p/>
        </p:txBody>
      </p:sp>
      <p:sp>
        <p:nvSpPr>
          <p:cNvPr id="159" name="Google Shape;159;p37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0" name="Google Shape;160;p37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1" name="Google Shape;161;p37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Arial"/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Arial"/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Arial"/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Arial"/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Arial"/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Arial"/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Arial"/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Arial"/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Arial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" type="obj">
  <p:cSld name="OBJECT"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38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9pPr>
          </a:lstStyle>
          <a:p/>
        </p:txBody>
      </p:sp>
      <p:sp>
        <p:nvSpPr>
          <p:cNvPr id="164" name="Google Shape;164;p3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9pPr>
          </a:lstStyle>
          <a:p/>
        </p:txBody>
      </p:sp>
      <p:sp>
        <p:nvSpPr>
          <p:cNvPr id="165" name="Google Shape;165;p38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6" name="Google Shape;166;p38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7" name="Google Shape;167;p38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Arial"/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Arial"/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Arial"/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Arial"/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Arial"/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Arial"/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Arial"/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Arial"/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Arial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0.xml"/><Relationship Id="rId13" Type="http://schemas.openxmlformats.org/officeDocument/2006/relationships/slideLayout" Target="../slideLayouts/slideLayout23.xml"/><Relationship Id="rId12" Type="http://schemas.openxmlformats.org/officeDocument/2006/relationships/slideLayout" Target="../slideLayouts/slideLayout22.xml"/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9.xml"/><Relationship Id="rId14" Type="http://schemas.openxmlformats.org/officeDocument/2006/relationships/theme" Target="../theme/theme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/Relationships>
</file>

<file path=ppt/slideMasters/_rels/slideMaster3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35.xml"/><Relationship Id="rId12" Type="http://schemas.openxmlformats.org/officeDocument/2006/relationships/slideLayout" Target="../slideLayouts/slideLayout34.xml"/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Relationship Id="rId14" Type="http://schemas.openxmlformats.org/officeDocument/2006/relationships/theme" Target="../theme/theme1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b="0" i="0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algn="ct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Download HSLU Hochschule Luzern 2022 Logo PNG and Vector (PDF, SVG, Ai,  EPS) Free" id="56" name="Google Shape;56;p13"/>
          <p:cNvPicPr preferRelativeResize="0"/>
          <p:nvPr/>
        </p:nvPicPr>
        <p:blipFill rotWithShape="1">
          <a:blip r:embed="rId1">
            <a:alphaModFix/>
          </a:blip>
          <a:srcRect b="32795" l="0" r="0" t="32698"/>
          <a:stretch/>
        </p:blipFill>
        <p:spPr>
          <a:xfrm>
            <a:off x="7317873" y="158025"/>
            <a:ext cx="1689653" cy="435037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  <p:sldLayoutId id="2147483666" r:id="rId9"/>
    <p:sldLayoutId id="2147483667" r:id="rId10"/>
    <p:sldLayoutId id="2147483668" r:id="rId11"/>
    <p:sldLayoutId id="2147483669" r:id="rId12"/>
    <p:sldLayoutId id="2147483670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6"/>
          <p:cNvSpPr txBox="1"/>
          <p:nvPr>
            <p:ph type="title"/>
          </p:nvPr>
        </p:nvSpPr>
        <p:spPr>
          <a:xfrm>
            <a:off x="375223" y="266614"/>
            <a:ext cx="7567500" cy="2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00" lIns="41500" spcFirstLastPara="1" rIns="41500" wrap="square" tIns="415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66CC"/>
              </a:buClr>
              <a:buSzPts val="1900"/>
              <a:buFont typeface="Open Sans"/>
              <a:buNone/>
              <a:defRPr b="1" i="0" sz="1900" u="none" cap="none" strike="noStrike">
                <a:solidFill>
                  <a:srgbClr val="3366CC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Karla"/>
              <a:buNone/>
              <a:defRPr b="1" i="0" sz="1900" u="none" cap="none" strike="noStrike">
                <a:solidFill>
                  <a:srgbClr val="F5606E"/>
                </a:solidFill>
                <a:latin typeface="Karla"/>
                <a:ea typeface="Karla"/>
                <a:cs typeface="Karla"/>
                <a:sym typeface="Karla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Karla"/>
              <a:buNone/>
              <a:defRPr b="1" i="0" sz="1900" u="none" cap="none" strike="noStrike">
                <a:solidFill>
                  <a:srgbClr val="F5606E"/>
                </a:solidFill>
                <a:latin typeface="Karla"/>
                <a:ea typeface="Karla"/>
                <a:cs typeface="Karla"/>
                <a:sym typeface="Karla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Karla"/>
              <a:buNone/>
              <a:defRPr b="1" i="0" sz="1900" u="none" cap="none" strike="noStrike">
                <a:solidFill>
                  <a:srgbClr val="F5606E"/>
                </a:solidFill>
                <a:latin typeface="Karla"/>
                <a:ea typeface="Karla"/>
                <a:cs typeface="Karla"/>
                <a:sym typeface="Karla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Karla"/>
              <a:buNone/>
              <a:defRPr b="1" i="0" sz="1900" u="none" cap="none" strike="noStrike">
                <a:solidFill>
                  <a:srgbClr val="F5606E"/>
                </a:solidFill>
                <a:latin typeface="Karla"/>
                <a:ea typeface="Karla"/>
                <a:cs typeface="Karla"/>
                <a:sym typeface="Karla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Karla"/>
              <a:buNone/>
              <a:defRPr b="1" i="0" sz="1900" u="none" cap="none" strike="noStrike">
                <a:solidFill>
                  <a:srgbClr val="F5606E"/>
                </a:solidFill>
                <a:latin typeface="Karla"/>
                <a:ea typeface="Karla"/>
                <a:cs typeface="Karla"/>
                <a:sym typeface="Karla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Karla"/>
              <a:buNone/>
              <a:defRPr b="1" i="0" sz="1900" u="none" cap="none" strike="noStrike">
                <a:solidFill>
                  <a:srgbClr val="F5606E"/>
                </a:solidFill>
                <a:latin typeface="Karla"/>
                <a:ea typeface="Karla"/>
                <a:cs typeface="Karla"/>
                <a:sym typeface="Karla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Karla"/>
              <a:buNone/>
              <a:defRPr b="1" i="0" sz="1900" u="none" cap="none" strike="noStrike">
                <a:solidFill>
                  <a:srgbClr val="F5606E"/>
                </a:solidFill>
                <a:latin typeface="Karla"/>
                <a:ea typeface="Karla"/>
                <a:cs typeface="Karla"/>
                <a:sym typeface="Karla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Karla"/>
              <a:buNone/>
              <a:defRPr b="1" i="0" sz="1900" u="none" cap="none" strike="noStrike">
                <a:solidFill>
                  <a:srgbClr val="F5606E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/>
        </p:txBody>
      </p:sp>
      <p:sp>
        <p:nvSpPr>
          <p:cNvPr id="132" name="Google Shape;132;p26"/>
          <p:cNvSpPr txBox="1"/>
          <p:nvPr>
            <p:ph idx="1" type="body"/>
          </p:nvPr>
        </p:nvSpPr>
        <p:spPr>
          <a:xfrm>
            <a:off x="415899" y="1076059"/>
            <a:ext cx="7486200" cy="308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00" lIns="41500" spcFirstLastPara="1" rIns="41500" wrap="square" tIns="41500">
            <a:no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Calibri"/>
              <a:buNone/>
              <a:defRPr b="0" i="0" sz="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Calibri"/>
              <a:buNone/>
              <a:defRPr b="0" i="0" sz="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Calibri"/>
              <a:buNone/>
              <a:defRPr b="0" i="0" sz="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Calibri"/>
              <a:buNone/>
              <a:defRPr b="0" i="0" sz="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Calibri"/>
              <a:buNone/>
              <a:defRPr b="0" i="0" sz="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Calibri"/>
              <a:buNone/>
              <a:defRPr b="0" i="0" sz="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Calibri"/>
              <a:buNone/>
              <a:defRPr b="0" i="0" sz="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Calibri"/>
              <a:buNone/>
              <a:defRPr b="0" i="0" sz="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Calibri"/>
              <a:buNone/>
              <a:defRPr b="0" i="0" sz="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Download HSLU Hochschule Luzern 2022 Logo PNG and Vector (PDF, SVG, Ai,  EPS) Free" id="133" name="Google Shape;133;p26"/>
          <p:cNvPicPr preferRelativeResize="0"/>
          <p:nvPr/>
        </p:nvPicPr>
        <p:blipFill rotWithShape="1">
          <a:blip r:embed="rId1">
            <a:alphaModFix/>
          </a:blip>
          <a:srcRect b="32795" l="0" r="0" t="32698"/>
          <a:stretch/>
        </p:blipFill>
        <p:spPr>
          <a:xfrm>
            <a:off x="7317873" y="158025"/>
            <a:ext cx="1689653" cy="435037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  <p:sldLayoutId id="2147483681" r:id="rId12"/>
    <p:sldLayoutId id="2147483682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Relationship Id="rId4" Type="http://schemas.openxmlformats.org/officeDocument/2006/relationships/image" Target="../media/image9.png"/><Relationship Id="rId5" Type="http://schemas.openxmlformats.org/officeDocument/2006/relationships/image" Target="../media/image3.png"/><Relationship Id="rId6" Type="http://schemas.openxmlformats.org/officeDocument/2006/relationships/image" Target="../media/image8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Relationship Id="rId4" Type="http://schemas.openxmlformats.org/officeDocument/2006/relationships/image" Target="../media/image9.png"/><Relationship Id="rId5" Type="http://schemas.openxmlformats.org/officeDocument/2006/relationships/image" Target="../media/image3.png"/><Relationship Id="rId6" Type="http://schemas.openxmlformats.org/officeDocument/2006/relationships/image" Target="../media/image8.png"/><Relationship Id="rId7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Relationship Id="rId4" Type="http://schemas.openxmlformats.org/officeDocument/2006/relationships/image" Target="../media/image9.png"/><Relationship Id="rId5" Type="http://schemas.openxmlformats.org/officeDocument/2006/relationships/image" Target="../media/image3.png"/><Relationship Id="rId6" Type="http://schemas.openxmlformats.org/officeDocument/2006/relationships/image" Target="../media/image8.png"/><Relationship Id="rId7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1" Type="http://schemas.openxmlformats.org/officeDocument/2006/relationships/image" Target="../media/image32.png"/><Relationship Id="rId10" Type="http://schemas.openxmlformats.org/officeDocument/2006/relationships/image" Target="../media/image31.png"/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1.png"/><Relationship Id="rId4" Type="http://schemas.openxmlformats.org/officeDocument/2006/relationships/image" Target="../media/image9.png"/><Relationship Id="rId9" Type="http://schemas.openxmlformats.org/officeDocument/2006/relationships/image" Target="../media/image20.png"/><Relationship Id="rId5" Type="http://schemas.openxmlformats.org/officeDocument/2006/relationships/image" Target="../media/image3.png"/><Relationship Id="rId6" Type="http://schemas.openxmlformats.org/officeDocument/2006/relationships/image" Target="../media/image8.png"/><Relationship Id="rId7" Type="http://schemas.openxmlformats.org/officeDocument/2006/relationships/image" Target="../media/image14.png"/><Relationship Id="rId8" Type="http://schemas.openxmlformats.org/officeDocument/2006/relationships/image" Target="../media/image16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20.png"/><Relationship Id="rId5" Type="http://schemas.openxmlformats.org/officeDocument/2006/relationships/image" Target="../media/image3.png"/><Relationship Id="rId6" Type="http://schemas.openxmlformats.org/officeDocument/2006/relationships/image" Target="../media/image8.png"/><Relationship Id="rId7" Type="http://schemas.openxmlformats.org/officeDocument/2006/relationships/image" Target="../media/image14.png"/><Relationship Id="rId8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3.png"/><Relationship Id="rId4" Type="http://schemas.openxmlformats.org/officeDocument/2006/relationships/image" Target="../media/image9.png"/><Relationship Id="rId9" Type="http://schemas.openxmlformats.org/officeDocument/2006/relationships/image" Target="../media/image20.png"/><Relationship Id="rId5" Type="http://schemas.openxmlformats.org/officeDocument/2006/relationships/image" Target="../media/image3.png"/><Relationship Id="rId6" Type="http://schemas.openxmlformats.org/officeDocument/2006/relationships/image" Target="../media/image8.png"/><Relationship Id="rId7" Type="http://schemas.openxmlformats.org/officeDocument/2006/relationships/image" Target="../media/image14.png"/><Relationship Id="rId8" Type="http://schemas.openxmlformats.org/officeDocument/2006/relationships/image" Target="../media/image1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8.png"/><Relationship Id="rId4" Type="http://schemas.openxmlformats.org/officeDocument/2006/relationships/image" Target="../media/image9.png"/><Relationship Id="rId9" Type="http://schemas.openxmlformats.org/officeDocument/2006/relationships/image" Target="../media/image20.png"/><Relationship Id="rId5" Type="http://schemas.openxmlformats.org/officeDocument/2006/relationships/image" Target="../media/image3.png"/><Relationship Id="rId6" Type="http://schemas.openxmlformats.org/officeDocument/2006/relationships/image" Target="../media/image8.png"/><Relationship Id="rId7" Type="http://schemas.openxmlformats.org/officeDocument/2006/relationships/image" Target="../media/image14.png"/><Relationship Id="rId8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9.png"/><Relationship Id="rId4" Type="http://schemas.openxmlformats.org/officeDocument/2006/relationships/image" Target="../media/image25.png"/><Relationship Id="rId5" Type="http://schemas.openxmlformats.org/officeDocument/2006/relationships/image" Target="../media/image2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8.png"/><Relationship Id="rId4" Type="http://schemas.openxmlformats.org/officeDocument/2006/relationships/image" Target="../media/image27.png"/><Relationship Id="rId5" Type="http://schemas.openxmlformats.org/officeDocument/2006/relationships/image" Target="../media/image21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4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39"/>
          <p:cNvSpPr txBox="1"/>
          <p:nvPr>
            <p:ph type="title"/>
          </p:nvPr>
        </p:nvSpPr>
        <p:spPr>
          <a:xfrm>
            <a:off x="662275" y="199451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lang="en" sz="3900">
                <a:latin typeface="Arial"/>
                <a:ea typeface="Arial"/>
                <a:cs typeface="Arial"/>
                <a:sym typeface="Arial"/>
              </a:rPr>
              <a:t>NNs &amp; Deep Learning</a:t>
            </a:r>
            <a:endParaRPr sz="39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40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Contents</a:t>
            </a:r>
            <a:endParaRPr/>
          </a:p>
        </p:txBody>
      </p:sp>
      <p:sp>
        <p:nvSpPr>
          <p:cNvPr id="178" name="Google Shape;178;p40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Neural Network Basics</a:t>
            </a:r>
            <a:endParaRPr sz="1500"/>
          </a:p>
          <a:p>
            <a:pPr indent="-323850" lvl="1" marL="914400" rtl="0" algn="l">
              <a:spcBef>
                <a:spcPts val="10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Perceptron</a:t>
            </a:r>
            <a:endParaRPr sz="1500"/>
          </a:p>
          <a:p>
            <a:pPr indent="-323850" lvl="1" marL="914400" rtl="0" algn="l">
              <a:spcBef>
                <a:spcPts val="10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Activation Function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Neural Network</a:t>
            </a:r>
            <a:endParaRPr sz="1500"/>
          </a:p>
          <a:p>
            <a:pPr indent="-323850" lvl="1" marL="914400" rtl="0" algn="l">
              <a:spcBef>
                <a:spcPts val="10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Basic Structure</a:t>
            </a:r>
            <a:endParaRPr sz="1500"/>
          </a:p>
          <a:p>
            <a:pPr indent="-323850" lvl="1" marL="914400" rtl="0" algn="l">
              <a:spcBef>
                <a:spcPts val="10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Vector Notation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The Softmax function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Backpropagation Algorithm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1000"/>
              </a:spcAft>
              <a:buSzPts val="1500"/>
              <a:buChar char="•"/>
            </a:pPr>
            <a:r>
              <a:rPr lang="en" sz="1500"/>
              <a:t>Deep Learning</a:t>
            </a:r>
            <a:endParaRPr sz="15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41"/>
          <p:cNvSpPr txBox="1"/>
          <p:nvPr>
            <p:ph type="title"/>
          </p:nvPr>
        </p:nvSpPr>
        <p:spPr>
          <a:xfrm>
            <a:off x="628650" y="2028669"/>
            <a:ext cx="7886700" cy="9942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Neural Network Basics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42"/>
          <p:cNvSpPr txBox="1"/>
          <p:nvPr>
            <p:ph type="title"/>
          </p:nvPr>
        </p:nvSpPr>
        <p:spPr>
          <a:xfrm>
            <a:off x="375223" y="266614"/>
            <a:ext cx="7567500" cy="2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Karla"/>
              <a:buNone/>
            </a:pPr>
            <a:r>
              <a:rPr lang="en"/>
              <a:t>Perceptron </a:t>
            </a:r>
            <a:endParaRPr b="1" i="0" sz="1900" u="none" cap="none" strike="noStrike">
              <a:solidFill>
                <a:srgbClr val="F5606E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189" name="Google Shape;189;p42"/>
          <p:cNvSpPr txBox="1"/>
          <p:nvPr/>
        </p:nvSpPr>
        <p:spPr>
          <a:xfrm>
            <a:off x="482327" y="642938"/>
            <a:ext cx="3194700" cy="3714300"/>
          </a:xfrm>
          <a:prstGeom prst="rect">
            <a:avLst/>
          </a:prstGeom>
          <a:noFill/>
          <a:ln>
            <a:noFill/>
          </a:ln>
        </p:spPr>
        <p:txBody>
          <a:bodyPr anchorCtr="0" anchor="t" bIns="20750" lIns="20750" spcFirstLastPara="1" rIns="20750" wrap="square" tIns="20750">
            <a:noAutofit/>
          </a:bodyPr>
          <a:lstStyle/>
          <a:p>
            <a:pPr indent="0" lvl="0" marL="20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20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196850" lvl="0" marL="20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●"/>
            </a:pPr>
            <a:r>
              <a:rPr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Perceptron Components :	</a:t>
            </a:r>
            <a:endParaRPr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196850" lvl="1" marL="4191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○"/>
            </a:pPr>
            <a:r>
              <a:rPr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Input : x</a:t>
            </a:r>
            <a:r>
              <a:rPr baseline="-25000"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1</a:t>
            </a:r>
            <a:r>
              <a:rPr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… x</a:t>
            </a:r>
            <a:r>
              <a:rPr baseline="-25000"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m</a:t>
            </a:r>
            <a:endParaRPr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196850" lvl="1" marL="4191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○"/>
            </a:pPr>
            <a:r>
              <a:rPr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Weights : ω</a:t>
            </a:r>
            <a:r>
              <a:rPr baseline="-25000"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1 </a:t>
            </a:r>
            <a:r>
              <a:rPr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… ω</a:t>
            </a:r>
            <a:r>
              <a:rPr baseline="-25000"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m</a:t>
            </a:r>
            <a:endParaRPr baseline="-25000"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196850" lvl="1" marL="4191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○"/>
            </a:pPr>
            <a:r>
              <a:rPr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Bias : b </a:t>
            </a:r>
            <a:endParaRPr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196850" lvl="1" marL="4191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○"/>
            </a:pPr>
            <a:r>
              <a:rPr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Activation Function : φ </a:t>
            </a:r>
            <a:endParaRPr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196850" lvl="0" marL="20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●"/>
            </a:pPr>
            <a:r>
              <a:rPr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Operation : </a:t>
            </a:r>
            <a:endParaRPr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196850" lvl="1" marL="4191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○"/>
            </a:pPr>
            <a:r>
              <a:rPr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y = φ (x</a:t>
            </a:r>
            <a:r>
              <a:rPr baseline="-25000"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1</a:t>
            </a:r>
            <a:r>
              <a:rPr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w</a:t>
            </a:r>
            <a:r>
              <a:rPr baseline="-25000"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1</a:t>
            </a:r>
            <a:r>
              <a:rPr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+x</a:t>
            </a:r>
            <a:r>
              <a:rPr baseline="-25000"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2</a:t>
            </a:r>
            <a:r>
              <a:rPr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w</a:t>
            </a:r>
            <a:r>
              <a:rPr baseline="-25000"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2</a:t>
            </a:r>
            <a:r>
              <a:rPr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+...+x</a:t>
            </a:r>
            <a:r>
              <a:rPr baseline="-25000"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m</a:t>
            </a:r>
            <a:r>
              <a:rPr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w</a:t>
            </a:r>
            <a:r>
              <a:rPr baseline="-25000"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m</a:t>
            </a:r>
            <a:r>
              <a:rPr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+b) </a:t>
            </a:r>
            <a:endParaRPr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90" name="Google Shape;190;p42"/>
          <p:cNvSpPr txBox="1"/>
          <p:nvPr/>
        </p:nvSpPr>
        <p:spPr>
          <a:xfrm>
            <a:off x="241311" y="4594445"/>
            <a:ext cx="6750600" cy="1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00" lIns="41500" spcFirstLastPara="1" rIns="41500" wrap="square" tIns="415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latin typeface="Calibri"/>
                <a:ea typeface="Calibri"/>
                <a:cs typeface="Calibri"/>
                <a:sym typeface="Calibri"/>
              </a:rPr>
              <a:t>Image credit : https://medium.com/@jayeshbahire/the-artificial-neural-networks-handbook-part-4-d2087d1f583e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1" name="Google Shape;191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64718" y="991117"/>
            <a:ext cx="5295398" cy="2513549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p42"/>
          <p:cNvSpPr txBox="1"/>
          <p:nvPr>
            <p:ph idx="12" type="sldNum"/>
          </p:nvPr>
        </p:nvSpPr>
        <p:spPr>
          <a:xfrm>
            <a:off x="8686431" y="4849909"/>
            <a:ext cx="350100" cy="132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50800" lvl="0" marL="0" rtl="0" algn="l"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43"/>
          <p:cNvSpPr txBox="1"/>
          <p:nvPr>
            <p:ph type="title"/>
          </p:nvPr>
        </p:nvSpPr>
        <p:spPr>
          <a:xfrm>
            <a:off x="375223" y="266614"/>
            <a:ext cx="7567500" cy="2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Karla"/>
              <a:buNone/>
            </a:pPr>
            <a:r>
              <a:rPr lang="en"/>
              <a:t>Activation Function </a:t>
            </a:r>
            <a:endParaRPr b="1" i="0" sz="1900" u="none" cap="none" strike="noStrike">
              <a:solidFill>
                <a:srgbClr val="F5606E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198" name="Google Shape;198;p43"/>
          <p:cNvSpPr txBox="1"/>
          <p:nvPr/>
        </p:nvSpPr>
        <p:spPr>
          <a:xfrm>
            <a:off x="482327" y="642938"/>
            <a:ext cx="3491400" cy="3714300"/>
          </a:xfrm>
          <a:prstGeom prst="rect">
            <a:avLst/>
          </a:prstGeom>
          <a:noFill/>
          <a:ln>
            <a:noFill/>
          </a:ln>
        </p:spPr>
        <p:txBody>
          <a:bodyPr anchorCtr="0" anchor="t" bIns="20750" lIns="20750" spcFirstLastPara="1" rIns="20750" wrap="square" tIns="2075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196850" lvl="0" marL="20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●"/>
            </a:pPr>
            <a:r>
              <a:rPr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Otherwise called a transfer function  </a:t>
            </a:r>
            <a:endParaRPr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4191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196850" lvl="0" marL="20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●"/>
            </a:pPr>
            <a:r>
              <a:rPr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Applies a transformation defined by that function to sum of inputs and weights (and bias) </a:t>
            </a:r>
            <a:endParaRPr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20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196850" lvl="0" marL="20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●"/>
            </a:pPr>
            <a:r>
              <a:rPr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Examples of activation functions:</a:t>
            </a:r>
            <a:endParaRPr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196850" lvl="1" marL="4191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○"/>
            </a:pPr>
            <a:r>
              <a:rPr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Linear </a:t>
            </a:r>
            <a:endParaRPr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196850" lvl="1" marL="4191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○"/>
            </a:pPr>
            <a:r>
              <a:rPr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ReLU </a:t>
            </a:r>
            <a:endParaRPr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196850" lvl="1" marL="4191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○"/>
            </a:pPr>
            <a:r>
              <a:rPr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Sigmoid </a:t>
            </a:r>
            <a:endParaRPr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196850" lvl="1" marL="4191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○"/>
            </a:pPr>
            <a:r>
              <a:rPr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TanH </a:t>
            </a:r>
            <a:endParaRPr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4191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20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4191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99" name="Google Shape;199;p43"/>
          <p:cNvSpPr txBox="1"/>
          <p:nvPr/>
        </p:nvSpPr>
        <p:spPr>
          <a:xfrm>
            <a:off x="241311" y="4594445"/>
            <a:ext cx="6750600" cy="1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00" lIns="41500" spcFirstLastPara="1" rIns="41500" wrap="square" tIns="415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latin typeface="Calibri"/>
                <a:ea typeface="Calibri"/>
                <a:cs typeface="Calibri"/>
                <a:sym typeface="Calibri"/>
              </a:rPr>
              <a:t>Image credit : https://docs.paperspace.com/machine-learning/wiki/activation-function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0" name="Google Shape;200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81079" y="1068820"/>
            <a:ext cx="4269642" cy="2862662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43"/>
          <p:cNvSpPr txBox="1"/>
          <p:nvPr>
            <p:ph idx="12" type="sldNum"/>
          </p:nvPr>
        </p:nvSpPr>
        <p:spPr>
          <a:xfrm>
            <a:off x="8686431" y="4849909"/>
            <a:ext cx="350100" cy="132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50800" lvl="0" marL="0" rtl="0" algn="l"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44"/>
          <p:cNvSpPr txBox="1"/>
          <p:nvPr>
            <p:ph type="title"/>
          </p:nvPr>
        </p:nvSpPr>
        <p:spPr>
          <a:xfrm>
            <a:off x="628650" y="2028669"/>
            <a:ext cx="7886700" cy="9942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Neural Network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45"/>
          <p:cNvSpPr txBox="1"/>
          <p:nvPr>
            <p:ph type="title"/>
          </p:nvPr>
        </p:nvSpPr>
        <p:spPr>
          <a:xfrm>
            <a:off x="375223" y="266614"/>
            <a:ext cx="7567500" cy="2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Karla"/>
              <a:buNone/>
            </a:pPr>
            <a:r>
              <a:rPr lang="en"/>
              <a:t>Neural Network or Multilayer Perceptron </a:t>
            </a:r>
            <a:endParaRPr b="1" i="0" sz="1900" u="none" cap="none" strike="noStrike">
              <a:solidFill>
                <a:srgbClr val="F5606E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212" name="Google Shape;212;p45"/>
          <p:cNvSpPr txBox="1"/>
          <p:nvPr/>
        </p:nvSpPr>
        <p:spPr>
          <a:xfrm>
            <a:off x="482327" y="642938"/>
            <a:ext cx="3194700" cy="3714300"/>
          </a:xfrm>
          <a:prstGeom prst="rect">
            <a:avLst/>
          </a:prstGeom>
          <a:noFill/>
          <a:ln>
            <a:noFill/>
          </a:ln>
        </p:spPr>
        <p:txBody>
          <a:bodyPr anchorCtr="0" anchor="t" bIns="20750" lIns="20750" spcFirstLastPara="1" rIns="20750" wrap="square" tIns="2075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196850" lvl="0" marL="20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●"/>
            </a:pPr>
            <a:r>
              <a:rPr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Input layer : </a:t>
            </a:r>
            <a:endParaRPr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196850" lvl="1" marL="4191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○"/>
            </a:pPr>
            <a:r>
              <a:rPr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Passes raw inputs to first hidden units (h</a:t>
            </a:r>
            <a:r>
              <a:rPr baseline="-25000"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1</a:t>
            </a:r>
            <a:r>
              <a:rPr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) </a:t>
            </a:r>
            <a:endParaRPr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196850" lvl="0" marL="2032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●"/>
            </a:pPr>
            <a:r>
              <a:rPr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Output layer :</a:t>
            </a:r>
            <a:endParaRPr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196850" lvl="1" marL="4191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○"/>
            </a:pPr>
            <a:r>
              <a:rPr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Applies transformation to the outputs.</a:t>
            </a:r>
            <a:endParaRPr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196850" lvl="0" marL="2032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●"/>
            </a:pPr>
            <a:r>
              <a:rPr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Hidden layers :</a:t>
            </a:r>
            <a:endParaRPr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196850" lvl="1" marL="4191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○"/>
            </a:pPr>
            <a:r>
              <a:rPr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Densely connected perceptrons</a:t>
            </a:r>
            <a:endParaRPr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4191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2032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4191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13" name="Google Shape;213;p45"/>
          <p:cNvSpPr txBox="1"/>
          <p:nvPr/>
        </p:nvSpPr>
        <p:spPr>
          <a:xfrm>
            <a:off x="241311" y="4594445"/>
            <a:ext cx="6750600" cy="1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00" lIns="41500" spcFirstLastPara="1" rIns="41500" wrap="square" tIns="415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latin typeface="Calibri"/>
                <a:ea typeface="Calibri"/>
                <a:cs typeface="Calibri"/>
                <a:sym typeface="Calibri"/>
              </a:rPr>
              <a:t>Image credit : https://medium.com/@jayeshbahire/the-artificial-neural-networks-handbook-part-4-d2087d1f583e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4" name="Google Shape;214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83051" y="1111027"/>
            <a:ext cx="4200541" cy="2461019"/>
          </a:xfrm>
          <a:prstGeom prst="rect">
            <a:avLst/>
          </a:prstGeom>
          <a:noFill/>
          <a:ln>
            <a:noFill/>
          </a:ln>
        </p:spPr>
      </p:pic>
      <p:sp>
        <p:nvSpPr>
          <p:cNvPr id="215" name="Google Shape;215;p45"/>
          <p:cNvSpPr txBox="1"/>
          <p:nvPr>
            <p:ph idx="12" type="sldNum"/>
          </p:nvPr>
        </p:nvSpPr>
        <p:spPr>
          <a:xfrm>
            <a:off x="8686431" y="4849909"/>
            <a:ext cx="350100" cy="132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50800" lvl="0" marL="0" rtl="0" algn="l"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46"/>
          <p:cNvSpPr txBox="1"/>
          <p:nvPr>
            <p:ph type="title"/>
          </p:nvPr>
        </p:nvSpPr>
        <p:spPr>
          <a:xfrm>
            <a:off x="375223" y="266614"/>
            <a:ext cx="7567500" cy="2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Karla"/>
              <a:buNone/>
            </a:pPr>
            <a:r>
              <a:rPr lang="en"/>
              <a:t>Vector Notation </a:t>
            </a:r>
            <a:endParaRPr b="1" i="0" sz="1900" u="none" cap="none" strike="noStrike">
              <a:solidFill>
                <a:srgbClr val="F5606E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221" name="Google Shape;221;p46"/>
          <p:cNvSpPr txBox="1"/>
          <p:nvPr/>
        </p:nvSpPr>
        <p:spPr>
          <a:xfrm>
            <a:off x="482327" y="642938"/>
            <a:ext cx="2967000" cy="3714300"/>
          </a:xfrm>
          <a:prstGeom prst="rect">
            <a:avLst/>
          </a:prstGeom>
          <a:noFill/>
          <a:ln>
            <a:noFill/>
          </a:ln>
        </p:spPr>
        <p:txBody>
          <a:bodyPr anchorCtr="0" anchor="t" bIns="20750" lIns="20750" spcFirstLastPara="1" rIns="20750" wrap="square" tIns="2075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196850" lvl="0" marL="20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Char char="●"/>
            </a:pPr>
            <a:r>
              <a:rPr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Can represent weights of a layer as a matrix </a:t>
            </a:r>
            <a:r>
              <a:rPr b="1"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W </a:t>
            </a:r>
            <a:endParaRPr b="1"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196850" lvl="0" marL="2032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Char char="●"/>
            </a:pPr>
            <a:r>
              <a:rPr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Can represent the input, bias and output as a vectors </a:t>
            </a:r>
            <a:r>
              <a:rPr b="1"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x, b, y</a:t>
            </a:r>
            <a:endParaRPr b="1"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196850" lvl="0" marL="2032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●"/>
            </a:pPr>
            <a:r>
              <a:rPr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Activation function φ applies on each linear combination </a:t>
            </a:r>
            <a:endParaRPr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196850" lvl="0" marL="2032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Char char="●"/>
            </a:pPr>
            <a:r>
              <a:rPr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Operation of this simple network is : </a:t>
            </a:r>
            <a:r>
              <a:rPr b="1"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y </a:t>
            </a:r>
            <a:r>
              <a:rPr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= φ(</a:t>
            </a:r>
            <a:r>
              <a:rPr b="1"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W</a:t>
            </a:r>
            <a:r>
              <a:rPr b="1" baseline="30000"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T</a:t>
            </a:r>
            <a:r>
              <a:rPr b="1"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x ) </a:t>
            </a:r>
            <a:endParaRPr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2032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4191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22" name="Google Shape;222;p46"/>
          <p:cNvSpPr txBox="1"/>
          <p:nvPr/>
        </p:nvSpPr>
        <p:spPr>
          <a:xfrm>
            <a:off x="241311" y="4594445"/>
            <a:ext cx="6750600" cy="1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00" lIns="41500" spcFirstLastPara="1" rIns="41500" wrap="square" tIns="415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latin typeface="Calibri"/>
                <a:ea typeface="Calibri"/>
                <a:cs typeface="Calibri"/>
                <a:sym typeface="Calibri"/>
              </a:rPr>
              <a:t>Image credit : https://www.jeremyjordan.me/intro-to-neural-networks/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3" name="Google Shape;223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01852" y="1037886"/>
            <a:ext cx="5647771" cy="292453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46"/>
          <p:cNvSpPr txBox="1"/>
          <p:nvPr>
            <p:ph idx="12" type="sldNum"/>
          </p:nvPr>
        </p:nvSpPr>
        <p:spPr>
          <a:xfrm>
            <a:off x="8686431" y="4849909"/>
            <a:ext cx="350100" cy="132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50800" lvl="0" marL="0" rtl="0" algn="l"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7"/>
          <p:cNvSpPr txBox="1"/>
          <p:nvPr>
            <p:ph type="title"/>
          </p:nvPr>
        </p:nvSpPr>
        <p:spPr>
          <a:xfrm>
            <a:off x="375223" y="266614"/>
            <a:ext cx="7567500" cy="2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Karla"/>
              <a:buNone/>
            </a:pPr>
            <a:r>
              <a:rPr lang="en"/>
              <a:t>Vector Notation </a:t>
            </a:r>
            <a:endParaRPr b="1" i="0" sz="1900" u="none" cap="none" strike="noStrike">
              <a:solidFill>
                <a:srgbClr val="F5606E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230" name="Google Shape;230;p47"/>
          <p:cNvSpPr txBox="1"/>
          <p:nvPr/>
        </p:nvSpPr>
        <p:spPr>
          <a:xfrm>
            <a:off x="482327" y="642938"/>
            <a:ext cx="2883600" cy="3714300"/>
          </a:xfrm>
          <a:prstGeom prst="rect">
            <a:avLst/>
          </a:prstGeom>
          <a:noFill/>
          <a:ln>
            <a:noFill/>
          </a:ln>
        </p:spPr>
        <p:txBody>
          <a:bodyPr anchorCtr="0" anchor="t" bIns="20750" lIns="20750" spcFirstLastPara="1" rIns="20750" wrap="square" tIns="2075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184150" lvl="0" marL="2032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We can add inputs in a </a:t>
            </a:r>
            <a:r>
              <a:rPr b="1" lang="en" sz="13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batch </a:t>
            </a:r>
            <a:r>
              <a:rPr lang="en" sz="13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to compute multiple inputs at the same time </a:t>
            </a:r>
            <a:endParaRPr sz="13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184150" lvl="0" marL="2032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Input vector </a:t>
            </a:r>
            <a:r>
              <a:rPr b="1" lang="en" sz="13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x </a:t>
            </a:r>
            <a:r>
              <a:rPr lang="en" sz="13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becomes matrix </a:t>
            </a:r>
            <a:r>
              <a:rPr b="1" lang="en" sz="13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X </a:t>
            </a:r>
            <a:endParaRPr b="1" sz="13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184150" lvl="0" marL="2032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Output vector </a:t>
            </a:r>
            <a:r>
              <a:rPr b="1" lang="en" sz="13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y </a:t>
            </a:r>
            <a:r>
              <a:rPr lang="en" sz="13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becomes matrix </a:t>
            </a:r>
            <a:r>
              <a:rPr b="1" lang="en" sz="13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Y</a:t>
            </a:r>
            <a:endParaRPr b="1" sz="13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2032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4191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31" name="Google Shape;231;p47"/>
          <p:cNvSpPr txBox="1"/>
          <p:nvPr/>
        </p:nvSpPr>
        <p:spPr>
          <a:xfrm>
            <a:off x="241311" y="4594445"/>
            <a:ext cx="6750600" cy="1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00" lIns="41500" spcFirstLastPara="1" rIns="41500" wrap="square" tIns="415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latin typeface="Calibri"/>
                <a:ea typeface="Calibri"/>
                <a:cs typeface="Calibri"/>
                <a:sym typeface="Calibri"/>
              </a:rPr>
              <a:t>Image credit : https://www.jeremyjordan.me/intro-to-neural-networks/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2" name="Google Shape;232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04417" y="977489"/>
            <a:ext cx="5604570" cy="3045325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47"/>
          <p:cNvSpPr txBox="1"/>
          <p:nvPr>
            <p:ph idx="12" type="sldNum"/>
          </p:nvPr>
        </p:nvSpPr>
        <p:spPr>
          <a:xfrm>
            <a:off x="8686431" y="4849909"/>
            <a:ext cx="350100" cy="132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50800" lvl="0" marL="0" rtl="0" algn="l"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48"/>
          <p:cNvSpPr txBox="1"/>
          <p:nvPr>
            <p:ph type="title"/>
          </p:nvPr>
        </p:nvSpPr>
        <p:spPr>
          <a:xfrm>
            <a:off x="170675" y="248247"/>
            <a:ext cx="5356200" cy="457800"/>
          </a:xfrm>
          <a:prstGeom prst="rect">
            <a:avLst/>
          </a:prstGeom>
        </p:spPr>
        <p:txBody>
          <a:bodyPr anchorCtr="0" anchor="t" bIns="41500" lIns="41500" spcFirstLastPara="1" rIns="41500" wrap="square" tIns="415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Importance of Non-Linear Activation</a:t>
            </a:r>
            <a:endParaRPr/>
          </a:p>
        </p:txBody>
      </p:sp>
      <p:sp>
        <p:nvSpPr>
          <p:cNvPr id="239" name="Google Shape;239;p48"/>
          <p:cNvSpPr txBox="1"/>
          <p:nvPr>
            <p:ph idx="1" type="body"/>
          </p:nvPr>
        </p:nvSpPr>
        <p:spPr>
          <a:xfrm>
            <a:off x="189174" y="1248400"/>
            <a:ext cx="7334400" cy="1395900"/>
          </a:xfrm>
          <a:prstGeom prst="rect">
            <a:avLst/>
          </a:prstGeom>
        </p:spPr>
        <p:txBody>
          <a:bodyPr anchorCtr="0" anchor="t" bIns="41500" lIns="41500" spcFirstLastPara="1" rIns="41500" wrap="square" tIns="41500">
            <a:noAutofit/>
          </a:bodyPr>
          <a:lstStyle/>
          <a:p>
            <a:pPr indent="-196850" lvl="0" marL="203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Non-Linear Activation helps network learn complex mappings </a:t>
            </a:r>
            <a:endParaRPr sz="1500"/>
          </a:p>
          <a:p>
            <a:pPr indent="-196850" lvl="1" marL="419100" rtl="0" algn="l">
              <a:spcBef>
                <a:spcPts val="5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eg. sigmoid, ReLU </a:t>
            </a:r>
            <a:endParaRPr sz="1500"/>
          </a:p>
          <a:p>
            <a:pPr indent="0" lvl="0" marL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-196850" lvl="0" marL="203200" rtl="0" algn="l">
              <a:spcBef>
                <a:spcPts val="5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activations in all layers are linear network decays to a single linear layer </a:t>
            </a:r>
            <a:endParaRPr sz="1500"/>
          </a:p>
          <a:p>
            <a:pPr indent="0" lvl="0" marL="203200" rtl="0" algn="l"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-196850" lvl="0" marL="203200" rtl="0" algn="l">
              <a:spcBef>
                <a:spcPts val="5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y = h</a:t>
            </a:r>
            <a:r>
              <a:rPr baseline="-25000" lang="en" sz="1500"/>
              <a:t>2</a:t>
            </a:r>
            <a:r>
              <a:rPr lang="en" sz="1500"/>
              <a:t>W</a:t>
            </a:r>
            <a:r>
              <a:rPr baseline="-25000" lang="en" sz="1500"/>
              <a:t>3</a:t>
            </a:r>
            <a:r>
              <a:rPr lang="en" sz="1500"/>
              <a:t>+ b</a:t>
            </a:r>
            <a:r>
              <a:rPr baseline="-25000" lang="en" sz="1500"/>
              <a:t>3</a:t>
            </a:r>
            <a:r>
              <a:rPr lang="en" sz="1500"/>
              <a:t> </a:t>
            </a:r>
            <a:endParaRPr sz="1500"/>
          </a:p>
          <a:p>
            <a:pPr indent="0" lvl="0" marL="20320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lang="en" sz="1500"/>
              <a:t>   = h</a:t>
            </a:r>
            <a:r>
              <a:rPr baseline="-25000" lang="en" sz="1500"/>
              <a:t>1</a:t>
            </a:r>
            <a:r>
              <a:rPr lang="en" sz="1500"/>
              <a:t>W</a:t>
            </a:r>
            <a:r>
              <a:rPr baseline="-25000" lang="en" sz="1500"/>
              <a:t>2</a:t>
            </a:r>
            <a:r>
              <a:rPr lang="en" sz="1500">
                <a:solidFill>
                  <a:schemeClr val="dk1"/>
                </a:solidFill>
              </a:rPr>
              <a:t>W</a:t>
            </a:r>
            <a:r>
              <a:rPr baseline="-25000" lang="en" sz="1500">
                <a:solidFill>
                  <a:schemeClr val="dk1"/>
                </a:solidFill>
              </a:rPr>
              <a:t>3</a:t>
            </a:r>
            <a:r>
              <a:rPr lang="en" sz="1500"/>
              <a:t>+b</a:t>
            </a:r>
            <a:r>
              <a:rPr baseline="-25000" lang="en" sz="1500"/>
              <a:t>2</a:t>
            </a:r>
            <a:r>
              <a:rPr lang="en" sz="1500"/>
              <a:t>W</a:t>
            </a:r>
            <a:r>
              <a:rPr baseline="-25000" lang="en" sz="1500"/>
              <a:t>3</a:t>
            </a:r>
            <a:r>
              <a:rPr lang="en" sz="1500"/>
              <a:t> + b</a:t>
            </a:r>
            <a:r>
              <a:rPr baseline="-25000" lang="en" sz="1500"/>
              <a:t>3</a:t>
            </a:r>
            <a:endParaRPr sz="1500"/>
          </a:p>
          <a:p>
            <a:pPr indent="0" lvl="0" marL="20320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lang="en" sz="1500"/>
              <a:t>   = </a:t>
            </a:r>
            <a:r>
              <a:rPr lang="en" sz="1500">
                <a:solidFill>
                  <a:schemeClr val="dk1"/>
                </a:solidFill>
              </a:rPr>
              <a:t>xW</a:t>
            </a:r>
            <a:r>
              <a:rPr baseline="-25000" lang="en" sz="1500">
                <a:solidFill>
                  <a:schemeClr val="dk1"/>
                </a:solidFill>
              </a:rPr>
              <a:t>1</a:t>
            </a:r>
            <a:r>
              <a:rPr lang="en" sz="1500">
                <a:solidFill>
                  <a:schemeClr val="dk1"/>
                </a:solidFill>
              </a:rPr>
              <a:t>W</a:t>
            </a:r>
            <a:r>
              <a:rPr baseline="-25000" lang="en" sz="1500">
                <a:solidFill>
                  <a:schemeClr val="dk1"/>
                </a:solidFill>
              </a:rPr>
              <a:t>2</a:t>
            </a:r>
            <a:r>
              <a:rPr lang="en" sz="1500">
                <a:solidFill>
                  <a:schemeClr val="dk1"/>
                </a:solidFill>
              </a:rPr>
              <a:t>W</a:t>
            </a:r>
            <a:r>
              <a:rPr baseline="-25000" lang="en" sz="1500">
                <a:solidFill>
                  <a:schemeClr val="dk1"/>
                </a:solidFill>
              </a:rPr>
              <a:t>3</a:t>
            </a:r>
            <a:r>
              <a:rPr lang="en" sz="1500">
                <a:solidFill>
                  <a:schemeClr val="dk1"/>
                </a:solidFill>
              </a:rPr>
              <a:t>+b</a:t>
            </a:r>
            <a:r>
              <a:rPr baseline="-25000" lang="en" sz="1500">
                <a:solidFill>
                  <a:schemeClr val="dk1"/>
                </a:solidFill>
              </a:rPr>
              <a:t>1</a:t>
            </a:r>
            <a:r>
              <a:rPr lang="en" sz="1500">
                <a:solidFill>
                  <a:schemeClr val="dk1"/>
                </a:solidFill>
              </a:rPr>
              <a:t>W</a:t>
            </a:r>
            <a:r>
              <a:rPr baseline="-25000" lang="en" sz="1500">
                <a:solidFill>
                  <a:schemeClr val="dk1"/>
                </a:solidFill>
              </a:rPr>
              <a:t>2</a:t>
            </a:r>
            <a:r>
              <a:rPr lang="en" sz="1500">
                <a:solidFill>
                  <a:schemeClr val="dk1"/>
                </a:solidFill>
              </a:rPr>
              <a:t>W</a:t>
            </a:r>
            <a:r>
              <a:rPr baseline="-25000" lang="en" sz="1500">
                <a:solidFill>
                  <a:schemeClr val="dk1"/>
                </a:solidFill>
              </a:rPr>
              <a:t>3</a:t>
            </a:r>
            <a:r>
              <a:rPr lang="en" sz="1500">
                <a:solidFill>
                  <a:schemeClr val="dk1"/>
                </a:solidFill>
              </a:rPr>
              <a:t>+b</a:t>
            </a:r>
            <a:r>
              <a:rPr baseline="-25000" lang="en" sz="1500">
                <a:solidFill>
                  <a:schemeClr val="dk1"/>
                </a:solidFill>
              </a:rPr>
              <a:t>2</a:t>
            </a:r>
            <a:r>
              <a:rPr lang="en" sz="1500">
                <a:solidFill>
                  <a:schemeClr val="dk1"/>
                </a:solidFill>
              </a:rPr>
              <a:t>W</a:t>
            </a:r>
            <a:r>
              <a:rPr baseline="-25000" lang="en" sz="1500">
                <a:solidFill>
                  <a:schemeClr val="dk1"/>
                </a:solidFill>
              </a:rPr>
              <a:t>3</a:t>
            </a:r>
            <a:r>
              <a:rPr lang="en" sz="1500">
                <a:solidFill>
                  <a:schemeClr val="dk1"/>
                </a:solidFill>
              </a:rPr>
              <a:t> + b</a:t>
            </a:r>
            <a:r>
              <a:rPr baseline="-25000" lang="en" sz="1500">
                <a:solidFill>
                  <a:schemeClr val="dk1"/>
                </a:solidFill>
              </a:rPr>
              <a:t>3</a:t>
            </a:r>
            <a:endParaRPr sz="1500"/>
          </a:p>
          <a:p>
            <a:pPr indent="0" lvl="0" marL="203200" rtl="0" algn="l">
              <a:spcBef>
                <a:spcPts val="500"/>
              </a:spcBef>
              <a:spcAft>
                <a:spcPts val="500"/>
              </a:spcAft>
              <a:buNone/>
            </a:pPr>
            <a:r>
              <a:rPr lang="en" sz="1500"/>
              <a:t>   = xW’ + b’</a:t>
            </a:r>
            <a:endParaRPr sz="1500"/>
          </a:p>
        </p:txBody>
      </p:sp>
      <p:sp>
        <p:nvSpPr>
          <p:cNvPr id="240" name="Google Shape;240;p48"/>
          <p:cNvSpPr txBox="1"/>
          <p:nvPr>
            <p:ph idx="12" type="sldNum"/>
          </p:nvPr>
        </p:nvSpPr>
        <p:spPr>
          <a:xfrm>
            <a:off x="3950872" y="2954202"/>
            <a:ext cx="159300" cy="60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50800" lvl="0" marL="0" rtl="0" algn="l"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41" name="Google Shape;241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93303" y="3575371"/>
            <a:ext cx="5126520" cy="8418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49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</a:pPr>
            <a:r>
              <a:rPr lang="en"/>
              <a:t>Learning for a neuron includes 3 components</a:t>
            </a:r>
            <a:endParaRPr/>
          </a:p>
        </p:txBody>
      </p:sp>
      <p:sp>
        <p:nvSpPr>
          <p:cNvPr id="247" name="Google Shape;247;p49"/>
          <p:cNvSpPr txBox="1"/>
          <p:nvPr/>
        </p:nvSpPr>
        <p:spPr>
          <a:xfrm>
            <a:off x="826950" y="1566096"/>
            <a:ext cx="7688400" cy="216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aleway"/>
              <a:buChar char="●"/>
            </a:pPr>
            <a:r>
              <a:rPr lang="en" sz="18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A neural network (defined by its architecture, in other words the computational steps to evaluate the network output)</a:t>
            </a:r>
            <a:endParaRPr sz="18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429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aleway"/>
              <a:buChar char="●"/>
            </a:pPr>
            <a:r>
              <a:rPr lang="en" sz="18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A loss function (a function to measure how good or bad the network is predicting the outputs)</a:t>
            </a:r>
            <a:endParaRPr sz="18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429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aleway"/>
              <a:buChar char="●"/>
            </a:pPr>
            <a:r>
              <a:rPr lang="en" sz="18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An algorithm to minimize the loss function (also called </a:t>
            </a:r>
            <a:r>
              <a:rPr b="1" lang="en" sz="18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optimizer: Gradient </a:t>
            </a:r>
            <a:r>
              <a:rPr b="1" lang="en" sz="18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Descent</a:t>
            </a:r>
            <a:r>
              <a:rPr b="1" lang="en" sz="18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, Adam..</a:t>
            </a:r>
            <a:r>
              <a:rPr lang="en" sz="18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)</a:t>
            </a:r>
            <a:endParaRPr sz="18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48" name="Google Shape;248;p49"/>
          <p:cNvSpPr txBox="1"/>
          <p:nvPr/>
        </p:nvSpPr>
        <p:spPr>
          <a:xfrm>
            <a:off x="4813300" y="4701334"/>
            <a:ext cx="3873000" cy="2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00" lIns="41500" spcFirstLastPara="1" rIns="41500" wrap="square" tIns="41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Source:Umberto Michelucci, Applied Deep Learning - A Case-Based Approach to Understanding Deep Neural Networks, APRESS 2018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None/>
            </a:pPr>
            <a:r>
              <a:t/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50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</a:pPr>
            <a:r>
              <a:rPr lang="en"/>
              <a:t>Quiz: What can a neuron do?</a:t>
            </a:r>
            <a:endParaRPr/>
          </a:p>
        </p:txBody>
      </p:sp>
      <p:sp>
        <p:nvSpPr>
          <p:cNvPr id="254" name="Google Shape;254;p50"/>
          <p:cNvSpPr txBox="1"/>
          <p:nvPr>
            <p:ph idx="1" type="body"/>
          </p:nvPr>
        </p:nvSpPr>
        <p:spPr>
          <a:xfrm>
            <a:off x="628650" y="1477670"/>
            <a:ext cx="7886700" cy="33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8100" lvl="0" marL="1714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</a:pPr>
            <a:r>
              <a:rPr lang="en" sz="1700"/>
              <a:t>We have discussed how a neuron looks like. But how can a neuron solve any type of problem? </a:t>
            </a:r>
            <a:endParaRPr sz="1700"/>
          </a:p>
          <a:p>
            <a:pPr indent="-38100" lvl="0" marL="17145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</a:pPr>
            <a:r>
              <a:rPr lang="en" sz="1700"/>
              <a:t>Can a neuron solve a classification and a regression problem? How can we do that?</a:t>
            </a:r>
            <a:endParaRPr sz="1700"/>
          </a:p>
          <a:p>
            <a:pPr indent="-38100" lvl="0" marL="17145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t/>
            </a:r>
            <a:endParaRPr/>
          </a:p>
          <a:p>
            <a:pPr indent="-38100" lvl="0" marL="17145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t/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FF0000"/>
              </a:buClr>
              <a:buSzPts val="2800"/>
              <a:buNone/>
            </a:pPr>
            <a:r>
              <a:rPr lang="en" sz="2800">
                <a:solidFill>
                  <a:srgbClr val="FF0000"/>
                </a:solidFill>
              </a:rPr>
              <a:t>Question: which component of a neuron is responsible for the type of problem we want to solve?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51"/>
          <p:cNvSpPr txBox="1"/>
          <p:nvPr>
            <p:ph type="title"/>
          </p:nvPr>
        </p:nvSpPr>
        <p:spPr>
          <a:xfrm>
            <a:off x="628650" y="273850"/>
            <a:ext cx="6713400" cy="138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</a:pPr>
            <a:r>
              <a:rPr lang="en"/>
              <a:t>Which portion of a </a:t>
            </a:r>
            <a:r>
              <a:rPr i="1" lang="en"/>
              <a:t>neural network model</a:t>
            </a:r>
            <a:r>
              <a:rPr lang="en"/>
              <a:t> is responsible for the type of problem that can be solved?</a:t>
            </a:r>
            <a:endParaRPr/>
          </a:p>
        </p:txBody>
      </p:sp>
      <p:sp>
        <p:nvSpPr>
          <p:cNvPr id="260" name="Google Shape;260;p51"/>
          <p:cNvSpPr txBox="1"/>
          <p:nvPr>
            <p:ph idx="1" type="body"/>
          </p:nvPr>
        </p:nvSpPr>
        <p:spPr>
          <a:xfrm>
            <a:off x="628650" y="1709529"/>
            <a:ext cx="7886700" cy="29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sz="1900"/>
              <a:t>Two main components are responsible for the type of problem that can be solved:</a:t>
            </a:r>
            <a:endParaRPr sz="1900"/>
          </a:p>
          <a:p>
            <a:pPr indent="-349250" lvl="0" marL="45720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output activation function</a:t>
            </a:r>
            <a:endParaRPr sz="1900"/>
          </a:p>
          <a:p>
            <a:pPr indent="-34925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loss function</a:t>
            </a:r>
            <a:endParaRPr sz="1900"/>
          </a:p>
          <a:p>
            <a:pPr indent="0" lvl="0" marL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t/>
            </a:r>
            <a:endParaRPr sz="1900"/>
          </a:p>
          <a:p>
            <a:pPr indent="0" lvl="0" marL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sz="1900"/>
              <a:t>The optimiser is not related in any way to the type of problem solved.</a:t>
            </a:r>
            <a:endParaRPr sz="19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52"/>
          <p:cNvSpPr txBox="1"/>
          <p:nvPr>
            <p:ph type="title"/>
          </p:nvPr>
        </p:nvSpPr>
        <p:spPr>
          <a:xfrm>
            <a:off x="628650" y="2028669"/>
            <a:ext cx="7886700" cy="9942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Classification Problem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 output activation function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Softmax function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53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70"/>
              <a:buFont typeface="Arial"/>
              <a:buNone/>
            </a:pPr>
            <a:r>
              <a:rPr lang="en" sz="2670"/>
              <a:t>Neural Network Architecture (example with 3 classes)</a:t>
            </a:r>
            <a:endParaRPr sz="2670"/>
          </a:p>
        </p:txBody>
      </p:sp>
      <p:pic>
        <p:nvPicPr>
          <p:cNvPr id="271" name="Google Shape;271;p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1415" y="2737402"/>
            <a:ext cx="407129" cy="307830"/>
          </a:xfrm>
          <a:prstGeom prst="rect">
            <a:avLst/>
          </a:prstGeom>
          <a:noFill/>
          <a:ln>
            <a:noFill/>
          </a:ln>
        </p:spPr>
      </p:pic>
      <p:sp>
        <p:nvSpPr>
          <p:cNvPr id="272" name="Google Shape;272;p53"/>
          <p:cNvSpPr/>
          <p:nvPr/>
        </p:nvSpPr>
        <p:spPr>
          <a:xfrm>
            <a:off x="2067339" y="2265068"/>
            <a:ext cx="1398000" cy="12525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Network</a:t>
            </a:r>
            <a:endParaRPr/>
          </a:p>
        </p:txBody>
      </p:sp>
      <p:cxnSp>
        <p:nvCxnSpPr>
          <p:cNvPr id="273" name="Google Shape;273;p53"/>
          <p:cNvCxnSpPr>
            <a:endCxn id="272" idx="1"/>
          </p:cNvCxnSpPr>
          <p:nvPr/>
        </p:nvCxnSpPr>
        <p:spPr>
          <a:xfrm>
            <a:off x="1298739" y="2891318"/>
            <a:ext cx="7686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274" name="Google Shape;274;p53"/>
          <p:cNvSpPr txBox="1"/>
          <p:nvPr/>
        </p:nvSpPr>
        <p:spPr>
          <a:xfrm>
            <a:off x="569638" y="3045232"/>
            <a:ext cx="6849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Input</a:t>
            </a:r>
            <a:endParaRPr/>
          </a:p>
        </p:txBody>
      </p:sp>
      <p:pic>
        <p:nvPicPr>
          <p:cNvPr id="275" name="Google Shape;275;p5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278341" y="2205922"/>
            <a:ext cx="405980" cy="334932"/>
          </a:xfrm>
          <a:prstGeom prst="rect">
            <a:avLst/>
          </a:prstGeom>
          <a:noFill/>
          <a:ln>
            <a:noFill/>
          </a:ln>
        </p:spPr>
      </p:pic>
      <p:pic>
        <p:nvPicPr>
          <p:cNvPr id="276" name="Google Shape;276;p5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278341" y="2760291"/>
            <a:ext cx="416129" cy="334933"/>
          </a:xfrm>
          <a:prstGeom prst="rect">
            <a:avLst/>
          </a:prstGeom>
          <a:noFill/>
          <a:ln>
            <a:noFill/>
          </a:ln>
        </p:spPr>
      </p:pic>
      <p:pic>
        <p:nvPicPr>
          <p:cNvPr id="277" name="Google Shape;277;p5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278341" y="3300106"/>
            <a:ext cx="426277" cy="33493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78" name="Google Shape;278;p53"/>
          <p:cNvCxnSpPr>
            <a:stCxn id="272" idx="3"/>
          </p:cNvCxnSpPr>
          <p:nvPr/>
        </p:nvCxnSpPr>
        <p:spPr>
          <a:xfrm flipH="1" rot="10800000">
            <a:off x="3465339" y="2438318"/>
            <a:ext cx="649500" cy="4530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279" name="Google Shape;279;p53"/>
          <p:cNvCxnSpPr>
            <a:stCxn id="272" idx="3"/>
          </p:cNvCxnSpPr>
          <p:nvPr/>
        </p:nvCxnSpPr>
        <p:spPr>
          <a:xfrm>
            <a:off x="3465339" y="2891318"/>
            <a:ext cx="6627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280" name="Google Shape;280;p53"/>
          <p:cNvCxnSpPr>
            <a:stCxn id="272" idx="3"/>
          </p:cNvCxnSpPr>
          <p:nvPr/>
        </p:nvCxnSpPr>
        <p:spPr>
          <a:xfrm>
            <a:off x="3465339" y="2891318"/>
            <a:ext cx="649500" cy="5232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281" name="Google Shape;281;p53"/>
          <p:cNvSpPr txBox="1"/>
          <p:nvPr/>
        </p:nvSpPr>
        <p:spPr>
          <a:xfrm>
            <a:off x="5367130" y="1875654"/>
            <a:ext cx="3021600" cy="203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How should we interpret those numbers?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We would like to interpret them as the probability of the input observation to be in class 1, 2 or 3.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4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70"/>
              <a:buFont typeface="Arial"/>
              <a:buNone/>
            </a:pPr>
            <a:r>
              <a:rPr lang="en" sz="2670"/>
              <a:t>Neural Network Architecture (example with 3 classes)</a:t>
            </a:r>
            <a:endParaRPr/>
          </a:p>
        </p:txBody>
      </p:sp>
      <p:pic>
        <p:nvPicPr>
          <p:cNvPr id="287" name="Google Shape;287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1415" y="2737402"/>
            <a:ext cx="407129" cy="307830"/>
          </a:xfrm>
          <a:prstGeom prst="rect">
            <a:avLst/>
          </a:prstGeom>
          <a:noFill/>
          <a:ln>
            <a:noFill/>
          </a:ln>
        </p:spPr>
      </p:pic>
      <p:sp>
        <p:nvSpPr>
          <p:cNvPr id="288" name="Google Shape;288;p54"/>
          <p:cNvSpPr/>
          <p:nvPr/>
        </p:nvSpPr>
        <p:spPr>
          <a:xfrm>
            <a:off x="2067339" y="2265068"/>
            <a:ext cx="1398000" cy="12525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Network</a:t>
            </a:r>
            <a:endParaRPr/>
          </a:p>
        </p:txBody>
      </p:sp>
      <p:cxnSp>
        <p:nvCxnSpPr>
          <p:cNvPr id="289" name="Google Shape;289;p54"/>
          <p:cNvCxnSpPr>
            <a:endCxn id="288" idx="1"/>
          </p:cNvCxnSpPr>
          <p:nvPr/>
        </p:nvCxnSpPr>
        <p:spPr>
          <a:xfrm>
            <a:off x="1298739" y="2891318"/>
            <a:ext cx="7686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290" name="Google Shape;290;p54"/>
          <p:cNvSpPr txBox="1"/>
          <p:nvPr/>
        </p:nvSpPr>
        <p:spPr>
          <a:xfrm>
            <a:off x="569638" y="3045232"/>
            <a:ext cx="6849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Input</a:t>
            </a:r>
            <a:endParaRPr/>
          </a:p>
        </p:txBody>
      </p:sp>
      <p:pic>
        <p:nvPicPr>
          <p:cNvPr id="291" name="Google Shape;291;p5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278341" y="2205922"/>
            <a:ext cx="405980" cy="334932"/>
          </a:xfrm>
          <a:prstGeom prst="rect">
            <a:avLst/>
          </a:prstGeom>
          <a:noFill/>
          <a:ln>
            <a:noFill/>
          </a:ln>
        </p:spPr>
      </p:pic>
      <p:pic>
        <p:nvPicPr>
          <p:cNvPr id="292" name="Google Shape;292;p5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278341" y="2760291"/>
            <a:ext cx="416129" cy="334933"/>
          </a:xfrm>
          <a:prstGeom prst="rect">
            <a:avLst/>
          </a:prstGeom>
          <a:noFill/>
          <a:ln>
            <a:noFill/>
          </a:ln>
        </p:spPr>
      </p:pic>
      <p:pic>
        <p:nvPicPr>
          <p:cNvPr id="293" name="Google Shape;293;p5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278341" y="3300106"/>
            <a:ext cx="426277" cy="33493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94" name="Google Shape;294;p54"/>
          <p:cNvCxnSpPr>
            <a:stCxn id="288" idx="3"/>
          </p:cNvCxnSpPr>
          <p:nvPr/>
        </p:nvCxnSpPr>
        <p:spPr>
          <a:xfrm flipH="1" rot="10800000">
            <a:off x="3465339" y="2438318"/>
            <a:ext cx="649500" cy="4530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295" name="Google Shape;295;p54"/>
          <p:cNvCxnSpPr>
            <a:stCxn id="288" idx="3"/>
          </p:cNvCxnSpPr>
          <p:nvPr/>
        </p:nvCxnSpPr>
        <p:spPr>
          <a:xfrm>
            <a:off x="3465339" y="2891318"/>
            <a:ext cx="6627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296" name="Google Shape;296;p54"/>
          <p:cNvCxnSpPr>
            <a:stCxn id="288" idx="3"/>
          </p:cNvCxnSpPr>
          <p:nvPr/>
        </p:nvCxnSpPr>
        <p:spPr>
          <a:xfrm>
            <a:off x="3465339" y="2891318"/>
            <a:ext cx="649500" cy="5232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297" name="Google Shape;297;p54"/>
          <p:cNvSpPr txBox="1"/>
          <p:nvPr/>
        </p:nvSpPr>
        <p:spPr>
          <a:xfrm>
            <a:off x="5049080" y="994384"/>
            <a:ext cx="3021600" cy="3970200"/>
          </a:xfrm>
          <a:prstGeom prst="rect">
            <a:avLst/>
          </a:prstGeom>
          <a:blipFill rotWithShape="1">
            <a:blip r:embed="rId7">
              <a:alphaModFix/>
            </a:blip>
            <a:stretch>
              <a:fillRect b="-1599" l="-1669" r="-3349" t="-638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5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70"/>
              <a:buFont typeface="Arial"/>
              <a:buNone/>
            </a:pPr>
            <a:r>
              <a:rPr lang="en" sz="2670"/>
              <a:t>Neural Network Architecture (example with 3 classes)</a:t>
            </a:r>
            <a:endParaRPr/>
          </a:p>
        </p:txBody>
      </p:sp>
      <p:pic>
        <p:nvPicPr>
          <p:cNvPr id="303" name="Google Shape;303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1415" y="2737402"/>
            <a:ext cx="407129" cy="307830"/>
          </a:xfrm>
          <a:prstGeom prst="rect">
            <a:avLst/>
          </a:prstGeom>
          <a:noFill/>
          <a:ln>
            <a:noFill/>
          </a:ln>
        </p:spPr>
      </p:pic>
      <p:sp>
        <p:nvSpPr>
          <p:cNvPr id="304" name="Google Shape;304;p55"/>
          <p:cNvSpPr/>
          <p:nvPr/>
        </p:nvSpPr>
        <p:spPr>
          <a:xfrm>
            <a:off x="2067339" y="2265068"/>
            <a:ext cx="1398000" cy="12525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Network</a:t>
            </a:r>
            <a:endParaRPr/>
          </a:p>
        </p:txBody>
      </p:sp>
      <p:cxnSp>
        <p:nvCxnSpPr>
          <p:cNvPr id="305" name="Google Shape;305;p55"/>
          <p:cNvCxnSpPr>
            <a:endCxn id="304" idx="1"/>
          </p:cNvCxnSpPr>
          <p:nvPr/>
        </p:nvCxnSpPr>
        <p:spPr>
          <a:xfrm>
            <a:off x="1298739" y="2891318"/>
            <a:ext cx="7686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306" name="Google Shape;306;p55"/>
          <p:cNvSpPr txBox="1"/>
          <p:nvPr/>
        </p:nvSpPr>
        <p:spPr>
          <a:xfrm>
            <a:off x="569638" y="3045232"/>
            <a:ext cx="6849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Input</a:t>
            </a:r>
            <a:endParaRPr/>
          </a:p>
        </p:txBody>
      </p:sp>
      <p:pic>
        <p:nvPicPr>
          <p:cNvPr id="307" name="Google Shape;307;p5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278341" y="2205922"/>
            <a:ext cx="405980" cy="334932"/>
          </a:xfrm>
          <a:prstGeom prst="rect">
            <a:avLst/>
          </a:prstGeom>
          <a:noFill/>
          <a:ln>
            <a:noFill/>
          </a:ln>
        </p:spPr>
      </p:pic>
      <p:pic>
        <p:nvPicPr>
          <p:cNvPr id="308" name="Google Shape;308;p5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278341" y="2760291"/>
            <a:ext cx="416129" cy="334933"/>
          </a:xfrm>
          <a:prstGeom prst="rect">
            <a:avLst/>
          </a:prstGeom>
          <a:noFill/>
          <a:ln>
            <a:noFill/>
          </a:ln>
        </p:spPr>
      </p:pic>
      <p:pic>
        <p:nvPicPr>
          <p:cNvPr id="309" name="Google Shape;309;p5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278341" y="3300106"/>
            <a:ext cx="426277" cy="33493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10" name="Google Shape;310;p55"/>
          <p:cNvCxnSpPr>
            <a:stCxn id="304" idx="3"/>
          </p:cNvCxnSpPr>
          <p:nvPr/>
        </p:nvCxnSpPr>
        <p:spPr>
          <a:xfrm flipH="1" rot="10800000">
            <a:off x="3465339" y="2438318"/>
            <a:ext cx="649500" cy="4530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11" name="Google Shape;311;p55"/>
          <p:cNvCxnSpPr>
            <a:stCxn id="304" idx="3"/>
          </p:cNvCxnSpPr>
          <p:nvPr/>
        </p:nvCxnSpPr>
        <p:spPr>
          <a:xfrm>
            <a:off x="3465339" y="2891318"/>
            <a:ext cx="6627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12" name="Google Shape;312;p55"/>
          <p:cNvCxnSpPr>
            <a:stCxn id="304" idx="3"/>
          </p:cNvCxnSpPr>
          <p:nvPr/>
        </p:nvCxnSpPr>
        <p:spPr>
          <a:xfrm>
            <a:off x="3465339" y="2891318"/>
            <a:ext cx="649500" cy="5232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313" name="Google Shape;313;p55"/>
          <p:cNvSpPr txBox="1"/>
          <p:nvPr/>
        </p:nvSpPr>
        <p:spPr>
          <a:xfrm>
            <a:off x="5208106" y="1329130"/>
            <a:ext cx="3214500" cy="2862300"/>
          </a:xfrm>
          <a:prstGeom prst="rect">
            <a:avLst/>
          </a:prstGeom>
          <a:blipFill rotWithShape="1">
            <a:blip r:embed="rId7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56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70"/>
              <a:buFont typeface="Arial"/>
              <a:buNone/>
            </a:pPr>
            <a:r>
              <a:rPr lang="en" sz="2670"/>
              <a:t>Neural Network Architecture (example with 3 classes)</a:t>
            </a:r>
            <a:endParaRPr/>
          </a:p>
        </p:txBody>
      </p:sp>
      <p:pic>
        <p:nvPicPr>
          <p:cNvPr id="319" name="Google Shape;319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1415" y="2737402"/>
            <a:ext cx="407129" cy="307830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56"/>
          <p:cNvSpPr/>
          <p:nvPr/>
        </p:nvSpPr>
        <p:spPr>
          <a:xfrm>
            <a:off x="2067339" y="2265068"/>
            <a:ext cx="1398000" cy="12525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Network</a:t>
            </a:r>
            <a:endParaRPr/>
          </a:p>
        </p:txBody>
      </p:sp>
      <p:cxnSp>
        <p:nvCxnSpPr>
          <p:cNvPr id="321" name="Google Shape;321;p56"/>
          <p:cNvCxnSpPr>
            <a:endCxn id="320" idx="1"/>
          </p:cNvCxnSpPr>
          <p:nvPr/>
        </p:nvCxnSpPr>
        <p:spPr>
          <a:xfrm>
            <a:off x="1298739" y="2891318"/>
            <a:ext cx="7686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322" name="Google Shape;322;p56"/>
          <p:cNvSpPr txBox="1"/>
          <p:nvPr/>
        </p:nvSpPr>
        <p:spPr>
          <a:xfrm>
            <a:off x="569638" y="3045232"/>
            <a:ext cx="6849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Input</a:t>
            </a:r>
            <a:endParaRPr/>
          </a:p>
        </p:txBody>
      </p:sp>
      <p:pic>
        <p:nvPicPr>
          <p:cNvPr id="323" name="Google Shape;323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278341" y="2205922"/>
            <a:ext cx="405980" cy="334932"/>
          </a:xfrm>
          <a:prstGeom prst="rect">
            <a:avLst/>
          </a:prstGeom>
          <a:noFill/>
          <a:ln>
            <a:noFill/>
          </a:ln>
        </p:spPr>
      </p:pic>
      <p:pic>
        <p:nvPicPr>
          <p:cNvPr id="324" name="Google Shape;324;p5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278341" y="2760291"/>
            <a:ext cx="416129" cy="334933"/>
          </a:xfrm>
          <a:prstGeom prst="rect">
            <a:avLst/>
          </a:prstGeom>
          <a:noFill/>
          <a:ln>
            <a:noFill/>
          </a:ln>
        </p:spPr>
      </p:pic>
      <p:pic>
        <p:nvPicPr>
          <p:cNvPr id="325" name="Google Shape;325;p5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278341" y="3300106"/>
            <a:ext cx="426277" cy="33493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26" name="Google Shape;326;p56"/>
          <p:cNvCxnSpPr>
            <a:stCxn id="320" idx="3"/>
          </p:cNvCxnSpPr>
          <p:nvPr/>
        </p:nvCxnSpPr>
        <p:spPr>
          <a:xfrm flipH="1" rot="10800000">
            <a:off x="3465339" y="2438318"/>
            <a:ext cx="649500" cy="4530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27" name="Google Shape;327;p56"/>
          <p:cNvCxnSpPr>
            <a:stCxn id="320" idx="3"/>
          </p:cNvCxnSpPr>
          <p:nvPr/>
        </p:nvCxnSpPr>
        <p:spPr>
          <a:xfrm>
            <a:off x="3465339" y="2891318"/>
            <a:ext cx="6627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28" name="Google Shape;328;p56"/>
          <p:cNvCxnSpPr>
            <a:stCxn id="320" idx="3"/>
          </p:cNvCxnSpPr>
          <p:nvPr/>
        </p:nvCxnSpPr>
        <p:spPr>
          <a:xfrm>
            <a:off x="3465339" y="2891318"/>
            <a:ext cx="649500" cy="5232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pic>
        <p:nvPicPr>
          <p:cNvPr id="329" name="Google Shape;329;p5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202732" y="2180202"/>
            <a:ext cx="424249" cy="334934"/>
          </a:xfrm>
          <a:prstGeom prst="rect">
            <a:avLst/>
          </a:prstGeom>
          <a:noFill/>
          <a:ln>
            <a:noFill/>
          </a:ln>
        </p:spPr>
      </p:pic>
      <p:pic>
        <p:nvPicPr>
          <p:cNvPr id="330" name="Google Shape;330;p5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187287" y="2734572"/>
            <a:ext cx="446578" cy="33493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1" name="Google Shape;331;p5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7202732" y="3288942"/>
            <a:ext cx="446577" cy="346096"/>
          </a:xfrm>
          <a:prstGeom prst="rect">
            <a:avLst/>
          </a:prstGeom>
          <a:noFill/>
          <a:ln>
            <a:noFill/>
          </a:ln>
        </p:spPr>
      </p:pic>
      <p:sp>
        <p:nvSpPr>
          <p:cNvPr id="332" name="Google Shape;332;p56"/>
          <p:cNvSpPr/>
          <p:nvPr/>
        </p:nvSpPr>
        <p:spPr>
          <a:xfrm>
            <a:off x="5239575" y="2275789"/>
            <a:ext cx="1398000" cy="12525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Function</a:t>
            </a:r>
            <a:endParaRPr/>
          </a:p>
        </p:txBody>
      </p:sp>
      <p:cxnSp>
        <p:nvCxnSpPr>
          <p:cNvPr id="333" name="Google Shape;333;p56"/>
          <p:cNvCxnSpPr>
            <a:stCxn id="323" idx="3"/>
            <a:endCxn id="332" idx="1"/>
          </p:cNvCxnSpPr>
          <p:nvPr/>
        </p:nvCxnSpPr>
        <p:spPr>
          <a:xfrm>
            <a:off x="4684321" y="2373388"/>
            <a:ext cx="555300" cy="528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34" name="Google Shape;334;p56"/>
          <p:cNvCxnSpPr>
            <a:stCxn id="324" idx="3"/>
            <a:endCxn id="332" idx="1"/>
          </p:cNvCxnSpPr>
          <p:nvPr/>
        </p:nvCxnSpPr>
        <p:spPr>
          <a:xfrm flipH="1" rot="10800000">
            <a:off x="4694470" y="2901958"/>
            <a:ext cx="545100" cy="258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35" name="Google Shape;335;p56"/>
          <p:cNvCxnSpPr>
            <a:stCxn id="325" idx="3"/>
            <a:endCxn id="332" idx="1"/>
          </p:cNvCxnSpPr>
          <p:nvPr/>
        </p:nvCxnSpPr>
        <p:spPr>
          <a:xfrm flipH="1" rot="10800000">
            <a:off x="4704618" y="2902072"/>
            <a:ext cx="534900" cy="565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36" name="Google Shape;336;p56"/>
          <p:cNvCxnSpPr>
            <a:stCxn id="332" idx="3"/>
            <a:endCxn id="329" idx="1"/>
          </p:cNvCxnSpPr>
          <p:nvPr/>
        </p:nvCxnSpPr>
        <p:spPr>
          <a:xfrm flipH="1" rot="10800000">
            <a:off x="6637575" y="2347639"/>
            <a:ext cx="565200" cy="5544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37" name="Google Shape;337;p56"/>
          <p:cNvCxnSpPr>
            <a:stCxn id="332" idx="3"/>
            <a:endCxn id="330" idx="1"/>
          </p:cNvCxnSpPr>
          <p:nvPr/>
        </p:nvCxnSpPr>
        <p:spPr>
          <a:xfrm>
            <a:off x="6637575" y="2902039"/>
            <a:ext cx="5496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38" name="Google Shape;338;p56"/>
          <p:cNvCxnSpPr>
            <a:stCxn id="332" idx="3"/>
            <a:endCxn id="331" idx="1"/>
          </p:cNvCxnSpPr>
          <p:nvPr/>
        </p:nvCxnSpPr>
        <p:spPr>
          <a:xfrm>
            <a:off x="6637575" y="2902039"/>
            <a:ext cx="565200" cy="5601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pic>
        <p:nvPicPr>
          <p:cNvPr id="339" name="Google Shape;339;p56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072704" y="4177521"/>
            <a:ext cx="3129946" cy="382145"/>
          </a:xfrm>
          <a:prstGeom prst="rect">
            <a:avLst/>
          </a:prstGeom>
          <a:noFill/>
          <a:ln>
            <a:noFill/>
          </a:ln>
        </p:spPr>
      </p:pic>
      <p:pic>
        <p:nvPicPr>
          <p:cNvPr id="340" name="Google Shape;340;p56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662280" y="4203353"/>
            <a:ext cx="3452517" cy="3793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3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3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57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70"/>
              <a:buFont typeface="Arial"/>
              <a:buNone/>
            </a:pPr>
            <a:r>
              <a:rPr lang="en" sz="2670"/>
              <a:t>Neural Network Architecture (example with 3 classes)</a:t>
            </a:r>
            <a:endParaRPr/>
          </a:p>
        </p:txBody>
      </p:sp>
      <p:sp>
        <p:nvSpPr>
          <p:cNvPr id="346" name="Google Shape;346;p57"/>
          <p:cNvSpPr txBox="1"/>
          <p:nvPr/>
        </p:nvSpPr>
        <p:spPr>
          <a:xfrm>
            <a:off x="5707320" y="1072537"/>
            <a:ext cx="3214500" cy="37104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  <p:pic>
        <p:nvPicPr>
          <p:cNvPr id="347" name="Google Shape;347;p5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054520" y="2132770"/>
            <a:ext cx="405980" cy="334932"/>
          </a:xfrm>
          <a:prstGeom prst="rect">
            <a:avLst/>
          </a:prstGeom>
          <a:noFill/>
          <a:ln>
            <a:noFill/>
          </a:ln>
        </p:spPr>
      </p:pic>
      <p:pic>
        <p:nvPicPr>
          <p:cNvPr id="348" name="Google Shape;348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054520" y="2687139"/>
            <a:ext cx="416129" cy="334933"/>
          </a:xfrm>
          <a:prstGeom prst="rect">
            <a:avLst/>
          </a:prstGeom>
          <a:noFill/>
          <a:ln>
            <a:noFill/>
          </a:ln>
        </p:spPr>
      </p:pic>
      <p:pic>
        <p:nvPicPr>
          <p:cNvPr id="349" name="Google Shape;349;p5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2054520" y="3226954"/>
            <a:ext cx="426277" cy="334932"/>
          </a:xfrm>
          <a:prstGeom prst="rect">
            <a:avLst/>
          </a:prstGeom>
          <a:noFill/>
          <a:ln>
            <a:noFill/>
          </a:ln>
        </p:spPr>
      </p:pic>
      <p:pic>
        <p:nvPicPr>
          <p:cNvPr id="350" name="Google Shape;350;p5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978911" y="2107050"/>
            <a:ext cx="424249" cy="334934"/>
          </a:xfrm>
          <a:prstGeom prst="rect">
            <a:avLst/>
          </a:prstGeom>
          <a:noFill/>
          <a:ln>
            <a:noFill/>
          </a:ln>
        </p:spPr>
      </p:pic>
      <p:pic>
        <p:nvPicPr>
          <p:cNvPr id="351" name="Google Shape;351;p5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963466" y="2661420"/>
            <a:ext cx="446578" cy="334932"/>
          </a:xfrm>
          <a:prstGeom prst="rect">
            <a:avLst/>
          </a:prstGeom>
          <a:noFill/>
          <a:ln>
            <a:noFill/>
          </a:ln>
        </p:spPr>
      </p:pic>
      <p:pic>
        <p:nvPicPr>
          <p:cNvPr id="352" name="Google Shape;352;p5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4978911" y="3215790"/>
            <a:ext cx="446577" cy="346096"/>
          </a:xfrm>
          <a:prstGeom prst="rect">
            <a:avLst/>
          </a:prstGeom>
          <a:noFill/>
          <a:ln>
            <a:noFill/>
          </a:ln>
        </p:spPr>
      </p:pic>
      <p:sp>
        <p:nvSpPr>
          <p:cNvPr id="353" name="Google Shape;353;p57"/>
          <p:cNvSpPr/>
          <p:nvPr/>
        </p:nvSpPr>
        <p:spPr>
          <a:xfrm>
            <a:off x="3015754" y="2202637"/>
            <a:ext cx="1398000" cy="12525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Function</a:t>
            </a:r>
            <a:endParaRPr/>
          </a:p>
        </p:txBody>
      </p:sp>
      <p:cxnSp>
        <p:nvCxnSpPr>
          <p:cNvPr id="354" name="Google Shape;354;p57"/>
          <p:cNvCxnSpPr>
            <a:stCxn id="347" idx="3"/>
            <a:endCxn id="353" idx="1"/>
          </p:cNvCxnSpPr>
          <p:nvPr/>
        </p:nvCxnSpPr>
        <p:spPr>
          <a:xfrm>
            <a:off x="2460500" y="2300236"/>
            <a:ext cx="555300" cy="528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55" name="Google Shape;355;p57"/>
          <p:cNvCxnSpPr>
            <a:stCxn id="348" idx="3"/>
            <a:endCxn id="353" idx="1"/>
          </p:cNvCxnSpPr>
          <p:nvPr/>
        </p:nvCxnSpPr>
        <p:spPr>
          <a:xfrm flipH="1" rot="10800000">
            <a:off x="2470649" y="2828806"/>
            <a:ext cx="545100" cy="258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56" name="Google Shape;356;p57"/>
          <p:cNvCxnSpPr>
            <a:stCxn id="349" idx="3"/>
            <a:endCxn id="353" idx="1"/>
          </p:cNvCxnSpPr>
          <p:nvPr/>
        </p:nvCxnSpPr>
        <p:spPr>
          <a:xfrm flipH="1" rot="10800000">
            <a:off x="2480797" y="2828920"/>
            <a:ext cx="534900" cy="565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57" name="Google Shape;357;p57"/>
          <p:cNvCxnSpPr>
            <a:stCxn id="353" idx="3"/>
            <a:endCxn id="350" idx="1"/>
          </p:cNvCxnSpPr>
          <p:nvPr/>
        </p:nvCxnSpPr>
        <p:spPr>
          <a:xfrm flipH="1" rot="10800000">
            <a:off x="4413754" y="2274487"/>
            <a:ext cx="565200" cy="5544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58" name="Google Shape;358;p57"/>
          <p:cNvCxnSpPr>
            <a:stCxn id="353" idx="3"/>
            <a:endCxn id="351" idx="1"/>
          </p:cNvCxnSpPr>
          <p:nvPr/>
        </p:nvCxnSpPr>
        <p:spPr>
          <a:xfrm>
            <a:off x="4413754" y="2828887"/>
            <a:ext cx="5496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59" name="Google Shape;359;p57"/>
          <p:cNvCxnSpPr>
            <a:stCxn id="353" idx="3"/>
            <a:endCxn id="352" idx="1"/>
          </p:cNvCxnSpPr>
          <p:nvPr/>
        </p:nvCxnSpPr>
        <p:spPr>
          <a:xfrm>
            <a:off x="4413754" y="2828887"/>
            <a:ext cx="565200" cy="5601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58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70"/>
              <a:buFont typeface="Arial"/>
              <a:buNone/>
            </a:pPr>
            <a:r>
              <a:rPr lang="en" sz="2670"/>
              <a:t>Neural Network Architecture (example with 3 classes)</a:t>
            </a:r>
            <a:endParaRPr/>
          </a:p>
        </p:txBody>
      </p:sp>
      <p:sp>
        <p:nvSpPr>
          <p:cNvPr id="365" name="Google Shape;365;p58"/>
          <p:cNvSpPr txBox="1"/>
          <p:nvPr/>
        </p:nvSpPr>
        <p:spPr>
          <a:xfrm>
            <a:off x="5811962" y="1072537"/>
            <a:ext cx="2610600" cy="37104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  <p:pic>
        <p:nvPicPr>
          <p:cNvPr id="366" name="Google Shape;366;p5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054520" y="2132770"/>
            <a:ext cx="405980" cy="334932"/>
          </a:xfrm>
          <a:prstGeom prst="rect">
            <a:avLst/>
          </a:prstGeom>
          <a:noFill/>
          <a:ln>
            <a:noFill/>
          </a:ln>
        </p:spPr>
      </p:pic>
      <p:pic>
        <p:nvPicPr>
          <p:cNvPr id="367" name="Google Shape;367;p5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054520" y="2687139"/>
            <a:ext cx="416129" cy="334933"/>
          </a:xfrm>
          <a:prstGeom prst="rect">
            <a:avLst/>
          </a:prstGeom>
          <a:noFill/>
          <a:ln>
            <a:noFill/>
          </a:ln>
        </p:spPr>
      </p:pic>
      <p:pic>
        <p:nvPicPr>
          <p:cNvPr id="368" name="Google Shape;368;p5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2054520" y="3226954"/>
            <a:ext cx="426277" cy="334932"/>
          </a:xfrm>
          <a:prstGeom prst="rect">
            <a:avLst/>
          </a:prstGeom>
          <a:noFill/>
          <a:ln>
            <a:noFill/>
          </a:ln>
        </p:spPr>
      </p:pic>
      <p:pic>
        <p:nvPicPr>
          <p:cNvPr id="369" name="Google Shape;369;p5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978911" y="2107050"/>
            <a:ext cx="424249" cy="334934"/>
          </a:xfrm>
          <a:prstGeom prst="rect">
            <a:avLst/>
          </a:prstGeom>
          <a:noFill/>
          <a:ln>
            <a:noFill/>
          </a:ln>
        </p:spPr>
      </p:pic>
      <p:pic>
        <p:nvPicPr>
          <p:cNvPr id="370" name="Google Shape;370;p5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963466" y="2661420"/>
            <a:ext cx="446578" cy="334932"/>
          </a:xfrm>
          <a:prstGeom prst="rect">
            <a:avLst/>
          </a:prstGeom>
          <a:noFill/>
          <a:ln>
            <a:noFill/>
          </a:ln>
        </p:spPr>
      </p:pic>
      <p:pic>
        <p:nvPicPr>
          <p:cNvPr id="371" name="Google Shape;371;p58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4978911" y="3215790"/>
            <a:ext cx="446577" cy="346096"/>
          </a:xfrm>
          <a:prstGeom prst="rect">
            <a:avLst/>
          </a:prstGeom>
          <a:noFill/>
          <a:ln>
            <a:noFill/>
          </a:ln>
        </p:spPr>
      </p:pic>
      <p:sp>
        <p:nvSpPr>
          <p:cNvPr id="372" name="Google Shape;372;p58"/>
          <p:cNvSpPr/>
          <p:nvPr/>
        </p:nvSpPr>
        <p:spPr>
          <a:xfrm>
            <a:off x="3015754" y="2202637"/>
            <a:ext cx="1398000" cy="12525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Function</a:t>
            </a:r>
            <a:endParaRPr/>
          </a:p>
        </p:txBody>
      </p:sp>
      <p:cxnSp>
        <p:nvCxnSpPr>
          <p:cNvPr id="373" name="Google Shape;373;p58"/>
          <p:cNvCxnSpPr>
            <a:stCxn id="366" idx="3"/>
            <a:endCxn id="372" idx="1"/>
          </p:cNvCxnSpPr>
          <p:nvPr/>
        </p:nvCxnSpPr>
        <p:spPr>
          <a:xfrm>
            <a:off x="2460500" y="2300236"/>
            <a:ext cx="555300" cy="528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74" name="Google Shape;374;p58"/>
          <p:cNvCxnSpPr>
            <a:stCxn id="367" idx="3"/>
            <a:endCxn id="372" idx="1"/>
          </p:cNvCxnSpPr>
          <p:nvPr/>
        </p:nvCxnSpPr>
        <p:spPr>
          <a:xfrm flipH="1" rot="10800000">
            <a:off x="2470649" y="2828806"/>
            <a:ext cx="545100" cy="258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75" name="Google Shape;375;p58"/>
          <p:cNvCxnSpPr>
            <a:stCxn id="368" idx="3"/>
            <a:endCxn id="372" idx="1"/>
          </p:cNvCxnSpPr>
          <p:nvPr/>
        </p:nvCxnSpPr>
        <p:spPr>
          <a:xfrm flipH="1" rot="10800000">
            <a:off x="2480797" y="2828920"/>
            <a:ext cx="534900" cy="565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76" name="Google Shape;376;p58"/>
          <p:cNvCxnSpPr>
            <a:stCxn id="372" idx="3"/>
            <a:endCxn id="369" idx="1"/>
          </p:cNvCxnSpPr>
          <p:nvPr/>
        </p:nvCxnSpPr>
        <p:spPr>
          <a:xfrm flipH="1" rot="10800000">
            <a:off x="4413754" y="2274487"/>
            <a:ext cx="565200" cy="5544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77" name="Google Shape;377;p58"/>
          <p:cNvCxnSpPr>
            <a:stCxn id="372" idx="3"/>
            <a:endCxn id="370" idx="1"/>
          </p:cNvCxnSpPr>
          <p:nvPr/>
        </p:nvCxnSpPr>
        <p:spPr>
          <a:xfrm>
            <a:off x="4413754" y="2828887"/>
            <a:ext cx="5496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78" name="Google Shape;378;p58"/>
          <p:cNvCxnSpPr>
            <a:stCxn id="372" idx="3"/>
            <a:endCxn id="371" idx="1"/>
          </p:cNvCxnSpPr>
          <p:nvPr/>
        </p:nvCxnSpPr>
        <p:spPr>
          <a:xfrm>
            <a:off x="4413754" y="2828887"/>
            <a:ext cx="565200" cy="5601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59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70"/>
              <a:buFont typeface="Arial"/>
              <a:buNone/>
            </a:pPr>
            <a:r>
              <a:rPr lang="en" sz="2670"/>
              <a:t>Neural Network Architecture (example with 3 classes)</a:t>
            </a:r>
            <a:endParaRPr/>
          </a:p>
        </p:txBody>
      </p:sp>
      <p:sp>
        <p:nvSpPr>
          <p:cNvPr id="384" name="Google Shape;384;p59"/>
          <p:cNvSpPr txBox="1"/>
          <p:nvPr/>
        </p:nvSpPr>
        <p:spPr>
          <a:xfrm>
            <a:off x="5811962" y="1072537"/>
            <a:ext cx="2610600" cy="28623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  <p:pic>
        <p:nvPicPr>
          <p:cNvPr id="385" name="Google Shape;385;p5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054520" y="2132770"/>
            <a:ext cx="405980" cy="334932"/>
          </a:xfrm>
          <a:prstGeom prst="rect">
            <a:avLst/>
          </a:prstGeom>
          <a:noFill/>
          <a:ln>
            <a:noFill/>
          </a:ln>
        </p:spPr>
      </p:pic>
      <p:pic>
        <p:nvPicPr>
          <p:cNvPr id="386" name="Google Shape;386;p5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054520" y="2687139"/>
            <a:ext cx="416129" cy="33493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7" name="Google Shape;387;p5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2054520" y="3226954"/>
            <a:ext cx="426277" cy="334932"/>
          </a:xfrm>
          <a:prstGeom prst="rect">
            <a:avLst/>
          </a:prstGeom>
          <a:noFill/>
          <a:ln>
            <a:noFill/>
          </a:ln>
        </p:spPr>
      </p:pic>
      <p:pic>
        <p:nvPicPr>
          <p:cNvPr id="388" name="Google Shape;388;p5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978911" y="2107050"/>
            <a:ext cx="424249" cy="334934"/>
          </a:xfrm>
          <a:prstGeom prst="rect">
            <a:avLst/>
          </a:prstGeom>
          <a:noFill/>
          <a:ln>
            <a:noFill/>
          </a:ln>
        </p:spPr>
      </p:pic>
      <p:pic>
        <p:nvPicPr>
          <p:cNvPr id="389" name="Google Shape;389;p59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963466" y="2661420"/>
            <a:ext cx="446578" cy="334932"/>
          </a:xfrm>
          <a:prstGeom prst="rect">
            <a:avLst/>
          </a:prstGeom>
          <a:noFill/>
          <a:ln>
            <a:noFill/>
          </a:ln>
        </p:spPr>
      </p:pic>
      <p:pic>
        <p:nvPicPr>
          <p:cNvPr id="390" name="Google Shape;390;p59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4978911" y="3215790"/>
            <a:ext cx="446577" cy="346096"/>
          </a:xfrm>
          <a:prstGeom prst="rect">
            <a:avLst/>
          </a:prstGeom>
          <a:noFill/>
          <a:ln>
            <a:noFill/>
          </a:ln>
        </p:spPr>
      </p:pic>
      <p:sp>
        <p:nvSpPr>
          <p:cNvPr id="391" name="Google Shape;391;p59"/>
          <p:cNvSpPr/>
          <p:nvPr/>
        </p:nvSpPr>
        <p:spPr>
          <a:xfrm>
            <a:off x="3015754" y="2202637"/>
            <a:ext cx="1398000" cy="12525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Function</a:t>
            </a:r>
            <a:endParaRPr/>
          </a:p>
        </p:txBody>
      </p:sp>
      <p:cxnSp>
        <p:nvCxnSpPr>
          <p:cNvPr id="392" name="Google Shape;392;p59"/>
          <p:cNvCxnSpPr>
            <a:stCxn id="385" idx="3"/>
            <a:endCxn id="391" idx="1"/>
          </p:cNvCxnSpPr>
          <p:nvPr/>
        </p:nvCxnSpPr>
        <p:spPr>
          <a:xfrm>
            <a:off x="2460500" y="2300236"/>
            <a:ext cx="555300" cy="528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93" name="Google Shape;393;p59"/>
          <p:cNvCxnSpPr>
            <a:stCxn id="386" idx="3"/>
            <a:endCxn id="391" idx="1"/>
          </p:cNvCxnSpPr>
          <p:nvPr/>
        </p:nvCxnSpPr>
        <p:spPr>
          <a:xfrm flipH="1" rot="10800000">
            <a:off x="2470649" y="2828806"/>
            <a:ext cx="545100" cy="258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94" name="Google Shape;394;p59"/>
          <p:cNvCxnSpPr>
            <a:stCxn id="387" idx="3"/>
            <a:endCxn id="391" idx="1"/>
          </p:cNvCxnSpPr>
          <p:nvPr/>
        </p:nvCxnSpPr>
        <p:spPr>
          <a:xfrm flipH="1" rot="10800000">
            <a:off x="2480797" y="2828920"/>
            <a:ext cx="534900" cy="565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95" name="Google Shape;395;p59"/>
          <p:cNvCxnSpPr>
            <a:stCxn id="391" idx="3"/>
            <a:endCxn id="388" idx="1"/>
          </p:cNvCxnSpPr>
          <p:nvPr/>
        </p:nvCxnSpPr>
        <p:spPr>
          <a:xfrm flipH="1" rot="10800000">
            <a:off x="4413754" y="2274487"/>
            <a:ext cx="565200" cy="5544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96" name="Google Shape;396;p59"/>
          <p:cNvCxnSpPr>
            <a:stCxn id="391" idx="3"/>
            <a:endCxn id="389" idx="1"/>
          </p:cNvCxnSpPr>
          <p:nvPr/>
        </p:nvCxnSpPr>
        <p:spPr>
          <a:xfrm>
            <a:off x="4413754" y="2828887"/>
            <a:ext cx="5496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97" name="Google Shape;397;p59"/>
          <p:cNvCxnSpPr>
            <a:stCxn id="391" idx="3"/>
            <a:endCxn id="390" idx="1"/>
          </p:cNvCxnSpPr>
          <p:nvPr/>
        </p:nvCxnSpPr>
        <p:spPr>
          <a:xfrm>
            <a:off x="4413754" y="2828887"/>
            <a:ext cx="565200" cy="5601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60"/>
          <p:cNvSpPr txBox="1"/>
          <p:nvPr>
            <p:ph type="title"/>
          </p:nvPr>
        </p:nvSpPr>
        <p:spPr>
          <a:xfrm>
            <a:off x="414626" y="310600"/>
            <a:ext cx="7688700" cy="5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Font typeface="Arial"/>
              <a:buNone/>
            </a:pPr>
            <a:r>
              <a:rPr lang="en"/>
              <a:t>Softmax output layer for classification</a:t>
            </a:r>
            <a:endParaRPr/>
          </a:p>
        </p:txBody>
      </p:sp>
      <p:pic>
        <p:nvPicPr>
          <p:cNvPr id="403" name="Google Shape;403;p6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64926" y="1101438"/>
            <a:ext cx="2295100" cy="1204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4" name="Google Shape;404;p6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3775" y="2266675"/>
            <a:ext cx="4559500" cy="1652675"/>
          </a:xfrm>
          <a:prstGeom prst="rect">
            <a:avLst/>
          </a:prstGeom>
          <a:noFill/>
          <a:ln>
            <a:noFill/>
          </a:ln>
        </p:spPr>
      </p:pic>
      <p:sp>
        <p:nvSpPr>
          <p:cNvPr id="405" name="Google Shape;405;p60"/>
          <p:cNvSpPr txBox="1"/>
          <p:nvPr/>
        </p:nvSpPr>
        <p:spPr>
          <a:xfrm>
            <a:off x="3127325" y="1214705"/>
            <a:ext cx="5627100" cy="8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</a:pPr>
            <a:r>
              <a:rPr lang="en" sz="24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Output of ith neuron of the output layer</a:t>
            </a:r>
            <a:endParaRPr sz="24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406" name="Google Shape;406;p60"/>
          <p:cNvSpPr txBox="1"/>
          <p:nvPr/>
        </p:nvSpPr>
        <p:spPr>
          <a:xfrm>
            <a:off x="4525543" y="2393953"/>
            <a:ext cx="3970200" cy="127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</a:pPr>
            <a:r>
              <a:rPr lang="en" sz="24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Note that they can be interpreted as probability since the sum is equal to 1</a:t>
            </a:r>
            <a:endParaRPr sz="24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pic>
        <p:nvPicPr>
          <p:cNvPr id="407" name="Google Shape;407;p6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213750" y="3797731"/>
            <a:ext cx="6324201" cy="1204600"/>
          </a:xfrm>
          <a:prstGeom prst="rect">
            <a:avLst/>
          </a:prstGeom>
          <a:noFill/>
          <a:ln>
            <a:noFill/>
          </a:ln>
        </p:spPr>
      </p:pic>
      <p:sp>
        <p:nvSpPr>
          <p:cNvPr id="408" name="Google Shape;408;p60"/>
          <p:cNvSpPr txBox="1"/>
          <p:nvPr/>
        </p:nvSpPr>
        <p:spPr>
          <a:xfrm rot="-5400000">
            <a:off x="6965825" y="2423859"/>
            <a:ext cx="3873000" cy="2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00" lIns="41500" spcFirstLastPara="1" rIns="41500" wrap="square" tIns="41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Source:Umberto Michelucci, Applied Deep Learning - A Case-Based Approach to Understanding Deep Neural Networks, APRESS 2018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None/>
            </a:pPr>
            <a:r>
              <a:t/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2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61"/>
          <p:cNvSpPr txBox="1"/>
          <p:nvPr>
            <p:ph type="title"/>
          </p:nvPr>
        </p:nvSpPr>
        <p:spPr>
          <a:xfrm>
            <a:off x="628650" y="2028669"/>
            <a:ext cx="7886700" cy="9942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Backpropagation Algorithm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7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p62"/>
          <p:cNvSpPr txBox="1"/>
          <p:nvPr>
            <p:ph type="title"/>
          </p:nvPr>
        </p:nvSpPr>
        <p:spPr>
          <a:xfrm>
            <a:off x="375223" y="266614"/>
            <a:ext cx="7567500" cy="295800"/>
          </a:xfrm>
          <a:prstGeom prst="rect">
            <a:avLst/>
          </a:prstGeom>
        </p:spPr>
        <p:txBody>
          <a:bodyPr anchorCtr="0" anchor="t" bIns="41500" lIns="41500" spcFirstLastPara="1" rIns="41500" wrap="square" tIns="415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Backpropagation </a:t>
            </a:r>
            <a:endParaRPr/>
          </a:p>
        </p:txBody>
      </p:sp>
      <p:sp>
        <p:nvSpPr>
          <p:cNvPr id="419" name="Google Shape;419;p62"/>
          <p:cNvSpPr txBox="1"/>
          <p:nvPr>
            <p:ph idx="1" type="body"/>
          </p:nvPr>
        </p:nvSpPr>
        <p:spPr>
          <a:xfrm>
            <a:off x="415899" y="1076064"/>
            <a:ext cx="4467000" cy="3087900"/>
          </a:xfrm>
          <a:prstGeom prst="rect">
            <a:avLst/>
          </a:prstGeom>
        </p:spPr>
        <p:txBody>
          <a:bodyPr anchorCtr="0" anchor="t" bIns="41500" lIns="41500" spcFirstLastPara="1" rIns="41500" wrap="square" tIns="41500">
            <a:noAutofit/>
          </a:bodyPr>
          <a:lstStyle/>
          <a:p>
            <a:pPr indent="-196850" lvl="0" marL="203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Used to compute local gradients efficiently using the chain rule</a:t>
            </a:r>
            <a:endParaRPr sz="1500"/>
          </a:p>
          <a:p>
            <a:pPr indent="-196850" lvl="1" marL="419100" rtl="0" algn="l">
              <a:spcBef>
                <a:spcPts val="5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Need to compute  </a:t>
            </a:r>
            <a:endParaRPr sz="1500"/>
          </a:p>
          <a:p>
            <a:pPr indent="0" lvl="0" marL="41910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lang="en" sz="1500"/>
              <a:t>for every w in the network </a:t>
            </a:r>
            <a:endParaRPr sz="1500"/>
          </a:p>
          <a:p>
            <a:pPr indent="0" lvl="0" marL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lang="en" sz="1500"/>
              <a:t>Steps: </a:t>
            </a:r>
            <a:endParaRPr sz="1500"/>
          </a:p>
          <a:p>
            <a:pPr indent="-196850" lvl="0" marL="203200" rtl="0" algn="l">
              <a:spcBef>
                <a:spcPts val="500"/>
              </a:spcBef>
              <a:spcAft>
                <a:spcPts val="0"/>
              </a:spcAft>
              <a:buSzPts val="1500"/>
              <a:buAutoNum type="arabicPeriod"/>
            </a:pPr>
            <a:r>
              <a:rPr lang="en" sz="1500"/>
              <a:t>Forward pass : calculate </a:t>
            </a:r>
            <a:r>
              <a:rPr b="1" lang="en" sz="1500"/>
              <a:t>y’</a:t>
            </a:r>
            <a:r>
              <a:rPr lang="en" sz="1500"/>
              <a:t> from </a:t>
            </a:r>
            <a:r>
              <a:rPr b="1" lang="en" sz="1500"/>
              <a:t>x1 … xn</a:t>
            </a:r>
            <a:endParaRPr b="1" sz="1500"/>
          </a:p>
          <a:p>
            <a:pPr indent="0" lvl="0" marL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lang="en" sz="1500"/>
              <a:t>2. Backward step to compute derivatives :</a:t>
            </a:r>
            <a:endParaRPr sz="1500"/>
          </a:p>
          <a:p>
            <a:pPr indent="-196850" lvl="0" marL="622300" rtl="0" algn="l">
              <a:spcBef>
                <a:spcPts val="5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Use chain rule </a:t>
            </a:r>
            <a:endParaRPr sz="1500"/>
          </a:p>
          <a:p>
            <a:pPr indent="0" lvl="0" marL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lang="en" sz="1500"/>
              <a:t>3. Weight update using :</a:t>
            </a:r>
            <a:endParaRPr sz="1500"/>
          </a:p>
          <a:p>
            <a:pPr indent="0" lvl="0" marL="622300" rtl="0" algn="l"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622300" rtl="0" algn="l"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6223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</p:txBody>
      </p:sp>
      <p:sp>
        <p:nvSpPr>
          <p:cNvPr id="420" name="Google Shape;420;p62"/>
          <p:cNvSpPr txBox="1"/>
          <p:nvPr>
            <p:ph idx="12" type="sldNum"/>
          </p:nvPr>
        </p:nvSpPr>
        <p:spPr>
          <a:xfrm>
            <a:off x="8686431" y="4849909"/>
            <a:ext cx="350100" cy="132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50800" lvl="0" marL="0" rtl="0" algn="l"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1" name="Google Shape;421;p62"/>
          <p:cNvSpPr txBox="1"/>
          <p:nvPr/>
        </p:nvSpPr>
        <p:spPr>
          <a:xfrm>
            <a:off x="228622" y="4595383"/>
            <a:ext cx="57852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00" lIns="41500" spcFirstLastPara="1" rIns="41500" wrap="square" tIns="415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https://blog.paperspace.com/intro-to-optimization-in-deep-learning-gradient-descent/</a:t>
            </a:r>
            <a:endParaRPr sz="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22" name="Google Shape;422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82992" y="990377"/>
            <a:ext cx="3659577" cy="3259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23" name="Google Shape;423;p6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35812" y="1588748"/>
            <a:ext cx="227191" cy="388423"/>
          </a:xfrm>
          <a:prstGeom prst="rect">
            <a:avLst/>
          </a:prstGeom>
          <a:noFill/>
          <a:ln>
            <a:noFill/>
          </a:ln>
        </p:spPr>
      </p:pic>
      <p:pic>
        <p:nvPicPr>
          <p:cNvPr id="424" name="Google Shape;424;p6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667194" y="3362319"/>
            <a:ext cx="982565" cy="36279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63"/>
          <p:cNvSpPr txBox="1"/>
          <p:nvPr>
            <p:ph type="title"/>
          </p:nvPr>
        </p:nvSpPr>
        <p:spPr>
          <a:xfrm>
            <a:off x="375223" y="266614"/>
            <a:ext cx="7567500" cy="295800"/>
          </a:xfrm>
          <a:prstGeom prst="rect">
            <a:avLst/>
          </a:prstGeom>
        </p:spPr>
        <p:txBody>
          <a:bodyPr anchorCtr="0" anchor="t" bIns="41500" lIns="41500" spcFirstLastPara="1" rIns="41500" wrap="square" tIns="415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Backpropagation - NN as a Computational Graph </a:t>
            </a:r>
            <a:endParaRPr/>
          </a:p>
        </p:txBody>
      </p:sp>
      <p:sp>
        <p:nvSpPr>
          <p:cNvPr id="430" name="Google Shape;430;p63"/>
          <p:cNvSpPr txBox="1"/>
          <p:nvPr>
            <p:ph idx="1" type="body"/>
          </p:nvPr>
        </p:nvSpPr>
        <p:spPr>
          <a:xfrm>
            <a:off x="415899" y="1076064"/>
            <a:ext cx="3904800" cy="3087900"/>
          </a:xfrm>
          <a:prstGeom prst="rect">
            <a:avLst/>
          </a:prstGeom>
        </p:spPr>
        <p:txBody>
          <a:bodyPr anchorCtr="0" anchor="t" bIns="41500" lIns="41500" spcFirstLastPara="1" rIns="41500" wrap="square" tIns="41500">
            <a:noAutofit/>
          </a:bodyPr>
          <a:lstStyle/>
          <a:p>
            <a:pPr indent="-196850" lvl="0" marL="203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Neural network can be viewed as a computational graph. </a:t>
            </a:r>
            <a:endParaRPr sz="1500"/>
          </a:p>
          <a:p>
            <a:pPr indent="-196850" lvl="1" marL="419100" rtl="0" algn="l">
              <a:spcBef>
                <a:spcPts val="5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Nodes are the operations. </a:t>
            </a:r>
            <a:endParaRPr sz="1500"/>
          </a:p>
          <a:p>
            <a:pPr indent="-196850" lvl="1" marL="419100" rtl="0" algn="l">
              <a:spcBef>
                <a:spcPts val="5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Edges are the flow of data. </a:t>
            </a:r>
            <a:endParaRPr sz="1500"/>
          </a:p>
          <a:p>
            <a:pPr indent="-196850" lvl="0" marL="203200" rtl="0" algn="l">
              <a:spcBef>
                <a:spcPts val="5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Backpropagation propagates gradients through graph. </a:t>
            </a:r>
            <a:endParaRPr sz="1500"/>
          </a:p>
          <a:p>
            <a:pPr indent="0" lvl="0" marL="419100" rtl="0" algn="l"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8255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</p:txBody>
      </p:sp>
      <p:sp>
        <p:nvSpPr>
          <p:cNvPr id="431" name="Google Shape;431;p63"/>
          <p:cNvSpPr txBox="1"/>
          <p:nvPr>
            <p:ph idx="12" type="sldNum"/>
          </p:nvPr>
        </p:nvSpPr>
        <p:spPr>
          <a:xfrm>
            <a:off x="8686431" y="4849909"/>
            <a:ext cx="350100" cy="132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50800" lvl="0" marL="0" rtl="0" algn="l"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2" name="Google Shape;432;p63"/>
          <p:cNvSpPr txBox="1"/>
          <p:nvPr/>
        </p:nvSpPr>
        <p:spPr>
          <a:xfrm>
            <a:off x="228622" y="4595383"/>
            <a:ext cx="57852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00" lIns="41500" spcFirstLastPara="1" rIns="41500" wrap="square" tIns="415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>
                <a:solidFill>
                  <a:schemeClr val="dk1"/>
                </a:solidFill>
              </a:rPr>
              <a:t>Image credit : https://towardsdatascience.com/back-propagation-simplified-218430e21ad0</a:t>
            </a:r>
            <a:endParaRPr sz="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33" name="Google Shape;433;p6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91328" y="1407364"/>
            <a:ext cx="4036846" cy="22200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7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64"/>
          <p:cNvSpPr txBox="1"/>
          <p:nvPr>
            <p:ph type="title"/>
          </p:nvPr>
        </p:nvSpPr>
        <p:spPr>
          <a:xfrm>
            <a:off x="628650" y="2028669"/>
            <a:ext cx="7886700" cy="9942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Deep Learning with NNs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2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p65"/>
          <p:cNvSpPr txBox="1"/>
          <p:nvPr>
            <p:ph type="title"/>
          </p:nvPr>
        </p:nvSpPr>
        <p:spPr>
          <a:xfrm>
            <a:off x="375223" y="266614"/>
            <a:ext cx="7567500" cy="295800"/>
          </a:xfrm>
          <a:prstGeom prst="rect">
            <a:avLst/>
          </a:prstGeom>
        </p:spPr>
        <p:txBody>
          <a:bodyPr anchorCtr="0" anchor="t" bIns="41500" lIns="41500" spcFirstLastPara="1" rIns="41500" wrap="square" tIns="415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makes it "Deep"?</a:t>
            </a:r>
            <a:endParaRPr/>
          </a:p>
        </p:txBody>
      </p:sp>
      <p:sp>
        <p:nvSpPr>
          <p:cNvPr id="444" name="Google Shape;444;p65"/>
          <p:cNvSpPr txBox="1"/>
          <p:nvPr>
            <p:ph idx="1" type="body"/>
          </p:nvPr>
        </p:nvSpPr>
        <p:spPr>
          <a:xfrm>
            <a:off x="415900" y="1076075"/>
            <a:ext cx="4727700" cy="3087900"/>
          </a:xfrm>
          <a:prstGeom prst="rect">
            <a:avLst/>
          </a:prstGeom>
        </p:spPr>
        <p:txBody>
          <a:bodyPr anchorCtr="0" anchor="t" bIns="41500" lIns="41500" spcFirstLastPara="1" rIns="41500" wrap="square" tIns="415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Deep Learning is simply a specific class of Machine Learning based on Artificial Neural Networks with </a:t>
            </a:r>
            <a:r>
              <a:rPr b="1"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representation learning</a:t>
            </a: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20320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Difference:</a:t>
            </a: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The "Deep" refers strictly to the </a:t>
            </a:r>
            <a:r>
              <a:rPr b="1"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number of hidden layers</a:t>
            </a: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in the network.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</a:pPr>
            <a:r>
              <a:rPr i="1"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Shallow Network:</a:t>
            </a: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1 or 2 hidden layers.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</a:pPr>
            <a:r>
              <a:rPr i="1"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Deep Network:</a:t>
            </a: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Dozens, hundreds, or even thousands of layers (e.g., ResNet, GPT).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Capacity:</a:t>
            </a: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Adding depth allows the network to model complex, non-linear relationships that simpler models cannot capture.</a:t>
            </a:r>
            <a:endParaRPr sz="1800"/>
          </a:p>
          <a:p>
            <a:pPr indent="0" lvl="0" marL="4191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8255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</p:txBody>
      </p:sp>
      <p:sp>
        <p:nvSpPr>
          <p:cNvPr id="445" name="Google Shape;445;p65"/>
          <p:cNvSpPr txBox="1"/>
          <p:nvPr>
            <p:ph idx="12" type="sldNum"/>
          </p:nvPr>
        </p:nvSpPr>
        <p:spPr>
          <a:xfrm>
            <a:off x="8686431" y="4849909"/>
            <a:ext cx="350100" cy="132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50800" lvl="0" marL="0" rtl="0" algn="l"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6" name="Google Shape;446;p6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43600" y="1668364"/>
            <a:ext cx="3802199" cy="20756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0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p66"/>
          <p:cNvSpPr txBox="1"/>
          <p:nvPr>
            <p:ph type="title"/>
          </p:nvPr>
        </p:nvSpPr>
        <p:spPr>
          <a:xfrm>
            <a:off x="375223" y="266614"/>
            <a:ext cx="7567500" cy="295800"/>
          </a:xfrm>
          <a:prstGeom prst="rect">
            <a:avLst/>
          </a:prstGeom>
        </p:spPr>
        <p:txBody>
          <a:bodyPr anchorCtr="0" anchor="t" bIns="41500" lIns="41500" spcFirstLastPara="1" rIns="41500" wrap="square" tIns="415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Automatic Hierarchical Feature Extraction</a:t>
            </a:r>
            <a:endParaRPr/>
          </a:p>
        </p:txBody>
      </p:sp>
      <p:sp>
        <p:nvSpPr>
          <p:cNvPr id="452" name="Google Shape;452;p66"/>
          <p:cNvSpPr txBox="1"/>
          <p:nvPr>
            <p:ph idx="1" type="body"/>
          </p:nvPr>
        </p:nvSpPr>
        <p:spPr>
          <a:xfrm>
            <a:off x="362550" y="840750"/>
            <a:ext cx="4727100" cy="4142100"/>
          </a:xfrm>
          <a:prstGeom prst="rect">
            <a:avLst/>
          </a:prstGeom>
        </p:spPr>
        <p:txBody>
          <a:bodyPr anchorCtr="0" anchor="t" bIns="41500" lIns="41500" spcFirstLastPara="1" rIns="41500" wrap="square" tIns="415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Old Way:</a:t>
            </a: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Traditional ML required humans to manually define features (e.g., "look for circular shapes" to find a car).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Deep Learning Way:</a:t>
            </a: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The network learns features automatically, building them up hierarchically: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</a:pPr>
            <a:r>
              <a:rPr b="1"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Early Layers:</a:t>
            </a: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Detect simple patterns (Edges, lines, color gradients).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</a:pPr>
            <a:r>
              <a:rPr b="1"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Middle Layers:</a:t>
            </a: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Combine simple patterns into complex shapes (Eyes, ears, tires, windows).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</a:pPr>
            <a:r>
              <a:rPr b="1"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Deep Layers:</a:t>
            </a: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Combine shapes into whole objects (Faces, cars, dogs).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End-to-End Learning:</a:t>
            </a: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Raw data goes in -&gt; Class/Prediction comes out. No manual feature engineering required.</a:t>
            </a:r>
            <a:endParaRPr b="1"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191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8255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</p:txBody>
      </p:sp>
      <p:sp>
        <p:nvSpPr>
          <p:cNvPr id="453" name="Google Shape;453;p66"/>
          <p:cNvSpPr txBox="1"/>
          <p:nvPr>
            <p:ph idx="12" type="sldNum"/>
          </p:nvPr>
        </p:nvSpPr>
        <p:spPr>
          <a:xfrm>
            <a:off x="8686431" y="4849909"/>
            <a:ext cx="350100" cy="132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50800" lvl="0" marL="0" rtl="0" algn="l"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54" name="Google Shape;454;p6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56475" y="1504950"/>
            <a:ext cx="3590226" cy="1959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8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p67"/>
          <p:cNvSpPr txBox="1"/>
          <p:nvPr>
            <p:ph type="title"/>
          </p:nvPr>
        </p:nvSpPr>
        <p:spPr>
          <a:xfrm>
            <a:off x="375223" y="266614"/>
            <a:ext cx="7567500" cy="295800"/>
          </a:xfrm>
          <a:prstGeom prst="rect">
            <a:avLst/>
          </a:prstGeom>
        </p:spPr>
        <p:txBody>
          <a:bodyPr anchorCtr="0" anchor="t" bIns="41500" lIns="41500" spcFirstLastPara="1" rIns="41500" wrap="square" tIns="415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Deep Learning is Dominant Now</a:t>
            </a:r>
            <a:endParaRPr/>
          </a:p>
        </p:txBody>
      </p:sp>
      <p:sp>
        <p:nvSpPr>
          <p:cNvPr id="460" name="Google Shape;460;p67"/>
          <p:cNvSpPr txBox="1"/>
          <p:nvPr>
            <p:ph idx="1" type="body"/>
          </p:nvPr>
        </p:nvSpPr>
        <p:spPr>
          <a:xfrm>
            <a:off x="415900" y="1076075"/>
            <a:ext cx="4532700" cy="3980100"/>
          </a:xfrm>
          <a:prstGeom prst="rect">
            <a:avLst/>
          </a:prstGeom>
        </p:spPr>
        <p:txBody>
          <a:bodyPr anchorCtr="0" anchor="t" bIns="41500" lIns="41500" spcFirstLastPara="1" rIns="41500" wrap="square" tIns="415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Performance vs. Data Scale:</a:t>
            </a:r>
            <a:endParaRPr b="1"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Traditional algorithms (SVM, Logistic Regression) tend to plateau; adding more data stops improving accuracy after a certain point.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Deep Learning performance continues to improve as you feed it more data.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"Unstructured" King:</a:t>
            </a: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Deep Learning is unrivaled for unstructured data: </a:t>
            </a:r>
            <a:r>
              <a:rPr b="1"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Images, Video, Audio, and Text</a:t>
            </a: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Trade-offs:</a:t>
            </a:r>
            <a:endParaRPr b="1"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</a:pPr>
            <a:r>
              <a:rPr b="1"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Pros:</a:t>
            </a: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State-of-the-art accuracy, automation of feature extraction.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</a:pPr>
            <a:r>
              <a:rPr b="1"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Cons:</a:t>
            </a: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Requires massive data, expensive hardware (GPUs), and acts as a "Black Box" (harder to interpret).</a:t>
            </a:r>
            <a:endParaRPr b="1"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191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8255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</p:txBody>
      </p:sp>
      <p:sp>
        <p:nvSpPr>
          <p:cNvPr id="461" name="Google Shape;461;p67"/>
          <p:cNvSpPr txBox="1"/>
          <p:nvPr>
            <p:ph idx="12" type="sldNum"/>
          </p:nvPr>
        </p:nvSpPr>
        <p:spPr>
          <a:xfrm>
            <a:off x="8686431" y="4849909"/>
            <a:ext cx="350100" cy="132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50800" lvl="0" marL="0" rtl="0" algn="l"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2" name="Google Shape;462;p6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04700" y="1662839"/>
            <a:ext cx="4139300" cy="22596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