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5775a6e8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45775a6e83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ad54190b_1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bad54190b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bad54190b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bad54190b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5775a6e8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45775a6e83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S_API62000154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SLIDES_API62000154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SLIDES_API192958795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SLIDES_API192958795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3113" y="405999"/>
            <a:ext cx="1389184" cy="2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00" y="292625"/>
            <a:ext cx="8023500" cy="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2100">
                <a:solidFill>
                  <a:srgbClr val="3366C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311700" y="928100"/>
            <a:ext cx="8520600" cy="37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3113" y="405999"/>
            <a:ext cx="1389184" cy="2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292625"/>
            <a:ext cx="79752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311700" y="923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" name="Google Shape;143;p29"/>
          <p:cNvSpPr txBox="1"/>
          <p:nvPr>
            <p:ph idx="2" type="body"/>
          </p:nvPr>
        </p:nvSpPr>
        <p:spPr>
          <a:xfrm>
            <a:off x="4832400" y="923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pic>
        <p:nvPicPr>
          <p:cNvPr id="145" name="Google Shape;14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3113" y="405999"/>
            <a:ext cx="1389184" cy="2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490250" y="450150"/>
            <a:ext cx="7896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pic>
        <p:nvPicPr>
          <p:cNvPr id="149" name="Google Shape;14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3113" y="405999"/>
            <a:ext cx="1389184" cy="2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1"/>
          <p:cNvSpPr txBox="1"/>
          <p:nvPr>
            <p:ph type="title"/>
          </p:nvPr>
        </p:nvSpPr>
        <p:spPr>
          <a:xfrm>
            <a:off x="265500" y="6235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31"/>
          <p:cNvSpPr txBox="1"/>
          <p:nvPr>
            <p:ph idx="1" type="subTitle"/>
          </p:nvPr>
        </p:nvSpPr>
        <p:spPr>
          <a:xfrm>
            <a:off x="265500" y="23839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4" name="Google Shape;154;p31"/>
          <p:cNvSpPr txBox="1"/>
          <p:nvPr>
            <p:ph idx="2" type="body"/>
          </p:nvPr>
        </p:nvSpPr>
        <p:spPr>
          <a:xfrm>
            <a:off x="4939500" y="8002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311700" y="2903438"/>
            <a:ext cx="8520600" cy="15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block">
  <p:cSld name="CUSTOM">
    <p:bg>
      <p:bgPr>
        <a:solidFill>
          <a:srgbClr val="262626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502200" y="961975"/>
            <a:ext cx="823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type="title"/>
          </p:nvPr>
        </p:nvSpPr>
        <p:spPr>
          <a:xfrm>
            <a:off x="311700" y="292625"/>
            <a:ext cx="801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lt1"/>
                </a:solidFill>
              </a:defRPr>
            </a:lvl1pPr>
            <a:lvl2pPr lvl="1">
              <a:buNone/>
              <a:defRPr sz="1000">
                <a:solidFill>
                  <a:schemeClr val="lt1"/>
                </a:solidFill>
              </a:defRPr>
            </a:lvl2pPr>
            <a:lvl3pPr lvl="2">
              <a:buNone/>
              <a:defRPr sz="1000">
                <a:solidFill>
                  <a:schemeClr val="lt1"/>
                </a:solidFill>
              </a:defRPr>
            </a:lvl3pPr>
            <a:lvl4pPr lvl="3">
              <a:buNone/>
              <a:defRPr sz="1000">
                <a:solidFill>
                  <a:schemeClr val="lt1"/>
                </a:solidFill>
              </a:defRPr>
            </a:lvl4pPr>
            <a:lvl5pPr lvl="4">
              <a:buNone/>
              <a:defRPr sz="1000">
                <a:solidFill>
                  <a:schemeClr val="lt1"/>
                </a:solidFill>
              </a:defRPr>
            </a:lvl5pPr>
            <a:lvl6pPr lvl="5">
              <a:buNone/>
              <a:defRPr sz="1000">
                <a:solidFill>
                  <a:schemeClr val="lt1"/>
                </a:solidFill>
              </a:defRPr>
            </a:lvl6pPr>
            <a:lvl7pPr lvl="6">
              <a:buNone/>
              <a:defRPr sz="1000">
                <a:solidFill>
                  <a:schemeClr val="lt1"/>
                </a:solidFill>
              </a:defRPr>
            </a:lvl7pPr>
            <a:lvl8pPr lvl="7">
              <a:buNone/>
              <a:defRPr sz="1000">
                <a:solidFill>
                  <a:schemeClr val="lt1"/>
                </a:solidFill>
              </a:defRPr>
            </a:lvl8pPr>
            <a:lvl9pPr lvl="8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CUSTOM_1">
    <p:bg>
      <p:bgPr>
        <a:noFill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1388625" y="292625"/>
            <a:ext cx="67404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6" name="Google Shape;16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427" y="-19162"/>
            <a:ext cx="1035913" cy="5170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4"/>
          <p:cNvSpPr txBox="1"/>
          <p:nvPr>
            <p:ph idx="2" type="title"/>
          </p:nvPr>
        </p:nvSpPr>
        <p:spPr>
          <a:xfrm rot="-5400000">
            <a:off x="-1460569" y="2255088"/>
            <a:ext cx="394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1414463" y="932538"/>
            <a:ext cx="3268200" cy="35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9" name="Google Shape;169;p34"/>
          <p:cNvSpPr txBox="1"/>
          <p:nvPr>
            <p:ph idx="3" type="body"/>
          </p:nvPr>
        </p:nvSpPr>
        <p:spPr>
          <a:xfrm>
            <a:off x="5127200" y="932538"/>
            <a:ext cx="3268200" cy="35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70" name="Google Shape;170;p34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pic>
        <p:nvPicPr>
          <p:cNvPr id="171" name="Google Shape;1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113" y="405999"/>
            <a:ext cx="1389184" cy="2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56" name="Google Shape;56;p13"/>
          <p:cNvPicPr preferRelativeResize="0"/>
          <p:nvPr/>
        </p:nvPicPr>
        <p:blipFill rotWithShape="1">
          <a:blip r:embed="rId1">
            <a:alphaModFix/>
          </a:blip>
          <a:srcRect b="32795" l="0" r="0" t="32698"/>
          <a:stretch/>
        </p:blipFill>
        <p:spPr>
          <a:xfrm>
            <a:off x="7317873" y="158025"/>
            <a:ext cx="1689653" cy="4350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292625"/>
            <a:ext cx="85206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923875"/>
            <a:ext cx="8520600" cy="3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●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○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■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●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○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■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●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Open Sans"/>
              <a:buChar char="○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03030"/>
              </a:buClr>
              <a:buSzPts val="1400"/>
              <a:buFont typeface="Open Sans"/>
              <a:buChar char="■"/>
              <a:defRPr sz="1400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100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sli.do/features-google-slides?payload=eyJwb2xsVXVpZCI6ImM0YTFhNjUxLWM1YjgtNDc4Yi1iZmYwLWJmMDk0NTRiNjNhNiIsInByZXNlbnRhdGlvbklkIjoiMXJhbU5GRm5Samx4MWJuX0dOM1ZEMElZTVdXdC00cy1yNUhjZzN3YVo2T3ciLCJzbGlkZUlkIjoiU0xJREVTX0FQSTYyMDAwMTU0Nl8wIiwidGltZWxpbmUiOlt7InBvbGxRdWVzdGlvblV1aWQiOiI1MTRlYjZhNy1kZDNmLTRiZGEtOGQyZi01MTkwMjA1NGVhODkiLCJzaG93UmVzdWx0cyI6dHJ1ZX1dLCJ0eXBlIjoiU2xpZG9Qb2xsIn0%3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sli.do/features-google-slides?payload=eyJwb2xsVXVpZCI6ImJkNTAwOTg0LTIyOGItNDFlYS1iOTJjLTRkNzU0NmE3NmZmYyIsInByZXNlbnRhdGlvbklkIjoiMXJhbU5GRm5Samx4MWJuX0dOM1ZEMElZTVdXdC00cy1yNUhjZzN3YVo2T3ciLCJzbGlkZUlkIjoiU0xJREVTX0FQSTE5Mjk1ODc5NTdfMCIsInRpbWVsaW5lIjpbeyJwb2xsUXVlc3Rpb25VdWlkIjoiYTE5NGRiOTAtMDZjOC00MDdiLTg3M2EtMzIwMGI4Y2RlNDA5Iiwic2hvd1Jlc3VsdHMiOnRydWV9XSwidHlwZSI6IlNsaWRvUG9sbCJ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662275" y="18465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3846"/>
              <a:buFont typeface="Arial"/>
              <a:buNone/>
            </a:pPr>
            <a:r>
              <a:rPr lang="en" sz="3900">
                <a:latin typeface="Arial"/>
                <a:ea typeface="Arial"/>
                <a:cs typeface="Arial"/>
                <a:sym typeface="Arial"/>
              </a:rPr>
              <a:t>Computer Vision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153846"/>
              <a:buFont typeface="Arial"/>
              <a:buNone/>
            </a:pPr>
            <a:r>
              <a:rPr lang="en" sz="3900">
                <a:latin typeface="Arial"/>
                <a:ea typeface="Arial"/>
                <a:cs typeface="Arial"/>
                <a:sym typeface="Arial"/>
              </a:rPr>
              <a:t>Blockweek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Blockweek schedule</a:t>
            </a:r>
            <a:endParaRPr/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628650" y="1369225"/>
            <a:ext cx="4763700" cy="3653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Monday - Tuesday: </a:t>
            </a:r>
            <a:r>
              <a:rPr lang="en" sz="1400"/>
              <a:t>Dimitris Mousadakos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Topics:</a:t>
            </a:r>
            <a:r>
              <a:rPr lang="en" sz="1400"/>
              <a:t> Intro to CV, CNNs, Transfer </a:t>
            </a:r>
            <a:r>
              <a:rPr lang="en" sz="1400"/>
              <a:t>learning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Start:</a:t>
            </a:r>
            <a:r>
              <a:rPr lang="en" sz="1400"/>
              <a:t> 08:15</a:t>
            </a:r>
            <a:endParaRPr sz="14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400"/>
              <a:t>Safouane El Ghazouali: Wednesday - Friday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Topics:</a:t>
            </a:r>
            <a:r>
              <a:rPr lang="en" sz="1400"/>
              <a:t> Transformers, ViTs, YOLO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Start:</a:t>
            </a:r>
            <a:r>
              <a:rPr lang="en" sz="1400"/>
              <a:t> 08:30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Friday:</a:t>
            </a:r>
            <a:r>
              <a:rPr lang="en" sz="1400"/>
              <a:t> live online</a:t>
            </a:r>
            <a:endParaRPr sz="14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400"/>
              <a:t>Passing the course:</a:t>
            </a:r>
            <a:r>
              <a:rPr lang="en" sz="1400"/>
              <a:t> Final project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Create groups of 2, submit your project proposal by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Sunday, February 1st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Final project presentations:</a:t>
            </a:r>
            <a:r>
              <a:rPr lang="en" sz="1400"/>
              <a:t> March-April (TBD)</a:t>
            </a:r>
            <a:endParaRPr sz="1400"/>
          </a:p>
        </p:txBody>
      </p:sp>
      <p:pic>
        <p:nvPicPr>
          <p:cNvPr descr="create an image for showing bounding boxes in computer vision in an image" id="183" name="Google Shape;1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200" y="1369224"/>
            <a:ext cx="3012000" cy="3012000"/>
          </a:xfrm>
          <a:prstGeom prst="roundRect">
            <a:avLst>
              <a:gd fmla="val 527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  <p:sp>
        <p:nvSpPr>
          <p:cNvPr id="189" name="Google Shape;189;p37"/>
          <p:cNvSpPr txBox="1"/>
          <p:nvPr/>
        </p:nvSpPr>
        <p:spPr>
          <a:xfrm>
            <a:off x="508700" y="1535550"/>
            <a:ext cx="52410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50" lIns="70500" spcFirstLastPara="1" rIns="70500" wrap="square" tIns="3525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Physicist turned to Data Scientist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PhD in </a:t>
            </a:r>
            <a:r>
              <a:rPr lang="en" sz="2000"/>
              <a:t>Physics at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10+ year in Data Science / Data Engineering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Co-Founder of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Data Science &amp; Entrepreneurship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90" name="Google Shape;190;p37" title="mousadakos_dimitris_profil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438" y="1021981"/>
            <a:ext cx="2379000" cy="2739300"/>
          </a:xfrm>
          <a:prstGeom prst="ellipse">
            <a:avLst/>
          </a:prstGeom>
          <a:noFill/>
          <a:ln cap="flat" cmpd="sng" w="196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37"/>
          <p:cNvPicPr preferRelativeResize="0"/>
          <p:nvPr/>
        </p:nvPicPr>
        <p:blipFill rotWithShape="1">
          <a:blip r:embed="rId4">
            <a:alphaModFix/>
          </a:blip>
          <a:srcRect b="18577" l="8417" r="8732" t="20354"/>
          <a:stretch/>
        </p:blipFill>
        <p:spPr>
          <a:xfrm>
            <a:off x="2660434" y="2019632"/>
            <a:ext cx="793824" cy="25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7"/>
          <p:cNvSpPr txBox="1"/>
          <p:nvPr/>
        </p:nvSpPr>
        <p:spPr>
          <a:xfrm>
            <a:off x="5636784" y="3910781"/>
            <a:ext cx="3084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4000" lIns="94000" spcFirstLastPara="1" rIns="94000" wrap="square" tIns="940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Dr. Dimitris Mousadakos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93" name="Google Shape;193;p37"/>
          <p:cNvSpPr txBox="1"/>
          <p:nvPr>
            <p:ph type="title"/>
          </p:nvPr>
        </p:nvSpPr>
        <p:spPr>
          <a:xfrm>
            <a:off x="311700" y="292625"/>
            <a:ext cx="8023500" cy="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pic>
        <p:nvPicPr>
          <p:cNvPr id="194" name="Google Shape;1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438" y="4656963"/>
            <a:ext cx="955700" cy="27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7193" y="4700778"/>
            <a:ext cx="704092" cy="18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7339" y="4723834"/>
            <a:ext cx="1071575" cy="14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9870" y="4676873"/>
            <a:ext cx="889775" cy="234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23844" y="4606257"/>
            <a:ext cx="793825" cy="37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74970" y="4656959"/>
            <a:ext cx="1012818" cy="27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08365" y="2852919"/>
            <a:ext cx="135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790175" y="2074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About you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oll-type-id" id="212" name="Google Shape;212;p3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213" name="Google Shape;213;p39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your background?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3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217" name="Google Shape;217;p3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oll-type-id" id="224" name="Google Shape;224;p4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225" name="Google Shape;225;p40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Why you want to learn Computer Vision?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4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229" name="Google Shape;229;p40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