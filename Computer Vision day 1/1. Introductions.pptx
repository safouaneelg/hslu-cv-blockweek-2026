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9" r:id="rId4"/>
    <p:sldMasterId id="2147483680" r:id="rId5"/>
    <p:sldMasterId id="214748368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y="5143500" cx="9144000"/>
  <p:notesSz cx="6858000" cy="9144000"/>
  <p:embeddedFontLst>
    <p:embeddedFont>
      <p:font typeface="Roboto"/>
      <p:regular r:id="rId14"/>
      <p:bold r:id="rId15"/>
      <p:italic r:id="rId16"/>
      <p:boldItalic r:id="rId17"/>
    </p:embeddedFont>
    <p:embeddedFont>
      <p:font typeface="Inter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Inter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5" Type="http://schemas.openxmlformats.org/officeDocument/2006/relationships/font" Target="fonts/OpenSans-boldItalic.fntdata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font" Target="fonts/Roboto-bold.fntdata"/><Relationship Id="rId14" Type="http://schemas.openxmlformats.org/officeDocument/2006/relationships/font" Target="fonts/Roboto-regular.fntdata"/><Relationship Id="rId17" Type="http://schemas.openxmlformats.org/officeDocument/2006/relationships/font" Target="fonts/Roboto-boldItalic.fntdata"/><Relationship Id="rId16" Type="http://schemas.openxmlformats.org/officeDocument/2006/relationships/font" Target="fonts/Roboto-italic.fntdata"/><Relationship Id="rId19" Type="http://schemas.openxmlformats.org/officeDocument/2006/relationships/font" Target="fonts/Inter-bold.fntdata"/><Relationship Id="rId18" Type="http://schemas.openxmlformats.org/officeDocument/2006/relationships/font" Target="fonts/Inter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45775a6e83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g345775a6e83_0_17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bbad54190b_1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bbad54190b_1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bbad54190b_1_2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bbad54190b_1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45775a6e83_0_1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g345775a6e83_0_18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SLIDES_API620001546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SLIDES_API62000154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📣 This is Slido interaction slide, please don't delete it.</a:t>
            </a:r>
            <a:br>
              <a:rPr lang="en"/>
            </a:br>
            <a:r>
              <a:rPr lang="en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SLIDES_API1929587957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SLIDES_API192958795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📣 This is Slido interaction slide, please don't delete it.</a:t>
            </a:r>
            <a:br>
              <a:rPr lang="en"/>
            </a:br>
            <a:r>
              <a:rPr lang="en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/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" type="body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2" name="Google Shape;72;p1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" type="body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2" type="body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5" name="Google Shape;85;p18"/>
          <p:cNvSpPr txBox="1"/>
          <p:nvPr>
            <p:ph idx="2" type="body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7" name="Google Shape;87;p18"/>
          <p:cNvSpPr txBox="1"/>
          <p:nvPr>
            <p:ph idx="4" type="body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1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2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1" type="body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3" name="Google Shape;103;p21"/>
          <p:cNvSpPr txBox="1"/>
          <p:nvPr>
            <p:ph idx="2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6" name="Google Shape;106;p2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2"/>
          <p:cNvSpPr/>
          <p:nvPr>
            <p:ph idx="2" type="pic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2"/>
          <p:cNvSpPr txBox="1"/>
          <p:nvPr>
            <p:ph idx="1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1" name="Google Shape;111;p2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3" name="Google Shape;113;p2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" type="body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4"/>
          <p:cNvSpPr txBox="1"/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" type="body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5" name="Google Shape;125;p2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3" name="Google Shape;133;p27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  <p:pic>
        <p:nvPicPr>
          <p:cNvPr id="134" name="Google Shape;134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43113" y="405999"/>
            <a:ext cx="1389184" cy="21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8"/>
          <p:cNvSpPr txBox="1"/>
          <p:nvPr>
            <p:ph type="title"/>
          </p:nvPr>
        </p:nvSpPr>
        <p:spPr>
          <a:xfrm>
            <a:off x="311700" y="292625"/>
            <a:ext cx="8023500" cy="55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b="1" sz="2100">
                <a:solidFill>
                  <a:srgbClr val="3366CC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7" name="Google Shape;137;p28"/>
          <p:cNvSpPr txBox="1"/>
          <p:nvPr>
            <p:ph idx="1" type="body"/>
          </p:nvPr>
        </p:nvSpPr>
        <p:spPr>
          <a:xfrm>
            <a:off x="311700" y="928100"/>
            <a:ext cx="8520600" cy="377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8" name="Google Shape;138;p28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  <p:pic>
        <p:nvPicPr>
          <p:cNvPr id="139" name="Google Shape;139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43113" y="405999"/>
            <a:ext cx="1389184" cy="21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9"/>
          <p:cNvSpPr txBox="1"/>
          <p:nvPr>
            <p:ph type="title"/>
          </p:nvPr>
        </p:nvSpPr>
        <p:spPr>
          <a:xfrm>
            <a:off x="311700" y="292625"/>
            <a:ext cx="7975200" cy="49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700"/>
              <a:buNone/>
              <a:defRPr sz="21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2" name="Google Shape;142;p29"/>
          <p:cNvSpPr txBox="1"/>
          <p:nvPr>
            <p:ph idx="1" type="body"/>
          </p:nvPr>
        </p:nvSpPr>
        <p:spPr>
          <a:xfrm>
            <a:off x="311700" y="9238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3" name="Google Shape;143;p29"/>
          <p:cNvSpPr txBox="1"/>
          <p:nvPr>
            <p:ph idx="2" type="body"/>
          </p:nvPr>
        </p:nvSpPr>
        <p:spPr>
          <a:xfrm>
            <a:off x="4832400" y="9238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4" name="Google Shape;144;p29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  <p:pic>
        <p:nvPicPr>
          <p:cNvPr id="145" name="Google Shape;145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43113" y="405999"/>
            <a:ext cx="1389184" cy="21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0"/>
          <p:cNvSpPr txBox="1"/>
          <p:nvPr>
            <p:ph type="title"/>
          </p:nvPr>
        </p:nvSpPr>
        <p:spPr>
          <a:xfrm>
            <a:off x="490250" y="450150"/>
            <a:ext cx="78966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48" name="Google Shape;148;p30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  <p:pic>
        <p:nvPicPr>
          <p:cNvPr id="149" name="Google Shape;149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43113" y="405999"/>
            <a:ext cx="1389184" cy="21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1"/>
          <p:cNvSpPr txBox="1"/>
          <p:nvPr>
            <p:ph type="title"/>
          </p:nvPr>
        </p:nvSpPr>
        <p:spPr>
          <a:xfrm>
            <a:off x="265500" y="6235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3" name="Google Shape;153;p31"/>
          <p:cNvSpPr txBox="1"/>
          <p:nvPr>
            <p:ph idx="1" type="subTitle"/>
          </p:nvPr>
        </p:nvSpPr>
        <p:spPr>
          <a:xfrm>
            <a:off x="265500" y="23839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4" name="Google Shape;154;p31"/>
          <p:cNvSpPr txBox="1"/>
          <p:nvPr>
            <p:ph idx="2" type="body"/>
          </p:nvPr>
        </p:nvSpPr>
        <p:spPr>
          <a:xfrm>
            <a:off x="4939500" y="8002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5" name="Google Shape;155;p31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8" name="Google Shape;158;p32"/>
          <p:cNvSpPr txBox="1"/>
          <p:nvPr>
            <p:ph idx="1" type="body"/>
          </p:nvPr>
        </p:nvSpPr>
        <p:spPr>
          <a:xfrm>
            <a:off x="311700" y="2903438"/>
            <a:ext cx="8520600" cy="154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9" name="Google Shape;159;p32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block">
  <p:cSld name="CUSTOM">
    <p:bg>
      <p:bgPr>
        <a:solidFill>
          <a:srgbClr val="262626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3"/>
          <p:cNvSpPr txBox="1"/>
          <p:nvPr>
            <p:ph idx="1" type="body"/>
          </p:nvPr>
        </p:nvSpPr>
        <p:spPr>
          <a:xfrm>
            <a:off x="502200" y="961975"/>
            <a:ext cx="8239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●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048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○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048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■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048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●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048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○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048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■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048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●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048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/>
              <a:buChar char="○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048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/>
              <a:buChar char="■"/>
              <a:defRPr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62" name="Google Shape;162;p33"/>
          <p:cNvSpPr txBox="1"/>
          <p:nvPr>
            <p:ph type="title"/>
          </p:nvPr>
        </p:nvSpPr>
        <p:spPr>
          <a:xfrm>
            <a:off x="311700" y="292625"/>
            <a:ext cx="8013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3" name="Google Shape;163;p33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>
                <a:solidFill>
                  <a:schemeClr val="lt1"/>
                </a:solidFill>
              </a:defRPr>
            </a:lvl1pPr>
            <a:lvl2pPr lvl="1">
              <a:buNone/>
              <a:defRPr sz="1000">
                <a:solidFill>
                  <a:schemeClr val="lt1"/>
                </a:solidFill>
              </a:defRPr>
            </a:lvl2pPr>
            <a:lvl3pPr lvl="2">
              <a:buNone/>
              <a:defRPr sz="1000">
                <a:solidFill>
                  <a:schemeClr val="lt1"/>
                </a:solidFill>
              </a:defRPr>
            </a:lvl3pPr>
            <a:lvl4pPr lvl="3">
              <a:buNone/>
              <a:defRPr sz="1000">
                <a:solidFill>
                  <a:schemeClr val="lt1"/>
                </a:solidFill>
              </a:defRPr>
            </a:lvl4pPr>
            <a:lvl5pPr lvl="4">
              <a:buNone/>
              <a:defRPr sz="1000">
                <a:solidFill>
                  <a:schemeClr val="lt1"/>
                </a:solidFill>
              </a:defRPr>
            </a:lvl5pPr>
            <a:lvl6pPr lvl="5">
              <a:buNone/>
              <a:defRPr sz="1000">
                <a:solidFill>
                  <a:schemeClr val="lt1"/>
                </a:solidFill>
              </a:defRPr>
            </a:lvl6pPr>
            <a:lvl7pPr lvl="6">
              <a:buNone/>
              <a:defRPr sz="1000">
                <a:solidFill>
                  <a:schemeClr val="lt1"/>
                </a:solidFill>
              </a:defRPr>
            </a:lvl7pPr>
            <a:lvl8pPr lvl="7">
              <a:buNone/>
              <a:defRPr sz="1000">
                <a:solidFill>
                  <a:schemeClr val="lt1"/>
                </a:solidFill>
              </a:defRPr>
            </a:lvl8pPr>
            <a:lvl9pPr lvl="8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ary">
  <p:cSld name="CUSTOM_1">
    <p:bg>
      <p:bgPr>
        <a:noFill/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4"/>
          <p:cNvSpPr txBox="1"/>
          <p:nvPr>
            <p:ph type="title"/>
          </p:nvPr>
        </p:nvSpPr>
        <p:spPr>
          <a:xfrm>
            <a:off x="1388625" y="292625"/>
            <a:ext cx="6740400" cy="49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66" name="Google Shape;166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5427" y="-19162"/>
            <a:ext cx="1035913" cy="5170996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4"/>
          <p:cNvSpPr txBox="1"/>
          <p:nvPr>
            <p:ph idx="2" type="title"/>
          </p:nvPr>
        </p:nvSpPr>
        <p:spPr>
          <a:xfrm rot="-5400000">
            <a:off x="-1460569" y="2255088"/>
            <a:ext cx="3946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8" name="Google Shape;168;p34"/>
          <p:cNvSpPr txBox="1"/>
          <p:nvPr>
            <p:ph idx="1" type="body"/>
          </p:nvPr>
        </p:nvSpPr>
        <p:spPr>
          <a:xfrm>
            <a:off x="1414463" y="932538"/>
            <a:ext cx="3268200" cy="350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169" name="Google Shape;169;p34"/>
          <p:cNvSpPr txBox="1"/>
          <p:nvPr>
            <p:ph idx="3" type="body"/>
          </p:nvPr>
        </p:nvSpPr>
        <p:spPr>
          <a:xfrm>
            <a:off x="5127200" y="932538"/>
            <a:ext cx="3268200" cy="350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170" name="Google Shape;170;p34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  <p:pic>
        <p:nvPicPr>
          <p:cNvPr id="171" name="Google Shape;171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43113" y="405999"/>
            <a:ext cx="1389184" cy="21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22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_rels/slideMaster3.xml.rels><?xml version="1.0" encoding="UTF-8" standalone="yes"?><Relationships xmlns="http://schemas.openxmlformats.org/package/2006/relationships"><Relationship Id="rId10" Type="http://schemas.openxmlformats.org/officeDocument/2006/relationships/theme" Target="../theme/theme1.xml"/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Download HSLU Hochschule Luzern 2022 Logo PNG and Vector (PDF, SVG, Ai,  EPS) Free" id="56" name="Google Shape;56;p13"/>
          <p:cNvPicPr preferRelativeResize="0"/>
          <p:nvPr/>
        </p:nvPicPr>
        <p:blipFill rotWithShape="1">
          <a:blip r:embed="rId1">
            <a:alphaModFix/>
          </a:blip>
          <a:srcRect b="32795" l="0" r="0" t="32698"/>
          <a:stretch/>
        </p:blipFill>
        <p:spPr>
          <a:xfrm>
            <a:off x="7317873" y="158025"/>
            <a:ext cx="1689653" cy="435037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5"/>
          <p:cNvSpPr txBox="1"/>
          <p:nvPr>
            <p:ph type="title"/>
          </p:nvPr>
        </p:nvSpPr>
        <p:spPr>
          <a:xfrm>
            <a:off x="311700" y="292625"/>
            <a:ext cx="8520600" cy="5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b="1" sz="22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pen Sans"/>
              <a:buNone/>
              <a:defRPr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28" name="Google Shape;128;p25"/>
          <p:cNvSpPr txBox="1"/>
          <p:nvPr>
            <p:ph idx="1" type="body"/>
          </p:nvPr>
        </p:nvSpPr>
        <p:spPr>
          <a:xfrm>
            <a:off x="311700" y="923875"/>
            <a:ext cx="8520600" cy="36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●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○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■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●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○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■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●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03030"/>
              </a:buClr>
              <a:buSzPts val="1400"/>
              <a:buFont typeface="Open Sans"/>
              <a:buChar char="○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03030"/>
              </a:buClr>
              <a:buSzPts val="1400"/>
              <a:buFont typeface="Open Sans"/>
              <a:buChar char="■"/>
              <a:defRPr sz="1400">
                <a:solidFill>
                  <a:srgbClr val="30303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29" name="Google Shape;129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100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jp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5.png"/><Relationship Id="rId10" Type="http://schemas.openxmlformats.org/officeDocument/2006/relationships/image" Target="../media/image10.png"/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jpg"/><Relationship Id="rId4" Type="http://schemas.openxmlformats.org/officeDocument/2006/relationships/image" Target="../media/image9.png"/><Relationship Id="rId9" Type="http://schemas.openxmlformats.org/officeDocument/2006/relationships/image" Target="../media/image4.png"/><Relationship Id="rId5" Type="http://schemas.openxmlformats.org/officeDocument/2006/relationships/image" Target="../media/image8.png"/><Relationship Id="rId6" Type="http://schemas.openxmlformats.org/officeDocument/2006/relationships/image" Target="../media/image2.png"/><Relationship Id="rId7" Type="http://schemas.openxmlformats.org/officeDocument/2006/relationships/image" Target="../media/image7.png"/><Relationship Id="rId8" Type="http://schemas.openxmlformats.org/officeDocument/2006/relationships/image" Target="../media/image1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slido.com/support/gsi/how-to-change-the-design" TargetMode="External"/><Relationship Id="rId4" Type="http://schemas.openxmlformats.org/officeDocument/2006/relationships/hyperlink" Target="https://www.sli.do/features-google-slides?interaction-type=T3BlblRleHQ%3D" TargetMode="External"/><Relationship Id="rId9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hyperlink" Target="https://chrome.google.com/webstore/detail/slido/dhhclfjehmpacimcdknijodpjpmppkii" TargetMode="External"/><Relationship Id="rId7" Type="http://schemas.openxmlformats.org/officeDocument/2006/relationships/image" Target="../media/image17.png"/><Relationship Id="rId8" Type="http://schemas.openxmlformats.org/officeDocument/2006/relationships/hyperlink" Target="https://www.sli.do/features-google-slides?payload=eyJwb2xsVXVpZCI6ImM0YTFhNjUxLWM1YjgtNDc4Yi1iZmYwLWJmMDk0NTRiNjNhNiIsInByZXNlbnRhdGlvbklkIjoiMXJhbU5GRm5Samx4MWJuX0dOM1ZEMElZTVdXdC00cy1yNUhjZzN3YVo2T3ciLCJzbGlkZUlkIjoiU0xJREVTX0FQSTYyMDAwMTU0Nl8wIiwidGltZWxpbmUiOlt7InBvbGxRdWVzdGlvblV1aWQiOiI1MTRlYjZhNy1kZDNmLTRiZGEtOGQyZi01MTkwMjA1NGVhODkiLCJzaG93UmVzdWx0cyI6dHJ1ZX1dLCJ0eXBlIjoiU2xpZG9Qb2xsIn0%3D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slido.com/support/gsi/how-to-change-the-design" TargetMode="External"/><Relationship Id="rId4" Type="http://schemas.openxmlformats.org/officeDocument/2006/relationships/hyperlink" Target="https://www.sli.do/features-google-slides?interaction-type=T3BlblRleHQ%3D" TargetMode="External"/><Relationship Id="rId9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hyperlink" Target="https://chrome.google.com/webstore/detail/slido/dhhclfjehmpacimcdknijodpjpmppkii" TargetMode="External"/><Relationship Id="rId7" Type="http://schemas.openxmlformats.org/officeDocument/2006/relationships/image" Target="../media/image17.png"/><Relationship Id="rId8" Type="http://schemas.openxmlformats.org/officeDocument/2006/relationships/hyperlink" Target="https://www.sli.do/features-google-slides?payload=eyJwb2xsVXVpZCI6ImJkNTAwOTg0LTIyOGItNDFlYS1iOTJjLTRkNzU0NmE3NmZmYyIsInByZXNlbnRhdGlvbklkIjoiMXJhbU5GRm5Samx4MWJuX0dOM1ZEMElZTVdXdC00cy1yNUhjZzN3YVo2T3ciLCJzbGlkZUlkIjoiU0xJREVTX0FQSTE5Mjk1ODc5NTdfMCIsInRpbWVsaW5lIjpbeyJwb2xsUXVlc3Rpb25VdWlkIjoiYTE5NGRiOTAtMDZjOC00MDdiLTg3M2EtMzIwMGI4Y2RlNDA5Iiwic2hvd1Jlc3VsdHMiOnRydWV9XSwidHlwZSI6IlNsaWRvUG9sbCJ9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5"/>
          <p:cNvSpPr txBox="1"/>
          <p:nvPr>
            <p:ph type="title"/>
          </p:nvPr>
        </p:nvSpPr>
        <p:spPr>
          <a:xfrm>
            <a:off x="662275" y="1846597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53846"/>
              <a:buFont typeface="Arial"/>
              <a:buNone/>
            </a:pPr>
            <a:r>
              <a:rPr lang="en" sz="3900">
                <a:latin typeface="Arial"/>
                <a:ea typeface="Arial"/>
                <a:cs typeface="Arial"/>
                <a:sym typeface="Arial"/>
              </a:rPr>
              <a:t>Computer Vision</a:t>
            </a:r>
            <a:endParaRPr sz="39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ct val="153846"/>
              <a:buFont typeface="Arial"/>
              <a:buNone/>
            </a:pPr>
            <a:r>
              <a:rPr lang="en" sz="3900">
                <a:latin typeface="Arial"/>
                <a:ea typeface="Arial"/>
                <a:cs typeface="Arial"/>
                <a:sym typeface="Arial"/>
              </a:rPr>
              <a:t>Blockweek</a:t>
            </a:r>
            <a:endParaRPr sz="39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Blockweek schedule</a:t>
            </a:r>
            <a:endParaRPr/>
          </a:p>
        </p:txBody>
      </p:sp>
      <p:sp>
        <p:nvSpPr>
          <p:cNvPr id="182" name="Google Shape;182;p36"/>
          <p:cNvSpPr txBox="1"/>
          <p:nvPr>
            <p:ph idx="1" type="body"/>
          </p:nvPr>
        </p:nvSpPr>
        <p:spPr>
          <a:xfrm>
            <a:off x="628650" y="1369225"/>
            <a:ext cx="4763700" cy="36531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400"/>
              <a:t>Monday - Tuesday: </a:t>
            </a:r>
            <a:r>
              <a:rPr lang="en" sz="1400"/>
              <a:t>Dimitris Mousadakos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400"/>
              <a:t>Topics:</a:t>
            </a:r>
            <a:r>
              <a:rPr lang="en" sz="1400"/>
              <a:t> Intro to CV, CNNs, Transfer </a:t>
            </a:r>
            <a:r>
              <a:rPr lang="en" sz="1400"/>
              <a:t>learning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400"/>
              <a:t>Start:</a:t>
            </a:r>
            <a:r>
              <a:rPr lang="en" sz="1400"/>
              <a:t> 08:15</a:t>
            </a:r>
            <a:endParaRPr sz="1400"/>
          </a:p>
          <a:p>
            <a:pPr indent="0" lvl="0" marL="0" rtl="0" algn="l">
              <a:spcBef>
                <a:spcPts val="2000"/>
              </a:spcBef>
              <a:spcAft>
                <a:spcPts val="0"/>
              </a:spcAft>
              <a:buNone/>
            </a:pPr>
            <a:r>
              <a:rPr lang="en" sz="1400"/>
              <a:t>Safouane El Ghazouali: Wednesday - Friday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400"/>
              <a:t>Topics:</a:t>
            </a:r>
            <a:r>
              <a:rPr lang="en" sz="1400"/>
              <a:t> Transformers, ViTs, YOLO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400"/>
              <a:t>Start:</a:t>
            </a:r>
            <a:r>
              <a:rPr lang="en" sz="1400"/>
              <a:t> 08:30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400"/>
              <a:t>Friday:</a:t>
            </a:r>
            <a:r>
              <a:rPr lang="en" sz="1400"/>
              <a:t> live online</a:t>
            </a:r>
            <a:endParaRPr sz="1400"/>
          </a:p>
          <a:p>
            <a:pPr indent="0" lvl="0" marL="0" rtl="0" algn="l">
              <a:spcBef>
                <a:spcPts val="2000"/>
              </a:spcBef>
              <a:spcAft>
                <a:spcPts val="0"/>
              </a:spcAft>
              <a:buNone/>
            </a:pPr>
            <a:r>
              <a:rPr b="1" lang="en" sz="1400"/>
              <a:t>Passing the course:</a:t>
            </a:r>
            <a:r>
              <a:rPr lang="en" sz="1400"/>
              <a:t> Final project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400"/>
              <a:t>Create groups of 2, submit your project proposal by 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400"/>
              <a:t>Sunday, February 1st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400"/>
              <a:t>Final project presentations:</a:t>
            </a:r>
            <a:r>
              <a:rPr lang="en" sz="1400"/>
              <a:t> March-April (TBD)</a:t>
            </a:r>
            <a:endParaRPr sz="1400"/>
          </a:p>
        </p:txBody>
      </p:sp>
      <p:pic>
        <p:nvPicPr>
          <p:cNvPr descr="create an image for showing bounding boxes in computer vision in an image" id="183" name="Google Shape;183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86200" y="1369224"/>
            <a:ext cx="3012000" cy="3012000"/>
          </a:xfrm>
          <a:prstGeom prst="roundRect">
            <a:avLst>
              <a:gd fmla="val 5274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7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  <p:sp>
        <p:nvSpPr>
          <p:cNvPr id="189" name="Google Shape;189;p37"/>
          <p:cNvSpPr txBox="1"/>
          <p:nvPr/>
        </p:nvSpPr>
        <p:spPr>
          <a:xfrm>
            <a:off x="508700" y="1535550"/>
            <a:ext cx="5241000" cy="25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35250" lIns="70500" spcFirstLastPara="1" rIns="70500" wrap="square" tIns="35250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</a:rPr>
              <a:t>Physicist turned to Data Scientist</a:t>
            </a:r>
            <a:endParaRPr sz="2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</a:rPr>
              <a:t>PhD in </a:t>
            </a:r>
            <a:r>
              <a:rPr lang="en" sz="2000"/>
              <a:t>Physics at</a:t>
            </a:r>
            <a:endParaRPr sz="2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</a:rPr>
              <a:t>10+ year in Data Science / Data Engineering</a:t>
            </a:r>
            <a:endParaRPr sz="2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</a:rPr>
              <a:t>Co-Founder of </a:t>
            </a:r>
            <a:endParaRPr sz="2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</a:rPr>
              <a:t>Data Science &amp; Entrepreneurship</a:t>
            </a:r>
            <a:endParaRPr sz="2000">
              <a:solidFill>
                <a:srgbClr val="000000"/>
              </a:solidFill>
            </a:endParaRPr>
          </a:p>
        </p:txBody>
      </p:sp>
      <p:pic>
        <p:nvPicPr>
          <p:cNvPr id="190" name="Google Shape;190;p37" title="mousadakos_dimitris_profile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9438" y="1021981"/>
            <a:ext cx="2379000" cy="2739300"/>
          </a:xfrm>
          <a:prstGeom prst="ellipse">
            <a:avLst/>
          </a:prstGeom>
          <a:noFill/>
          <a:ln cap="flat" cmpd="sng" w="19600">
            <a:solidFill>
              <a:srgbClr val="44546A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91" name="Google Shape;191;p37"/>
          <p:cNvPicPr preferRelativeResize="0"/>
          <p:nvPr/>
        </p:nvPicPr>
        <p:blipFill rotWithShape="1">
          <a:blip r:embed="rId4">
            <a:alphaModFix/>
          </a:blip>
          <a:srcRect b="18577" l="8417" r="8732" t="20354"/>
          <a:stretch/>
        </p:blipFill>
        <p:spPr>
          <a:xfrm>
            <a:off x="2660434" y="2019632"/>
            <a:ext cx="793824" cy="252932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37"/>
          <p:cNvSpPr txBox="1"/>
          <p:nvPr/>
        </p:nvSpPr>
        <p:spPr>
          <a:xfrm>
            <a:off x="5636784" y="3910781"/>
            <a:ext cx="3084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4000" lIns="94000" spcFirstLastPara="1" rIns="94000" wrap="square" tIns="9400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000000"/>
                </a:solidFill>
              </a:rPr>
              <a:t>Dr. Dimitris Mousadakos</a:t>
            </a:r>
            <a:endParaRPr sz="1800">
              <a:solidFill>
                <a:srgbClr val="000000"/>
              </a:solidFill>
            </a:endParaRPr>
          </a:p>
        </p:txBody>
      </p:sp>
      <p:sp>
        <p:nvSpPr>
          <p:cNvPr id="193" name="Google Shape;193;p37"/>
          <p:cNvSpPr txBox="1"/>
          <p:nvPr>
            <p:ph type="title"/>
          </p:nvPr>
        </p:nvSpPr>
        <p:spPr>
          <a:xfrm>
            <a:off x="311700" y="292625"/>
            <a:ext cx="8023500" cy="55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About me</a:t>
            </a:r>
            <a:endParaRPr/>
          </a:p>
        </p:txBody>
      </p:sp>
      <p:pic>
        <p:nvPicPr>
          <p:cNvPr id="194" name="Google Shape;194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5438" y="4656963"/>
            <a:ext cx="955700" cy="2739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3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27193" y="4700778"/>
            <a:ext cx="704092" cy="1863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3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67339" y="4723834"/>
            <a:ext cx="1071575" cy="140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3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139870" y="4676873"/>
            <a:ext cx="889775" cy="2341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3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023844" y="4606257"/>
            <a:ext cx="793825" cy="3753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3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674970" y="4656959"/>
            <a:ext cx="1012818" cy="27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37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308365" y="2852919"/>
            <a:ext cx="13510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title"/>
          </p:nvPr>
        </p:nvSpPr>
        <p:spPr>
          <a:xfrm>
            <a:off x="790175" y="20746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About you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9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fmla="val 50000" name="adj"/>
            </a:avLst>
          </a:prstGeom>
          <a:solidFill>
            <a:srgbClr val="EDFA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39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b="1"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poll-type-id" id="212" name="Google Shape;212;p39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descr="title-id" id="213" name="Google Shape;213;p39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What is your background?</a:t>
            </a:r>
            <a:endParaRPr b="1" sz="3600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4" name="Google Shape;214;p39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9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16" name="Google Shape;216;p3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-id" id="217" name="Google Shape;217;p39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0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fmla="val 50000" name="adj"/>
            </a:avLst>
          </a:prstGeom>
          <a:solidFill>
            <a:srgbClr val="EDFA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40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b="1"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poll-type-id" id="224" name="Google Shape;224;p40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descr="title-id" id="225" name="Google Shape;225;p40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Why you want to learn Computer Vision?</a:t>
            </a:r>
            <a:endParaRPr b="1" sz="3600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40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40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28" name="Google Shape;228;p4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-id" id="229" name="Google Shape;229;p40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