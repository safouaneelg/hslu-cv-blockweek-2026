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9" r:id="rId4"/>
    <p:sldMasterId id="2147483680" r:id="rId5"/>
    <p:sldMasterId id="214748368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  <p:embeddedFont>
      <p:font typeface="Inter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Inter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5" Type="http://schemas.openxmlformats.org/officeDocument/2006/relationships/font" Target="fonts/OpenSans-boldItalic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19" Type="http://schemas.openxmlformats.org/officeDocument/2006/relationships/font" Target="fonts/Inter-bold.fntdata"/><Relationship Id="rId18" Type="http://schemas.openxmlformats.org/officeDocument/2006/relationships/font" Target="fonts/Inter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45775a6e83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45775a6e83_0_1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bad54190b_1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bbad54190b_1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bad54190b_1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bbad54190b_1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45775a6e83_0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g345775a6e83_0_1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SLIDES_API62000154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SLIDES_API62000154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SLIDES_API192958795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SLIDES_API192958795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2" name="Google Shape;72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8"/>
          <p:cNvSpPr txBox="1"/>
          <p:nvPr>
            <p:ph idx="2" type="body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8"/>
          <p:cNvSpPr txBox="1"/>
          <p:nvPr>
            <p:ph idx="4" type="body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1"/>
          <p:cNvSpPr txBox="1"/>
          <p:nvPr>
            <p:ph idx="2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2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2"/>
          <p:cNvSpPr txBox="1"/>
          <p:nvPr>
            <p:ph idx="1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3" name="Google Shape;133;p27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34" name="Google Shape;134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/>
          <p:nvPr>
            <p:ph type="title"/>
          </p:nvPr>
        </p:nvSpPr>
        <p:spPr>
          <a:xfrm>
            <a:off x="311700" y="292625"/>
            <a:ext cx="8023500" cy="55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b="1" sz="2100">
                <a:solidFill>
                  <a:srgbClr val="3366C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7" name="Google Shape;137;p28"/>
          <p:cNvSpPr txBox="1"/>
          <p:nvPr>
            <p:ph idx="1" type="body"/>
          </p:nvPr>
        </p:nvSpPr>
        <p:spPr>
          <a:xfrm>
            <a:off x="311700" y="928100"/>
            <a:ext cx="8520600" cy="377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8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39" name="Google Shape;139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9"/>
          <p:cNvSpPr txBox="1"/>
          <p:nvPr>
            <p:ph type="title"/>
          </p:nvPr>
        </p:nvSpPr>
        <p:spPr>
          <a:xfrm>
            <a:off x="311700" y="292625"/>
            <a:ext cx="7975200" cy="49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700"/>
              <a:buNone/>
              <a:defRPr sz="21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2" name="Google Shape;142;p29"/>
          <p:cNvSpPr txBox="1"/>
          <p:nvPr>
            <p:ph idx="1" type="body"/>
          </p:nvPr>
        </p:nvSpPr>
        <p:spPr>
          <a:xfrm>
            <a:off x="311700" y="9238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3" name="Google Shape;143;p29"/>
          <p:cNvSpPr txBox="1"/>
          <p:nvPr>
            <p:ph idx="2" type="body"/>
          </p:nvPr>
        </p:nvSpPr>
        <p:spPr>
          <a:xfrm>
            <a:off x="4832400" y="9238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4" name="Google Shape;144;p29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45" name="Google Shape;14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0"/>
          <p:cNvSpPr txBox="1"/>
          <p:nvPr>
            <p:ph type="title"/>
          </p:nvPr>
        </p:nvSpPr>
        <p:spPr>
          <a:xfrm>
            <a:off x="490250" y="450150"/>
            <a:ext cx="78966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8" name="Google Shape;148;p30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49" name="Google Shape;149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1"/>
          <p:cNvSpPr txBox="1"/>
          <p:nvPr>
            <p:ph type="title"/>
          </p:nvPr>
        </p:nvSpPr>
        <p:spPr>
          <a:xfrm>
            <a:off x="265500" y="6235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3" name="Google Shape;153;p31"/>
          <p:cNvSpPr txBox="1"/>
          <p:nvPr>
            <p:ph idx="1" type="subTitle"/>
          </p:nvPr>
        </p:nvSpPr>
        <p:spPr>
          <a:xfrm>
            <a:off x="265500" y="23839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4" name="Google Shape;154;p31"/>
          <p:cNvSpPr txBox="1"/>
          <p:nvPr>
            <p:ph idx="2" type="body"/>
          </p:nvPr>
        </p:nvSpPr>
        <p:spPr>
          <a:xfrm>
            <a:off x="4939500" y="8002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5" name="Google Shape;155;p31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8" name="Google Shape;158;p32"/>
          <p:cNvSpPr txBox="1"/>
          <p:nvPr>
            <p:ph idx="1" type="body"/>
          </p:nvPr>
        </p:nvSpPr>
        <p:spPr>
          <a:xfrm>
            <a:off x="311700" y="2903438"/>
            <a:ext cx="8520600" cy="154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9" name="Google Shape;159;p32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block">
  <p:cSld name="CUSTOM">
    <p:bg>
      <p:bgPr>
        <a:solidFill>
          <a:srgbClr val="262626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3"/>
          <p:cNvSpPr txBox="1"/>
          <p:nvPr>
            <p:ph idx="1" type="body"/>
          </p:nvPr>
        </p:nvSpPr>
        <p:spPr>
          <a:xfrm>
            <a:off x="502200" y="961975"/>
            <a:ext cx="8239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●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048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○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048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■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048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●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048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○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048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■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048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●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048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○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048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/>
              <a:buChar char="■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62" name="Google Shape;162;p33"/>
          <p:cNvSpPr txBox="1"/>
          <p:nvPr>
            <p:ph type="title"/>
          </p:nvPr>
        </p:nvSpPr>
        <p:spPr>
          <a:xfrm>
            <a:off x="311700" y="292625"/>
            <a:ext cx="8013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3" name="Google Shape;163;p33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>
                <a:solidFill>
                  <a:schemeClr val="lt1"/>
                </a:solidFill>
              </a:defRPr>
            </a:lvl1pPr>
            <a:lvl2pPr lvl="1">
              <a:buNone/>
              <a:defRPr sz="1000">
                <a:solidFill>
                  <a:schemeClr val="lt1"/>
                </a:solidFill>
              </a:defRPr>
            </a:lvl2pPr>
            <a:lvl3pPr lvl="2">
              <a:buNone/>
              <a:defRPr sz="1000">
                <a:solidFill>
                  <a:schemeClr val="lt1"/>
                </a:solidFill>
              </a:defRPr>
            </a:lvl3pPr>
            <a:lvl4pPr lvl="3">
              <a:buNone/>
              <a:defRPr sz="1000">
                <a:solidFill>
                  <a:schemeClr val="lt1"/>
                </a:solidFill>
              </a:defRPr>
            </a:lvl4pPr>
            <a:lvl5pPr lvl="4">
              <a:buNone/>
              <a:defRPr sz="1000">
                <a:solidFill>
                  <a:schemeClr val="lt1"/>
                </a:solidFill>
              </a:defRPr>
            </a:lvl5pPr>
            <a:lvl6pPr lvl="5">
              <a:buNone/>
              <a:defRPr sz="1000">
                <a:solidFill>
                  <a:schemeClr val="lt1"/>
                </a:solidFill>
              </a:defRPr>
            </a:lvl6pPr>
            <a:lvl7pPr lvl="6">
              <a:buNone/>
              <a:defRPr sz="1000">
                <a:solidFill>
                  <a:schemeClr val="lt1"/>
                </a:solidFill>
              </a:defRPr>
            </a:lvl7pPr>
            <a:lvl8pPr lvl="7">
              <a:buNone/>
              <a:defRPr sz="1000">
                <a:solidFill>
                  <a:schemeClr val="lt1"/>
                </a:solidFill>
              </a:defRPr>
            </a:lvl8pPr>
            <a:lvl9pPr lvl="8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ary">
  <p:cSld name="CUSTOM_1">
    <p:bg>
      <p:bgPr>
        <a:noFill/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/>
          <p:nvPr>
            <p:ph type="title"/>
          </p:nvPr>
        </p:nvSpPr>
        <p:spPr>
          <a:xfrm>
            <a:off x="1388625" y="292625"/>
            <a:ext cx="6740400" cy="49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66" name="Google Shape;166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5427" y="-19162"/>
            <a:ext cx="1035913" cy="517099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4"/>
          <p:cNvSpPr txBox="1"/>
          <p:nvPr>
            <p:ph idx="2" type="title"/>
          </p:nvPr>
        </p:nvSpPr>
        <p:spPr>
          <a:xfrm rot="-5400000">
            <a:off x="-1460569" y="2255088"/>
            <a:ext cx="3946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8" name="Google Shape;168;p34"/>
          <p:cNvSpPr txBox="1"/>
          <p:nvPr>
            <p:ph idx="1" type="body"/>
          </p:nvPr>
        </p:nvSpPr>
        <p:spPr>
          <a:xfrm>
            <a:off x="1414463" y="932538"/>
            <a:ext cx="3268200" cy="35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169" name="Google Shape;169;p34"/>
          <p:cNvSpPr txBox="1"/>
          <p:nvPr>
            <p:ph idx="3" type="body"/>
          </p:nvPr>
        </p:nvSpPr>
        <p:spPr>
          <a:xfrm>
            <a:off x="5127200" y="932538"/>
            <a:ext cx="3268200" cy="35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170" name="Google Shape;170;p34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71" name="Google Shape;17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0" Type="http://schemas.openxmlformats.org/officeDocument/2006/relationships/theme" Target="../theme/theme4.xml"/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Download HSLU Hochschule Luzern 2022 Logo PNG and Vector (PDF, SVG, Ai,  EPS) Free" id="56" name="Google Shape;56;p13"/>
          <p:cNvPicPr preferRelativeResize="0"/>
          <p:nvPr/>
        </p:nvPicPr>
        <p:blipFill rotWithShape="1">
          <a:blip r:embed="rId1">
            <a:alphaModFix/>
          </a:blip>
          <a:srcRect b="32795" l="0" r="0" t="32698"/>
          <a:stretch/>
        </p:blipFill>
        <p:spPr>
          <a:xfrm>
            <a:off x="7317873" y="158025"/>
            <a:ext cx="1689653" cy="43503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>
            <p:ph type="title"/>
          </p:nvPr>
        </p:nvSpPr>
        <p:spPr>
          <a:xfrm>
            <a:off x="311700" y="292625"/>
            <a:ext cx="8520600" cy="5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b="1" sz="22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" type="body"/>
          </p:nvPr>
        </p:nvSpPr>
        <p:spPr>
          <a:xfrm>
            <a:off x="311700" y="923875"/>
            <a:ext cx="8520600" cy="36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●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○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■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●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○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■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●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○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03030"/>
              </a:buClr>
              <a:buSzPts val="1400"/>
              <a:buFont typeface="Open Sans"/>
              <a:buChar char="■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jpg"/><Relationship Id="rId4" Type="http://schemas.openxmlformats.org/officeDocument/2006/relationships/image" Target="../media/image14.png"/><Relationship Id="rId9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Relationship Id="rId7" Type="http://schemas.openxmlformats.org/officeDocument/2006/relationships/image" Target="../media/image15.png"/><Relationship Id="rId8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T3BlblRleHQ%3D" TargetMode="External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9.png"/><Relationship Id="rId8" Type="http://schemas.openxmlformats.org/officeDocument/2006/relationships/hyperlink" Target="https://www.sli.do/features-google-slides?payload=eyJwb2xsVXVpZCI6ImM0YTFhNjUxLWM1YjgtNDc4Yi1iZmYwLWJmMDk0NTRiNjNhNiIsInByZXNlbnRhdGlvbklkIjoiMXJhbU5GRm5Samx4MWJuX0dOM1ZEMElZTVdXdC00cy1yNUhjZzN3YVo2T3ciLCJzbGlkZUlkIjoiU0xJREVTX0FQSTYyMDAwMTU0Nl8wIiwidGltZWxpbmUiOlt7InBvbGxRdWVzdGlvblV1aWQiOiI1MTRlYjZhNy1kZDNmLTRiZGEtOGQyZi01MTkwMjA1NGVhODkiLCJzaG93UmVzdWx0cyI6dHJ1ZX1dLCJ0eXBlIjoiU2xpZG9Qb2xsIn0%3D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T3BlblRleHQ%3D" TargetMode="External"/><Relationship Id="rId9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9.png"/><Relationship Id="rId8" Type="http://schemas.openxmlformats.org/officeDocument/2006/relationships/hyperlink" Target="https://www.sli.do/features-google-slides?payload=eyJwb2xsVXVpZCI6ImJkNTAwOTg0LTIyOGItNDFlYS1iOTJjLTRkNzU0NmE3NmZmYyIsInByZXNlbnRhdGlvbklkIjoiMXJhbU5GRm5Samx4MWJuX0dOM1ZEMElZTVdXdC00cy1yNUhjZzN3YVo2T3ciLCJzbGlkZUlkIjoiU0xJREVTX0FQSTE5Mjk1ODc5NTdfMCIsInRpbWVsaW5lIjpbeyJwb2xsUXVlc3Rpb25VdWlkIjoiYTE5NGRiOTAtMDZjOC00MDdiLTg3M2EtMzIwMGI4Y2RlNDA5Iiwic2hvd1Jlc3VsdHMiOnRydWV9XSwidHlwZSI6IlNsaWRvUG9sbCJ9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5"/>
          <p:cNvSpPr txBox="1"/>
          <p:nvPr>
            <p:ph type="title"/>
          </p:nvPr>
        </p:nvSpPr>
        <p:spPr>
          <a:xfrm>
            <a:off x="662275" y="184659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53846"/>
              <a:buFont typeface="Arial"/>
              <a:buNone/>
            </a:pPr>
            <a:r>
              <a:rPr lang="en" sz="3900">
                <a:latin typeface="Arial"/>
                <a:ea typeface="Arial"/>
                <a:cs typeface="Arial"/>
                <a:sym typeface="Arial"/>
              </a:rPr>
              <a:t>Computer Vision</a:t>
            </a:r>
            <a:endParaRPr sz="3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ct val="153846"/>
              <a:buFont typeface="Arial"/>
              <a:buNone/>
            </a:pPr>
            <a:r>
              <a:rPr lang="en" sz="3900">
                <a:latin typeface="Arial"/>
                <a:ea typeface="Arial"/>
                <a:cs typeface="Arial"/>
                <a:sym typeface="Arial"/>
              </a:rPr>
              <a:t>Blockweek</a:t>
            </a:r>
            <a:endParaRPr sz="39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Blockweek schedule</a:t>
            </a:r>
            <a:endParaRPr/>
          </a:p>
        </p:txBody>
      </p:sp>
      <p:sp>
        <p:nvSpPr>
          <p:cNvPr id="182" name="Google Shape;182;p36"/>
          <p:cNvSpPr txBox="1"/>
          <p:nvPr>
            <p:ph idx="1" type="body"/>
          </p:nvPr>
        </p:nvSpPr>
        <p:spPr>
          <a:xfrm>
            <a:off x="628650" y="1369225"/>
            <a:ext cx="4763700" cy="36531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Monday - Tuesday: </a:t>
            </a:r>
            <a:r>
              <a:rPr lang="en" sz="1400"/>
              <a:t>Dimitris Mousadakos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Topics:</a:t>
            </a:r>
            <a:r>
              <a:rPr lang="en" sz="1400"/>
              <a:t> Intro to CV, CNNs, Transfer </a:t>
            </a:r>
            <a:r>
              <a:rPr lang="en" sz="1400"/>
              <a:t>learning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Start:</a:t>
            </a:r>
            <a:r>
              <a:rPr lang="en" sz="1400"/>
              <a:t> 08:15</a:t>
            </a:r>
            <a:endParaRPr sz="1400"/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lang="en" sz="1400"/>
              <a:t>Safouane El Ghazouali: Wednesday - Friday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Topics:</a:t>
            </a:r>
            <a:r>
              <a:rPr lang="en" sz="1400"/>
              <a:t> Transformers, ViTs, YOLO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Start:</a:t>
            </a:r>
            <a:r>
              <a:rPr lang="en" sz="1400"/>
              <a:t> 08:30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Friday:</a:t>
            </a:r>
            <a:r>
              <a:rPr lang="en" sz="1400"/>
              <a:t> live online</a:t>
            </a:r>
            <a:endParaRPr sz="1400"/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b="1" lang="en" sz="1400"/>
              <a:t>Passing the course:</a:t>
            </a:r>
            <a:r>
              <a:rPr lang="en" sz="1400"/>
              <a:t> Final project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Create groups of 2, submit your project proposal by 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Sunday, February 1st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Final project presentations:</a:t>
            </a:r>
            <a:r>
              <a:rPr lang="en" sz="1400"/>
              <a:t> March-April (TBD)</a:t>
            </a:r>
            <a:endParaRPr sz="1400"/>
          </a:p>
        </p:txBody>
      </p:sp>
      <p:pic>
        <p:nvPicPr>
          <p:cNvPr descr="create an image for showing bounding boxes in computer vision in an image" id="183" name="Google Shape;18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6200" y="1369224"/>
            <a:ext cx="3012000" cy="3012000"/>
          </a:xfrm>
          <a:prstGeom prst="roundRect">
            <a:avLst>
              <a:gd fmla="val 5274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7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sp>
        <p:nvSpPr>
          <p:cNvPr id="189" name="Google Shape;189;p37"/>
          <p:cNvSpPr txBox="1"/>
          <p:nvPr/>
        </p:nvSpPr>
        <p:spPr>
          <a:xfrm>
            <a:off x="508700" y="1535550"/>
            <a:ext cx="5241000" cy="25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5250" lIns="70500" spcFirstLastPara="1" rIns="70500" wrap="square" tIns="35250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Physicist turned to Data Scientist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PhD in </a:t>
            </a:r>
            <a:r>
              <a:rPr lang="en" sz="2000"/>
              <a:t>Physics at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10+ year in Data Science / Data Engineering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Co-Founder of 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Data Science &amp; Entrepreneurship</a:t>
            </a:r>
            <a:endParaRPr sz="2000">
              <a:solidFill>
                <a:srgbClr val="000000"/>
              </a:solidFill>
            </a:endParaRPr>
          </a:p>
        </p:txBody>
      </p:sp>
      <p:pic>
        <p:nvPicPr>
          <p:cNvPr id="190" name="Google Shape;190;p37" title="mousadakos_dimitris_profile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438" y="1021981"/>
            <a:ext cx="2379000" cy="2739300"/>
          </a:xfrm>
          <a:prstGeom prst="ellipse">
            <a:avLst/>
          </a:prstGeom>
          <a:noFill/>
          <a:ln cap="flat" cmpd="sng" w="19600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91" name="Google Shape;191;p37"/>
          <p:cNvPicPr preferRelativeResize="0"/>
          <p:nvPr/>
        </p:nvPicPr>
        <p:blipFill rotWithShape="1">
          <a:blip r:embed="rId4">
            <a:alphaModFix/>
          </a:blip>
          <a:srcRect b="18577" l="8417" r="8732" t="20354"/>
          <a:stretch/>
        </p:blipFill>
        <p:spPr>
          <a:xfrm>
            <a:off x="2660434" y="2019632"/>
            <a:ext cx="793824" cy="25293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7"/>
          <p:cNvSpPr txBox="1"/>
          <p:nvPr/>
        </p:nvSpPr>
        <p:spPr>
          <a:xfrm>
            <a:off x="5636784" y="3910781"/>
            <a:ext cx="3084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4000" lIns="94000" spcFirstLastPara="1" rIns="94000" wrap="square" tIns="9400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</a:rPr>
              <a:t>Dr. Dimitris Mousadakos</a:t>
            </a:r>
            <a:endParaRPr sz="1800">
              <a:solidFill>
                <a:srgbClr val="000000"/>
              </a:solidFill>
            </a:endParaRPr>
          </a:p>
        </p:txBody>
      </p:sp>
      <p:sp>
        <p:nvSpPr>
          <p:cNvPr id="193" name="Google Shape;193;p37"/>
          <p:cNvSpPr txBox="1"/>
          <p:nvPr>
            <p:ph type="title"/>
          </p:nvPr>
        </p:nvSpPr>
        <p:spPr>
          <a:xfrm>
            <a:off x="311700" y="292625"/>
            <a:ext cx="8023500" cy="55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me</a:t>
            </a:r>
            <a:endParaRPr/>
          </a:p>
        </p:txBody>
      </p:sp>
      <p:pic>
        <p:nvPicPr>
          <p:cNvPr id="194" name="Google Shape;194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5438" y="4656963"/>
            <a:ext cx="955700" cy="2739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27193" y="4700778"/>
            <a:ext cx="704092" cy="186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3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67339" y="4723834"/>
            <a:ext cx="1071575" cy="140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39870" y="4676873"/>
            <a:ext cx="889775" cy="234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3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023844" y="4606257"/>
            <a:ext cx="793825" cy="375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3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674970" y="4656959"/>
            <a:ext cx="1012818" cy="27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3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308365" y="2852919"/>
            <a:ext cx="13510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title"/>
          </p:nvPr>
        </p:nvSpPr>
        <p:spPr>
          <a:xfrm>
            <a:off x="790175" y="20746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About you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9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9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212" name="Google Shape;212;p39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213" name="Google Shape;213;p39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What is your background?</a:t>
            </a:r>
            <a:endParaRPr b="1" sz="3600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4" name="Google Shape;214;p39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9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16" name="Google Shape;216;p3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217" name="Google Shape;217;p39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4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224" name="Google Shape;224;p4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225" name="Google Shape;225;p40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Why you want to learn Computer Vision?</a:t>
            </a:r>
            <a:endParaRPr b="1" sz="3600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4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4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28" name="Google Shape;228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229" name="Google Shape;229;p40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